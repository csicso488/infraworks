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69" r:id="rId5"/>
    <p:sldId id="271" r:id="rId6"/>
    <p:sldId id="272" r:id="rId7"/>
    <p:sldId id="273" r:id="rId8"/>
    <p:sldId id="274" r:id="rId9"/>
    <p:sldId id="275" r:id="rId10"/>
    <p:sldId id="290" r:id="rId11"/>
    <p:sldId id="291" r:id="rId12"/>
    <p:sldId id="292" r:id="rId13"/>
    <p:sldId id="293" r:id="rId14"/>
    <p:sldId id="280" r:id="rId15"/>
    <p:sldId id="281" r:id="rId16"/>
    <p:sldId id="282" r:id="rId17"/>
    <p:sldId id="294" r:id="rId18"/>
    <p:sldId id="288" r:id="rId19"/>
    <p:sldId id="267" r:id="rId20"/>
    <p:sldId id="277" r:id="rId21"/>
    <p:sldId id="295" r:id="rId22"/>
    <p:sldId id="26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E2E4B-6939-CE57-83AC-0C2FE3165F36}" v="36" dt="2026-02-22T11:05:32.457"/>
    <p1510:client id="{997FE876-CCBF-4AA4-BFF1-7D719042D0FB}" v="533" dt="2026-02-22T09:15:50.631"/>
    <p1510:client id="{AADCB4A9-7097-4BB7-8138-194E7E47061F}" v="19" dt="2026-02-22T11:05:47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6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9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0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9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58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9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98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36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8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857250"/>
            <a:ext cx="6633872" cy="51435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388" y="1200760"/>
            <a:ext cx="5551714" cy="1020536"/>
          </a:xfrm>
        </p:spPr>
        <p:txBody>
          <a:bodyPr>
            <a:normAutofit/>
          </a:bodyPr>
          <a:lstStyle/>
          <a:p>
            <a:r>
              <a:rPr lang="hu-HU" b="1" u="sng" err="1"/>
              <a:t>InfraWorks</a:t>
            </a:r>
            <a:r>
              <a:rPr lang="hu-HU" b="1" u="sng"/>
              <a:t> KFT</a:t>
            </a:r>
            <a:endParaRPr lang="hu-HU" u="sng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248" y="1851398"/>
            <a:ext cx="7277419" cy="3575024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buNone/>
            </a:pPr>
            <a:endParaRPr lang="hu-HU"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hu-HU"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sz="3600" b="1">
                <a:latin typeface="Times New Roman"/>
                <a:cs typeface="Times New Roman"/>
              </a:rPr>
              <a:t>Vizsgaremek projekt</a:t>
            </a:r>
            <a:endParaRPr sz="3200" b="1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sz="2400" b="1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sz="4400" b="1">
                <a:latin typeface="Times New Roman"/>
                <a:cs typeface="Times New Roman"/>
              </a:rPr>
              <a:t>Csapattagok: </a:t>
            </a: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000000"/>
              </a:buClr>
              <a:buNone/>
            </a:pPr>
            <a:r>
              <a:rPr lang="hu-HU" sz="4400" b="1">
                <a:latin typeface="Times New Roman"/>
                <a:cs typeface="Times New Roman"/>
              </a:rPr>
              <a:t>Tóth Richárd (PM)</a:t>
            </a:r>
          </a:p>
          <a:p>
            <a:pPr marL="0" indent="0">
              <a:buClr>
                <a:srgbClr val="000000"/>
              </a:buClr>
              <a:buNone/>
            </a:pPr>
            <a:r>
              <a:rPr lang="hu-HU" sz="4400" b="1" err="1">
                <a:latin typeface="Times New Roman"/>
                <a:cs typeface="Times New Roman"/>
              </a:rPr>
              <a:t>Schäfer</a:t>
            </a:r>
            <a:r>
              <a:rPr lang="hu-HU" sz="4400" b="1">
                <a:latin typeface="Times New Roman"/>
                <a:cs typeface="Times New Roman"/>
              </a:rPr>
              <a:t> Kristóf, </a:t>
            </a: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Clr>
                <a:srgbClr val="000000"/>
              </a:buClr>
              <a:buNone/>
            </a:pPr>
            <a:endParaRPr lang="hu-HU" sz="4400" b="1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sz="4400" b="1" err="1">
                <a:latin typeface="Times New Roman"/>
                <a:cs typeface="Times New Roman"/>
              </a:rPr>
              <a:t>Dátum</a:t>
            </a:r>
            <a:r>
              <a:rPr sz="4400" b="1">
                <a:latin typeface="Times New Roman"/>
                <a:cs typeface="Times New Roman"/>
              </a:rPr>
              <a:t>: </a:t>
            </a:r>
            <a:r>
              <a:rPr lang="hu-HU" sz="4400" b="1">
                <a:latin typeface="Times New Roman"/>
                <a:cs typeface="Times New Roman"/>
              </a:rPr>
              <a:t>2026</a:t>
            </a:r>
            <a:endParaRPr sz="4400" b="1"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85216"/>
            <a:ext cx="8115300" cy="882819"/>
          </a:xfrm>
        </p:spPr>
        <p:txBody>
          <a:bodyPr anchor="b">
            <a:normAutofit/>
          </a:bodyPr>
          <a:lstStyle/>
          <a:p>
            <a:pPr algn="ctr"/>
            <a:r>
              <a:rPr lang="hu-HU" sz="3300" b="1" u="sng" dirty="0">
                <a:latin typeface="Times New Roman"/>
                <a:ea typeface="Calibri Light"/>
                <a:cs typeface="Times New Roman"/>
              </a:rPr>
              <a:t>A Projekt Vízió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2244808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8042" y="1564931"/>
            <a:ext cx="8877299" cy="49791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Felépítés:</a:t>
            </a:r>
            <a:r>
              <a:rPr lang="hu-HU" sz="3200" dirty="0">
                <a:ea typeface="+mn-lt"/>
                <a:cs typeface="+mn-lt"/>
              </a:rPr>
              <a:t> Háromszintes (</a:t>
            </a:r>
            <a:r>
              <a:rPr lang="hu-HU" sz="3200" dirty="0" err="1">
                <a:ea typeface="+mn-lt"/>
                <a:cs typeface="+mn-lt"/>
              </a:rPr>
              <a:t>Core</a:t>
            </a:r>
            <a:r>
              <a:rPr lang="hu-HU" sz="3200" dirty="0">
                <a:ea typeface="+mn-lt"/>
                <a:cs typeface="+mn-lt"/>
              </a:rPr>
              <a:t>, </a:t>
            </a:r>
            <a:r>
              <a:rPr lang="hu-HU" sz="3200" dirty="0" err="1">
                <a:ea typeface="+mn-lt"/>
                <a:cs typeface="+mn-lt"/>
              </a:rPr>
              <a:t>Distribution</a:t>
            </a:r>
            <a:r>
              <a:rPr lang="hu-HU" sz="3200" dirty="0">
                <a:ea typeface="+mn-lt"/>
                <a:cs typeface="+mn-lt"/>
              </a:rPr>
              <a:t>, Access) hierarchia.</a:t>
            </a:r>
            <a:endParaRPr lang="hu-HU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Redundancia:</a:t>
            </a:r>
            <a:r>
              <a:rPr lang="hu-HU" sz="3200" dirty="0">
                <a:ea typeface="+mn-lt"/>
                <a:cs typeface="+mn-lt"/>
              </a:rPr>
              <a:t> Dupla ISP, redundáns tűzfalak és </a:t>
            </a:r>
            <a:r>
              <a:rPr lang="hu-HU" sz="3200" dirty="0" err="1">
                <a:ea typeface="+mn-lt"/>
                <a:cs typeface="+mn-lt"/>
              </a:rPr>
              <a:t>Core</a:t>
            </a:r>
            <a:r>
              <a:rPr lang="hu-HU" sz="3200" dirty="0">
                <a:ea typeface="+mn-lt"/>
                <a:cs typeface="+mn-lt"/>
              </a:rPr>
              <a:t> </a:t>
            </a:r>
            <a:r>
              <a:rPr lang="hu-HU" sz="3200" dirty="0" err="1">
                <a:ea typeface="+mn-lt"/>
                <a:cs typeface="+mn-lt"/>
              </a:rPr>
              <a:t>switchek</a:t>
            </a:r>
            <a:r>
              <a:rPr lang="hu-HU" sz="3200" dirty="0">
                <a:ea typeface="+mn-lt"/>
                <a:cs typeface="+mn-lt"/>
              </a:rPr>
              <a:t>.</a:t>
            </a:r>
            <a:endParaRPr lang="hu-HU" dirty="0"/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Szegmentálás:</a:t>
            </a:r>
            <a:r>
              <a:rPr lang="hu-HU" sz="3200" dirty="0">
                <a:ea typeface="+mn-lt"/>
                <a:cs typeface="+mn-lt"/>
              </a:rPr>
              <a:t> </a:t>
            </a:r>
            <a:r>
              <a:rPr lang="hu-HU" sz="3200" dirty="0" err="1">
                <a:ea typeface="+mn-lt"/>
                <a:cs typeface="+mn-lt"/>
              </a:rPr>
              <a:t>Emeletenkénti</a:t>
            </a:r>
            <a:r>
              <a:rPr lang="hu-HU" sz="3200" dirty="0">
                <a:ea typeface="+mn-lt"/>
                <a:cs typeface="+mn-lt"/>
              </a:rPr>
              <a:t> bontás és dedikált DMZ a szervereknek.</a:t>
            </a:r>
            <a:endParaRPr lang="hu-HU" dirty="0"/>
          </a:p>
          <a:p>
            <a:pPr>
              <a:buClr>
                <a:srgbClr val="FFFFFF"/>
              </a:buClr>
            </a:pPr>
            <a:r>
              <a:rPr lang="hu-HU" sz="3200" b="1" dirty="0">
                <a:ea typeface="+mn-lt"/>
                <a:cs typeface="+mn-lt"/>
              </a:rPr>
              <a:t>Technológiák:</a:t>
            </a:r>
            <a:r>
              <a:rPr lang="hu-HU" sz="3200" dirty="0">
                <a:ea typeface="+mn-lt"/>
                <a:cs typeface="+mn-lt"/>
              </a:rPr>
              <a:t> HSRP a hibatűrésért, LACP a sávszélességért.</a:t>
            </a:r>
            <a:endParaRPr lang="hu-HU" dirty="0">
              <a:ea typeface="+mn-lt"/>
              <a:cs typeface="+mn-lt"/>
            </a:endParaRPr>
          </a:p>
          <a:p>
            <a:pPr marL="457200" indent="-457200">
              <a:buClr>
                <a:srgbClr val="FFFFFF"/>
              </a:buClr>
              <a:buFont typeface="Calibri"/>
              <a:buChar char="-"/>
            </a:pPr>
            <a:endParaRPr lang="hu-HU" sz="3200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hu-HU" sz="3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B2E2329-5B8D-2838-F02B-5BC83C5D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29627" y="-3099688"/>
            <a:ext cx="8421472" cy="374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b="1"/>
              <a:t>A Projekt </a:t>
            </a:r>
            <a:r>
              <a:rPr lang="en-US" sz="4400" b="1" err="1"/>
              <a:t>teljes</a:t>
            </a:r>
            <a:r>
              <a:rPr lang="en-US" sz="4400" b="1"/>
              <a:t> </a:t>
            </a:r>
            <a:r>
              <a:rPr lang="en-US" sz="4400" b="1" err="1"/>
              <a:t>váza</a:t>
            </a:r>
            <a:endParaRPr lang="en-US" sz="4400" b="1" err="1">
              <a:ea typeface="Calibri Light"/>
              <a:cs typeface="Calibri Light"/>
            </a:endParaRPr>
          </a:p>
        </p:txBody>
      </p:sp>
      <p:pic>
        <p:nvPicPr>
          <p:cNvPr id="4" name="Tartalom helye 3" descr="A képen szöveg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F15C75B-118B-1A29-B5AD-3637E085C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11" y="646843"/>
            <a:ext cx="6750630" cy="60285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5457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2619C0-5CE8-1C24-2E54-B8DE1FC9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2481944"/>
            <a:ext cx="7772400" cy="1456267"/>
          </a:xfrm>
        </p:spPr>
        <p:txBody>
          <a:bodyPr/>
          <a:lstStyle/>
          <a:p>
            <a:r>
              <a:rPr lang="hu-HU">
                <a:ea typeface="Calibri Light"/>
                <a:cs typeface="Calibri Light"/>
              </a:rPr>
              <a:t>Amik találhatók a topológiába</a:t>
            </a:r>
          </a:p>
        </p:txBody>
      </p:sp>
    </p:spTree>
    <p:extLst>
      <p:ext uri="{BB962C8B-B14F-4D97-AF65-F5344CB8AC3E}">
        <p14:creationId xmlns:p14="http://schemas.microsoft.com/office/powerpoint/2010/main" val="247629075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00CBAD-C824-328F-AB85-791B92EB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" y="-176805"/>
            <a:ext cx="3074960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200">
                <a:ea typeface="+mj-lt"/>
                <a:cs typeface="+mj-lt"/>
              </a:rPr>
              <a:t>2. DMZ (Demilitarizált Zóna)</a:t>
            </a:r>
            <a:endParaRPr lang="hu-HU" sz="22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EC8F54-B4D1-BB05-3D14-A38DB73C2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" y="2120702"/>
            <a:ext cx="7241035" cy="31791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hu-HU" b="1" dirty="0"/>
              <a:t>DMZ Hálózati Összefoglaló</a:t>
            </a:r>
            <a:endParaRPr lang="hu-HU" b="1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Funkció:</a:t>
            </a:r>
            <a:r>
              <a:rPr lang="hu-HU" dirty="0">
                <a:ea typeface="+mn-lt"/>
                <a:cs typeface="+mn-lt"/>
              </a:rPr>
              <a:t> Publikus szerverek izolációja a belső hálótól.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Eszköz:</a:t>
            </a:r>
            <a:r>
              <a:rPr lang="hu-HU" dirty="0">
                <a:ea typeface="+mn-lt"/>
                <a:cs typeface="+mn-lt"/>
              </a:rPr>
              <a:t> Cisco 2960 (</a:t>
            </a:r>
            <a:r>
              <a:rPr lang="hu-HU" err="1">
                <a:ea typeface="+mn-lt"/>
                <a:cs typeface="+mn-lt"/>
              </a:rPr>
              <a:t>Dedicated</a:t>
            </a:r>
            <a:r>
              <a:rPr lang="hu-HU" dirty="0">
                <a:ea typeface="+mn-lt"/>
                <a:cs typeface="+mn-lt"/>
              </a:rPr>
              <a:t> DMZ-SW).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Hálózat: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>
                <a:latin typeface="Consolas"/>
                <a:ea typeface="Calibri"/>
                <a:cs typeface="Calibri"/>
              </a:rPr>
              <a:t>10.11.11.0/27</a:t>
            </a:r>
            <a:r>
              <a:rPr lang="hu-HU" dirty="0">
                <a:ea typeface="+mn-lt"/>
                <a:cs typeface="+mn-lt"/>
              </a:rPr>
              <a:t> (Maszk: </a:t>
            </a:r>
            <a:r>
              <a:rPr lang="hu-HU" dirty="0">
                <a:latin typeface="Consolas"/>
                <a:ea typeface="Calibri"/>
                <a:cs typeface="Calibri"/>
              </a:rPr>
              <a:t>255.255.255.224</a:t>
            </a:r>
            <a:r>
              <a:rPr lang="hu-HU" dirty="0">
                <a:ea typeface="+mn-lt"/>
                <a:cs typeface="+mn-lt"/>
              </a:rPr>
              <a:t>).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Tartomány: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>
                <a:latin typeface="Consolas"/>
                <a:ea typeface="Calibri"/>
                <a:cs typeface="Calibri"/>
              </a:rPr>
              <a:t>10.11.11.1 – 10.11.11.30</a:t>
            </a:r>
            <a:r>
              <a:rPr lang="hu-HU" dirty="0">
                <a:ea typeface="+mn-lt"/>
                <a:cs typeface="+mn-lt"/>
              </a:rPr>
              <a:t>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Kiszolgálók: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WEB:</a:t>
            </a:r>
            <a:r>
              <a:rPr lang="hu-HU" dirty="0">
                <a:ea typeface="+mn-lt"/>
                <a:cs typeface="+mn-lt"/>
              </a:rPr>
              <a:t> Honlap (HTTP/S)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EMAIL:</a:t>
            </a:r>
            <a:r>
              <a:rPr lang="hu-HU" dirty="0">
                <a:ea typeface="+mn-lt"/>
                <a:cs typeface="+mn-lt"/>
              </a:rPr>
              <a:t> Levelezés (SMTP/IMAP)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FTP:</a:t>
            </a:r>
            <a:r>
              <a:rPr lang="hu-HU" dirty="0">
                <a:ea typeface="+mn-lt"/>
                <a:cs typeface="+mn-lt"/>
              </a:rPr>
              <a:t> Fájlküldés (SFTP)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APP:</a:t>
            </a:r>
            <a:r>
              <a:rPr lang="hu-HU" dirty="0">
                <a:ea typeface="+mn-lt"/>
                <a:cs typeface="+mn-lt"/>
              </a:rPr>
              <a:t> Üzleti appok (API)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NAS-STORAGE:</a:t>
            </a:r>
            <a:r>
              <a:rPr lang="hu-HU" dirty="0">
                <a:ea typeface="+mn-lt"/>
                <a:cs typeface="+mn-lt"/>
              </a:rPr>
              <a:t> Központi tároló (NFS/SMB)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hu-HU" b="1" dirty="0">
                <a:ea typeface="+mn-lt"/>
                <a:cs typeface="+mn-lt"/>
              </a:rPr>
              <a:t>Biztonság:</a:t>
            </a:r>
            <a:r>
              <a:rPr lang="hu-HU" dirty="0">
                <a:ea typeface="+mn-lt"/>
                <a:cs typeface="+mn-lt"/>
              </a:rPr>
              <a:t> VLAN alapú szegmentálás + Tűzfalas tiltás a belső háló felé.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hu-HU" b="1" dirty="0"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</a:pPr>
            <a:endParaRPr lang="hu-HU" sz="1400">
              <a:ea typeface="Calibri"/>
              <a:cs typeface="Calibri"/>
            </a:endParaRPr>
          </a:p>
        </p:txBody>
      </p:sp>
      <p:pic>
        <p:nvPicPr>
          <p:cNvPr id="4" name="Kép 3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74CBCC5D-8021-B645-A1B6-A9F174F4E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203" y="115668"/>
            <a:ext cx="2942539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Kép 4" descr="A képen szöveg, képernyőkép, diagram, sor látható&#10;&#10;Lehet, hogy az AI által létrehozott tartalom helytelen.">
            <a:extLst>
              <a:ext uri="{FF2B5EF4-FFF2-40B4-BE49-F238E27FC236}">
                <a16:creationId xmlns:a16="http://schemas.microsoft.com/office/drawing/2014/main" id="{069FB6AD-4893-00EC-CE16-4AA85144B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771" y="2806401"/>
            <a:ext cx="2948085" cy="2489462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BFAAFFD-61B1-2A1A-01B3-E259BEF30701}"/>
              </a:ext>
            </a:extLst>
          </p:cNvPr>
          <p:cNvSpPr txBox="1"/>
          <p:nvPr/>
        </p:nvSpPr>
        <p:spPr>
          <a:xfrm>
            <a:off x="0" y="6056832"/>
            <a:ext cx="89944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Cél:</a:t>
            </a:r>
            <a:r>
              <a:rPr lang="en-US"/>
              <a:t> Publikus szolgáltatások (WEB, EMAIL, FTP, APP, NAS) biztonságos elszigetelése a belső hálózattól.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93293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3F2E6F-2BB9-F685-8001-5D2CBD67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" y="-125932"/>
            <a:ext cx="2828925" cy="1651000"/>
          </a:xfrm>
        </p:spPr>
        <p:txBody>
          <a:bodyPr anchor="b">
            <a:normAutofit/>
          </a:bodyPr>
          <a:lstStyle/>
          <a:p>
            <a:r>
              <a:rPr lang="hu-HU" sz="2100">
                <a:ea typeface="+mj-lt"/>
                <a:cs typeface="+mj-lt"/>
              </a:rPr>
              <a:t>3. A hálózat "Agya" avagy Maghálózati redundancia és vezérlés</a:t>
            </a:r>
            <a:endParaRPr lang="hu-HU" sz="210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9A1CBF-8DFC-723C-C49D-E0312048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342" y="136377"/>
            <a:ext cx="6578391" cy="2781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hu-HU" sz="1600" b="1">
                <a:ea typeface="+mn-lt"/>
                <a:cs typeface="+mn-lt"/>
              </a:rPr>
              <a:t>Eszközök:</a:t>
            </a:r>
            <a:r>
              <a:rPr lang="hu-HU" sz="1600">
                <a:ea typeface="+mn-lt"/>
                <a:cs typeface="+mn-lt"/>
              </a:rPr>
              <a:t> 2 darab Cisco 3560 </a:t>
            </a:r>
            <a:r>
              <a:rPr lang="hu-HU" sz="1600" err="1">
                <a:ea typeface="+mn-lt"/>
                <a:cs typeface="+mn-lt"/>
              </a:rPr>
              <a:t>Multilayer</a:t>
            </a:r>
            <a:r>
              <a:rPr lang="hu-HU" sz="1600">
                <a:ea typeface="+mn-lt"/>
                <a:cs typeface="+mn-lt"/>
              </a:rPr>
              <a:t> </a:t>
            </a:r>
            <a:r>
              <a:rPr lang="hu-HU" sz="1600" err="1">
                <a:ea typeface="+mn-lt"/>
                <a:cs typeface="+mn-lt"/>
              </a:rPr>
              <a:t>Switch</a:t>
            </a:r>
            <a:r>
              <a:rPr lang="hu-HU" sz="1600">
                <a:ea typeface="+mn-lt"/>
                <a:cs typeface="+mn-lt"/>
              </a:rPr>
              <a:t> (CORE-SW1, CORE-SW2).</a:t>
            </a:r>
            <a:endParaRPr lang="hu-HU" sz="16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Alkalmazott technológiák: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LACP (</a:t>
            </a:r>
            <a:r>
              <a:rPr lang="hu-HU" sz="1600" b="1" err="1">
                <a:ea typeface="+mn-lt"/>
                <a:cs typeface="+mn-lt"/>
              </a:rPr>
              <a:t>EtherChannel</a:t>
            </a:r>
            <a:r>
              <a:rPr lang="hu-HU" sz="1600" b="1">
                <a:ea typeface="+mn-lt"/>
                <a:cs typeface="+mn-lt"/>
              </a:rPr>
              <a:t>):</a:t>
            </a:r>
            <a:r>
              <a:rPr lang="hu-HU" sz="1600">
                <a:ea typeface="+mn-lt"/>
                <a:cs typeface="+mn-lt"/>
              </a:rPr>
              <a:t> Többszörös linkek összefogása a nagy sávszélességért.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HSRP:</a:t>
            </a:r>
            <a:r>
              <a:rPr lang="hu-HU" sz="1600">
                <a:ea typeface="+mn-lt"/>
                <a:cs typeface="+mn-lt"/>
              </a:rPr>
              <a:t> Virtuális alapértelmezett átjáró (</a:t>
            </a:r>
            <a:r>
              <a:rPr lang="hu-HU" sz="1600" err="1">
                <a:ea typeface="+mn-lt"/>
                <a:cs typeface="+mn-lt"/>
              </a:rPr>
              <a:t>Gateway</a:t>
            </a:r>
            <a:r>
              <a:rPr lang="hu-HU" sz="1600">
                <a:ea typeface="+mn-lt"/>
                <a:cs typeface="+mn-lt"/>
              </a:rPr>
              <a:t>) a folyamatos üzemért.</a:t>
            </a:r>
            <a:endParaRPr lang="hu-HU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1600" b="1">
                <a:ea typeface="+mn-lt"/>
                <a:cs typeface="+mn-lt"/>
              </a:rPr>
              <a:t>WLAN Kontroller (WLC):</a:t>
            </a:r>
            <a:r>
              <a:rPr lang="hu-HU" sz="1600">
                <a:ea typeface="+mn-lt"/>
                <a:cs typeface="+mn-lt"/>
              </a:rPr>
              <a:t> Központi egység az összes emeleti </a:t>
            </a:r>
            <a:r>
              <a:rPr lang="hu-HU" sz="1600" err="1">
                <a:ea typeface="+mn-lt"/>
                <a:cs typeface="+mn-lt"/>
              </a:rPr>
              <a:t>Wi</a:t>
            </a:r>
            <a:r>
              <a:rPr lang="hu-HU" sz="1600">
                <a:ea typeface="+mn-lt"/>
                <a:cs typeface="+mn-lt"/>
              </a:rPr>
              <a:t>-Fi pont kezelésére.</a:t>
            </a:r>
            <a:endParaRPr lang="hu-HU" sz="1600"/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200">
              <a:ea typeface="Calibri"/>
              <a:cs typeface="Calibri"/>
            </a:endParaRPr>
          </a:p>
        </p:txBody>
      </p:sp>
      <p:pic>
        <p:nvPicPr>
          <p:cNvPr id="4" name="Kép 3" descr="A képen diagram, szöveg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3918FF0D-13B8-CCAF-48F0-90A93C08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" y="3427359"/>
            <a:ext cx="9141350" cy="221056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0241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43DBFC-A45E-5E84-C5C1-0443432C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" y="-174711"/>
            <a:ext cx="8838272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400">
                <a:ea typeface="+mj-lt"/>
                <a:cs typeface="+mj-lt"/>
              </a:rPr>
              <a:t>Első emelet (Kék &amp; Zöld blokk) Értékesítés, HR és Logisztika</a:t>
            </a:r>
            <a:endParaRPr lang="hu-HU" sz="2400">
              <a:ea typeface="Calibri Light"/>
              <a:cs typeface="Calibri Ligh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FBDB14-8E79-9DEE-05B4-091BA64B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937" y="2261420"/>
            <a:ext cx="3621772" cy="363793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sz="1900" b="1" dirty="0" err="1">
                <a:ea typeface="+mn-lt"/>
                <a:cs typeface="+mn-lt"/>
              </a:rPr>
              <a:t>Részlegek</a:t>
            </a:r>
            <a:r>
              <a:rPr lang="en-US" sz="1900" b="1" dirty="0">
                <a:ea typeface="+mn-lt"/>
                <a:cs typeface="+mn-lt"/>
              </a:rPr>
              <a:t>: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Eladás</a:t>
            </a:r>
            <a:r>
              <a:rPr lang="en-US" sz="1900" dirty="0">
                <a:ea typeface="+mn-lt"/>
                <a:cs typeface="+mn-lt"/>
              </a:rPr>
              <a:t> &amp; Marketing, HR &amp; </a:t>
            </a:r>
            <a:r>
              <a:rPr lang="en-US" sz="1900" dirty="0" err="1">
                <a:ea typeface="+mn-lt"/>
                <a:cs typeface="+mn-lt"/>
              </a:rPr>
              <a:t>Logisztika</a:t>
            </a:r>
            <a:r>
              <a:rPr lang="en-US" sz="1900" dirty="0">
                <a:ea typeface="+mn-lt"/>
                <a:cs typeface="+mn-lt"/>
              </a:rPr>
              <a:t>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 err="1">
                <a:ea typeface="+mn-lt"/>
                <a:cs typeface="+mn-lt"/>
              </a:rPr>
              <a:t>Végponti</a:t>
            </a:r>
            <a:r>
              <a:rPr lang="en-US" sz="1900" b="1" dirty="0">
                <a:ea typeface="+mn-lt"/>
                <a:cs typeface="+mn-lt"/>
              </a:rPr>
              <a:t> </a:t>
            </a:r>
            <a:r>
              <a:rPr lang="en-US" sz="1900" b="1" dirty="0" err="1">
                <a:ea typeface="+mn-lt"/>
                <a:cs typeface="+mn-lt"/>
              </a:rPr>
              <a:t>eszközök</a:t>
            </a:r>
            <a:r>
              <a:rPr lang="en-US" sz="1900" b="1" dirty="0">
                <a:ea typeface="+mn-lt"/>
                <a:cs typeface="+mn-lt"/>
              </a:rPr>
              <a:t>:</a:t>
            </a:r>
            <a:endParaRPr lang="en-US" sz="1900" dirty="0">
              <a:ea typeface="+mn-lt"/>
              <a:cs typeface="+mn-lt"/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dirty="0" err="1">
                <a:ea typeface="+mn-lt"/>
                <a:cs typeface="+mn-lt"/>
              </a:rPr>
              <a:t>Vezetékes</a:t>
            </a:r>
            <a:r>
              <a:rPr lang="en-US" sz="1900" dirty="0">
                <a:ea typeface="+mn-lt"/>
                <a:cs typeface="+mn-lt"/>
              </a:rPr>
              <a:t> PC-k </a:t>
            </a:r>
            <a:r>
              <a:rPr lang="en-US" sz="1900" dirty="0" err="1">
                <a:ea typeface="+mn-lt"/>
                <a:cs typeface="+mn-lt"/>
              </a:rPr>
              <a:t>és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Laptopok</a:t>
            </a:r>
            <a:r>
              <a:rPr lang="en-US" sz="1900" dirty="0">
                <a:ea typeface="+mn-lt"/>
                <a:cs typeface="+mn-lt"/>
              </a:rPr>
              <a:t>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dirty="0" err="1">
                <a:ea typeface="+mn-lt"/>
                <a:cs typeface="+mn-lt"/>
              </a:rPr>
              <a:t>Hálózati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nyomtatók</a:t>
            </a:r>
            <a:r>
              <a:rPr lang="en-US" sz="1900" dirty="0">
                <a:ea typeface="+mn-lt"/>
                <a:cs typeface="+mn-lt"/>
              </a:rPr>
              <a:t> (MK-PR, HR-PR).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err="1">
                <a:ea typeface="+mn-lt"/>
                <a:cs typeface="+mn-lt"/>
              </a:rPr>
              <a:t>Mobileszközök</a:t>
            </a:r>
            <a:r>
              <a:rPr lang="en-US" sz="1900" dirty="0">
                <a:ea typeface="+mn-lt"/>
                <a:cs typeface="+mn-lt"/>
              </a:rPr>
              <a:t> (</a:t>
            </a:r>
            <a:r>
              <a:rPr lang="en-US" sz="1900" err="1">
                <a:ea typeface="+mn-lt"/>
                <a:cs typeface="+mn-lt"/>
              </a:rPr>
              <a:t>Tabletek</a:t>
            </a:r>
            <a:r>
              <a:rPr lang="en-US" sz="1900" dirty="0">
                <a:ea typeface="+mn-lt"/>
                <a:cs typeface="+mn-lt"/>
              </a:rPr>
              <a:t>, </a:t>
            </a:r>
            <a:r>
              <a:rPr lang="en-US" sz="1900" err="1">
                <a:ea typeface="+mn-lt"/>
                <a:cs typeface="+mn-lt"/>
              </a:rPr>
              <a:t>Okostelefonok</a:t>
            </a:r>
            <a:r>
              <a:rPr lang="en-US" sz="1900" dirty="0">
                <a:ea typeface="+mn-lt"/>
                <a:cs typeface="+mn-lt"/>
              </a:rPr>
              <a:t>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 err="1">
                <a:ea typeface="+mn-lt"/>
                <a:cs typeface="+mn-lt"/>
              </a:rPr>
              <a:t>Kommunikáció</a:t>
            </a:r>
            <a:r>
              <a:rPr lang="en-US" sz="1900" b="1" dirty="0">
                <a:ea typeface="+mn-lt"/>
                <a:cs typeface="+mn-lt"/>
              </a:rPr>
              <a:t>:</a:t>
            </a:r>
            <a:r>
              <a:rPr lang="en-US" sz="1900" dirty="0">
                <a:ea typeface="+mn-lt"/>
                <a:cs typeface="+mn-lt"/>
              </a:rPr>
              <a:t> IP </a:t>
            </a:r>
            <a:r>
              <a:rPr lang="en-US" sz="1900" dirty="0" err="1">
                <a:ea typeface="+mn-lt"/>
                <a:cs typeface="+mn-lt"/>
              </a:rPr>
              <a:t>telefonok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minden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asztalnál</a:t>
            </a:r>
            <a:r>
              <a:rPr lang="en-US" sz="1900" dirty="0">
                <a:ea typeface="+mn-lt"/>
                <a:cs typeface="+mn-lt"/>
              </a:rPr>
              <a:t> (VoIP </a:t>
            </a:r>
            <a:r>
              <a:rPr lang="en-US" sz="1900" dirty="0" err="1">
                <a:ea typeface="+mn-lt"/>
                <a:cs typeface="+mn-lt"/>
              </a:rPr>
              <a:t>hálózat</a:t>
            </a:r>
            <a:r>
              <a:rPr lang="en-US" sz="1900" dirty="0">
                <a:ea typeface="+mn-lt"/>
                <a:cs typeface="+mn-lt"/>
              </a:rPr>
              <a:t>).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900" b="1" dirty="0">
                <a:ea typeface="+mn-lt"/>
                <a:cs typeface="+mn-lt"/>
              </a:rPr>
              <a:t>Wi-Fi:</a:t>
            </a:r>
            <a:r>
              <a:rPr lang="en-US" sz="1900" dirty="0">
                <a:ea typeface="+mn-lt"/>
                <a:cs typeface="+mn-lt"/>
              </a:rPr>
              <a:t> Dedikált </a:t>
            </a:r>
            <a:r>
              <a:rPr lang="en-US" sz="1900" dirty="0" err="1">
                <a:ea typeface="+mn-lt"/>
                <a:cs typeface="+mn-lt"/>
              </a:rPr>
              <a:t>hozzáférési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 err="1">
                <a:ea typeface="+mn-lt"/>
                <a:cs typeface="+mn-lt"/>
              </a:rPr>
              <a:t>pontok</a:t>
            </a:r>
            <a:r>
              <a:rPr lang="en-US" sz="1900" dirty="0">
                <a:ea typeface="+mn-lt"/>
                <a:cs typeface="+mn-lt"/>
              </a:rPr>
              <a:t> (Access Points).</a:t>
            </a:r>
          </a:p>
          <a:p>
            <a:pPr>
              <a:buClr>
                <a:srgbClr val="FFFFFF"/>
              </a:buClr>
            </a:pPr>
            <a:endParaRPr lang="en-US" sz="1900">
              <a:ea typeface="Calibri"/>
              <a:cs typeface="Calibri"/>
            </a:endParaRPr>
          </a:p>
        </p:txBody>
      </p:sp>
      <p:pic>
        <p:nvPicPr>
          <p:cNvPr id="4" name="Tartalom helye 3" descr="A képen szöveg, diagram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A03CCED-1A7E-7E33-3819-7EDF18BC4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1003426"/>
            <a:ext cx="4571694" cy="468891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31805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1C90E75-A1BA-FA95-6857-87B402BC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87" y="585685"/>
            <a:ext cx="4927538" cy="6139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ctr">
              <a:lnSpc>
                <a:spcPct val="90000"/>
              </a:lnSpc>
            </a:pP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br>
              <a:rPr lang="en-US" sz="1200" b="1" dirty="0"/>
            </a:br>
            <a:r>
              <a:rPr lang="en-US" sz="2200" b="1" dirty="0" err="1"/>
              <a:t>Részlegek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en-US" sz="2200" dirty="0" err="1"/>
              <a:t>Pénzügy</a:t>
            </a:r>
            <a:r>
              <a:rPr lang="en-US" sz="2200" dirty="0"/>
              <a:t> &amp; </a:t>
            </a:r>
            <a:r>
              <a:rPr lang="en-US" sz="2200" dirty="0" err="1"/>
              <a:t>Számvitel</a:t>
            </a:r>
            <a:r>
              <a:rPr lang="en-US" sz="2200" dirty="0"/>
              <a:t>, Admin &amp; </a:t>
            </a:r>
            <a:r>
              <a:rPr lang="en-US" sz="2200" dirty="0" err="1"/>
              <a:t>Kapcsolatok</a:t>
            </a:r>
            <a:r>
              <a:rPr lang="en-US" sz="2200" dirty="0"/>
              <a:t>.</a:t>
            </a:r>
            <a:br>
              <a:rPr lang="en-US" sz="2200" dirty="0"/>
            </a:br>
            <a:br>
              <a:rPr lang="en-US" sz="2200" dirty="0"/>
            </a:br>
            <a:r>
              <a:rPr lang="en-US" sz="2200" b="1" dirty="0" err="1"/>
              <a:t>Felépítés</a:t>
            </a:r>
            <a:r>
              <a:rPr lang="en-US" sz="2200" b="1" dirty="0"/>
              <a:t>:</a:t>
            </a:r>
            <a:r>
              <a:rPr lang="en-US" sz="2200" dirty="0"/>
              <a:t> Az </a:t>
            </a:r>
            <a:r>
              <a:rPr lang="en-US" sz="2200" dirty="0" err="1"/>
              <a:t>első</a:t>
            </a:r>
            <a:r>
              <a:rPr lang="en-US" sz="2200" dirty="0"/>
              <a:t> </a:t>
            </a:r>
            <a:r>
              <a:rPr lang="en-US" sz="2200" dirty="0" err="1"/>
              <a:t>emelettel</a:t>
            </a:r>
            <a:r>
              <a:rPr lang="en-US" sz="2200" dirty="0"/>
              <a:t> </a:t>
            </a:r>
            <a:r>
              <a:rPr lang="en-US" sz="2200" dirty="0" err="1"/>
              <a:t>megegyező</a:t>
            </a:r>
            <a:r>
              <a:rPr lang="en-US" sz="2200" dirty="0"/>
              <a:t> </a:t>
            </a:r>
            <a:r>
              <a:rPr lang="en-US" sz="2200" dirty="0" err="1"/>
              <a:t>struktúra</a:t>
            </a:r>
            <a:r>
              <a:rPr lang="en-US" sz="2200" dirty="0"/>
              <a:t> (</a:t>
            </a:r>
            <a:r>
              <a:rPr lang="en-US" sz="2200" dirty="0" err="1"/>
              <a:t>standardizált</a:t>
            </a:r>
            <a:r>
              <a:rPr lang="en-US" sz="2200" dirty="0"/>
              <a:t> </a:t>
            </a:r>
            <a:r>
              <a:rPr lang="en-US" sz="2200" dirty="0" err="1"/>
              <a:t>kiépítés</a:t>
            </a:r>
            <a:r>
              <a:rPr lang="en-US" sz="2200" dirty="0"/>
              <a:t>).</a:t>
            </a:r>
            <a:br>
              <a:rPr lang="en-US" sz="2200" dirty="0"/>
            </a:br>
            <a:endParaRPr lang="en-US" sz="2200" dirty="0">
              <a:ea typeface="Calibri Light"/>
              <a:cs typeface="Calibri Light"/>
            </a:endParaRPr>
          </a:p>
          <a:p>
            <a:pPr algn="ctr">
              <a:lnSpc>
                <a:spcPct val="90000"/>
              </a:lnSpc>
            </a:pPr>
            <a:r>
              <a:rPr lang="en-US" sz="2200" b="1" dirty="0" err="1"/>
              <a:t>Hálózat</a:t>
            </a:r>
            <a:r>
              <a:rPr lang="en-US" sz="2200" b="1" dirty="0"/>
              <a:t>:</a:t>
            </a:r>
            <a:r>
              <a:rPr lang="en-US" sz="2200" dirty="0"/>
              <a:t> VLAN-</a:t>
            </a:r>
            <a:r>
              <a:rPr lang="en-US" sz="2200" dirty="0" err="1"/>
              <a:t>alapú</a:t>
            </a:r>
            <a:r>
              <a:rPr lang="en-US" sz="2200" dirty="0"/>
              <a:t> </a:t>
            </a:r>
            <a:r>
              <a:rPr lang="en-US" sz="2200" dirty="0" err="1"/>
              <a:t>szegmentálás</a:t>
            </a:r>
            <a:r>
              <a:rPr lang="en-US" sz="2200" dirty="0"/>
              <a:t> </a:t>
            </a:r>
            <a:r>
              <a:rPr lang="en-US" sz="2200" dirty="0" err="1"/>
              <a:t>az</a:t>
            </a:r>
            <a:r>
              <a:rPr lang="en-US" sz="2200" dirty="0"/>
              <a:t> </a:t>
            </a:r>
            <a:r>
              <a:rPr lang="en-US" sz="2200" dirty="0" err="1"/>
              <a:t>adatok</a:t>
            </a:r>
            <a:r>
              <a:rPr lang="en-US" sz="2200" dirty="0"/>
              <a:t> </a:t>
            </a:r>
            <a:r>
              <a:rPr lang="en-US" sz="2200" dirty="0" err="1"/>
              <a:t>védelmében</a:t>
            </a:r>
            <a:r>
              <a:rPr lang="en-US" sz="2200" dirty="0"/>
              <a:t>.</a:t>
            </a:r>
            <a:br>
              <a:rPr lang="en-US" sz="2200" dirty="0"/>
            </a:br>
            <a:endParaRPr lang="en-US" sz="2200">
              <a:ea typeface="Calibri Light"/>
              <a:cs typeface="Calibri Light"/>
            </a:endParaRPr>
          </a:p>
          <a:p>
            <a:pPr marL="285750" indent="-285750" algn="ctr">
              <a:lnSpc>
                <a:spcPct val="90000"/>
              </a:lnSpc>
            </a:pPr>
            <a:r>
              <a:rPr lang="en-US" sz="2200" b="1" err="1"/>
              <a:t>Eszközök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en-US" sz="2200" err="1"/>
              <a:t>Saját</a:t>
            </a:r>
            <a:r>
              <a:rPr lang="en-US" sz="2200" dirty="0"/>
              <a:t> Access Switch-ek (FIN-SW, ADM-SW) </a:t>
            </a:r>
            <a:r>
              <a:rPr lang="en-US" sz="2200" err="1"/>
              <a:t>biztosítják</a:t>
            </a:r>
            <a:r>
              <a:rPr lang="en-US" sz="2200" dirty="0"/>
              <a:t> a </a:t>
            </a:r>
            <a:r>
              <a:rPr lang="en-US" sz="2200" err="1"/>
              <a:t>kapcsolatot</a:t>
            </a:r>
            <a:r>
              <a:rPr lang="en-US" sz="2200" dirty="0"/>
              <a:t> a Core </a:t>
            </a:r>
            <a:r>
              <a:rPr lang="en-US" sz="2200" err="1"/>
              <a:t>felé</a:t>
            </a:r>
            <a:r>
              <a:rPr lang="en-US" sz="2200" dirty="0"/>
              <a:t>.</a:t>
            </a:r>
            <a:endParaRPr lang="en-US" sz="2200">
              <a:ea typeface="Calibri Light"/>
              <a:cs typeface="Calibri Light"/>
            </a:endParaRPr>
          </a:p>
          <a:p>
            <a:pPr algn="ctr">
              <a:lnSpc>
                <a:spcPct val="90000"/>
              </a:lnSpc>
            </a:pPr>
            <a:r>
              <a:rPr lang="en-US" sz="2200" dirty="0"/>
              <a:t>.</a:t>
            </a:r>
            <a:endParaRPr lang="en-US" sz="2200">
              <a:ea typeface="Calibri Light"/>
              <a:cs typeface="Calibri Light"/>
            </a:endParaRPr>
          </a:p>
          <a:p>
            <a:pPr algn="r">
              <a:lnSpc>
                <a:spcPct val="90000"/>
              </a:lnSpc>
            </a:pPr>
            <a:endParaRPr lang="en-US" sz="120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660913-C9EB-F52C-304E-C0C59774A102}"/>
              </a:ext>
            </a:extLst>
          </p:cNvPr>
          <p:cNvSpPr txBox="1"/>
          <p:nvPr/>
        </p:nvSpPr>
        <p:spPr>
          <a:xfrm>
            <a:off x="781700" y="-4670"/>
            <a:ext cx="3257563" cy="18380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Aft>
                <a:spcPts val="1000"/>
              </a:spcAft>
              <a:buClr>
                <a:prstClr val="white"/>
              </a:buClr>
              <a:buSzPct val="100000"/>
            </a:pPr>
            <a:r>
              <a:rPr lang="en-US" b="1" cap="all" baseline="0" dirty="0"/>
              <a:t>2. </a:t>
            </a:r>
            <a:r>
              <a:rPr lang="en-US" b="1" cap="all" baseline="0" dirty="0" err="1"/>
              <a:t>Emelet</a:t>
            </a:r>
            <a:r>
              <a:rPr lang="en-US" b="1" cap="all" baseline="0" dirty="0"/>
              <a:t> (</a:t>
            </a:r>
            <a:r>
              <a:rPr lang="en-US" b="1" cap="all" baseline="0" dirty="0" err="1"/>
              <a:t>Világoskék</a:t>
            </a:r>
            <a:r>
              <a:rPr lang="en-US" b="1" cap="all" baseline="0" dirty="0"/>
              <a:t>/</a:t>
            </a:r>
            <a:r>
              <a:rPr lang="en-US" b="1" cap="all" baseline="0" dirty="0" err="1"/>
              <a:t>Világoszöld</a:t>
            </a:r>
            <a:endParaRPr lang="en-US" cap="all" dirty="0">
              <a:ea typeface="Calibri"/>
              <a:cs typeface="Calibri"/>
            </a:endParaRPr>
          </a:p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cap="all"/>
          </a:p>
        </p:txBody>
      </p:sp>
      <p:pic>
        <p:nvPicPr>
          <p:cNvPr id="4" name="Kép 3" descr="A képen szöveg, diagram, képernyőkép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092D4F49-30BC-B6AB-9A9C-14527C160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651" y="580623"/>
            <a:ext cx="4114627" cy="504077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3894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2C73EA-7940-C3FA-BAC0-4B653DEA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94" y="2309620"/>
            <a:ext cx="2828925" cy="3199925"/>
          </a:xfrm>
        </p:spPr>
        <p:txBody>
          <a:bodyPr anchor="b">
            <a:normAutofit fontScale="90000"/>
          </a:bodyPr>
          <a:lstStyle/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Informatikai osztály (ICT):</a:t>
            </a:r>
            <a:r>
              <a:rPr lang="hu-HU" sz="1800" dirty="0">
                <a:ea typeface="+mj-lt"/>
                <a:cs typeface="+mj-lt"/>
              </a:rPr>
              <a:t> Operatív felügyelet és fejlesztés.</a:t>
            </a:r>
            <a:br>
              <a:rPr lang="hu-HU" sz="1800" dirty="0">
                <a:ea typeface="+mj-lt"/>
                <a:cs typeface="+mj-lt"/>
              </a:rPr>
            </a:br>
            <a:endParaRPr lang="hu-HU" sz="1800">
              <a:ea typeface="Calibri Light"/>
              <a:cs typeface="Calibri Light"/>
            </a:endParaRPr>
          </a:p>
          <a:p>
            <a:pPr marL="285750" indent="-285750">
              <a:lnSpc>
                <a:spcPct val="90000"/>
              </a:lnSpc>
              <a:buFont typeface="Arial"/>
              <a:buChar char="•"/>
            </a:pPr>
            <a:r>
              <a:rPr lang="hu-HU" sz="1800" b="1" dirty="0">
                <a:ea typeface="+mj-lt"/>
                <a:cs typeface="+mj-lt"/>
              </a:rPr>
              <a:t>Belső hálózati szolgáltatások (Server-SW):</a:t>
            </a:r>
            <a:endParaRPr lang="hu-HU" sz="1800" dirty="0">
              <a:ea typeface="Calibri Light"/>
              <a:cs typeface="Calibri Light"/>
            </a:endParaRPr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DHCP Szerver:</a:t>
            </a:r>
            <a:r>
              <a:rPr lang="hu-HU" dirty="0">
                <a:latin typeface="+mj-lt"/>
                <a:ea typeface="+mj-lt"/>
                <a:cs typeface="+mj-lt"/>
              </a:rPr>
              <a:t> Automatikus IP-cím kiosztás a klienseknek.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DNS Szerver:</a:t>
            </a:r>
            <a:r>
              <a:rPr lang="hu-HU" dirty="0">
                <a:latin typeface="+mj-lt"/>
                <a:ea typeface="+mj-lt"/>
                <a:cs typeface="+mj-lt"/>
              </a:rPr>
              <a:t> Belső és külső névfeloldás.</a:t>
            </a:r>
            <a:endParaRPr lang="hu-HU" dirty="0"/>
          </a:p>
          <a:p>
            <a:pPr marL="285750" lvl="1" indent="-285750">
              <a:lnSpc>
                <a:spcPct val="90000"/>
              </a:lnSpc>
              <a:buFont typeface="Arial"/>
              <a:buChar char="•"/>
            </a:pPr>
            <a:r>
              <a:rPr lang="hu-HU" b="1" dirty="0">
                <a:latin typeface="+mj-lt"/>
                <a:ea typeface="+mj-lt"/>
                <a:cs typeface="+mj-lt"/>
              </a:rPr>
              <a:t>RADIUS Szerver:</a:t>
            </a:r>
            <a:r>
              <a:rPr lang="hu-HU" dirty="0">
                <a:latin typeface="+mj-lt"/>
                <a:ea typeface="+mj-lt"/>
                <a:cs typeface="+mj-lt"/>
              </a:rPr>
              <a:t> Felhasználói hitelesítés és hálózati biztonság (AAA</a:t>
            </a:r>
            <a:r>
              <a:rPr lang="hu-HU" sz="1050" dirty="0">
                <a:latin typeface="+mj-lt"/>
                <a:ea typeface="+mj-lt"/>
                <a:cs typeface="+mj-lt"/>
              </a:rPr>
              <a:t>).</a:t>
            </a:r>
            <a:endParaRPr lang="hu-HU" sz="1050" dirty="0"/>
          </a:p>
          <a:p>
            <a:pPr>
              <a:lnSpc>
                <a:spcPct val="90000"/>
              </a:lnSpc>
            </a:pPr>
            <a:endParaRPr lang="hu-HU" sz="1000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CE0F6E-BD88-5480-9A0F-F1347CCA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05491" y="-472511"/>
            <a:ext cx="11791326" cy="2781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hu-HU" sz="2000" b="1" dirty="0">
                <a:latin typeface="Times New Roman"/>
                <a:ea typeface="+mn-lt"/>
                <a:cs typeface="Times New Roman"/>
              </a:rPr>
              <a:t>Harmadik emelet és IT központ       </a:t>
            </a:r>
            <a:r>
              <a:rPr lang="hu-HU" sz="2000" b="1" u="sng" dirty="0">
                <a:latin typeface="Times New Roman"/>
                <a:ea typeface="+mn-lt"/>
                <a:cs typeface="Times New Roman"/>
              </a:rPr>
              <a:t>(</a:t>
            </a:r>
            <a:r>
              <a:rPr lang="hu-HU" sz="2000" dirty="0">
                <a:ea typeface="+mn-lt"/>
                <a:cs typeface="+mn-lt"/>
              </a:rPr>
              <a:t>Informatikai Osztály és Belső Szerverek)</a:t>
            </a:r>
            <a:endParaRPr lang="hu-HU" sz="20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Kép 3" descr="A képen szöveg, képernyőkép, diagram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F494ED0-D9ED-01E6-E65D-D9CCF122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15" y="2127555"/>
            <a:ext cx="5861904" cy="483153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58619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886A89-8225-D4CB-F56F-DC9D1D0B4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20" y="1744"/>
            <a:ext cx="4711700" cy="593513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hu-HU" sz="3200" b="1" dirty="0"/>
              <a:t>Menedzsment Hálózat (Zöld zóna)</a:t>
            </a:r>
            <a:endParaRPr lang="hu-HU" sz="32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b="1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NET-SEC-PC (</a:t>
            </a:r>
            <a:r>
              <a:rPr lang="hu-HU" b="1" dirty="0">
                <a:latin typeface="Consolas"/>
              </a:rPr>
              <a:t>10.20.0.10</a:t>
            </a:r>
            <a:r>
              <a:rPr lang="hu-HU" b="1" dirty="0">
                <a:ea typeface="+mn-lt"/>
                <a:cs typeface="+mn-lt"/>
              </a:rPr>
              <a:t>):</a:t>
            </a:r>
            <a:r>
              <a:rPr lang="hu-HU" dirty="0">
                <a:ea typeface="+mn-lt"/>
                <a:cs typeface="+mn-lt"/>
              </a:rPr>
              <a:t> Központi adminisztrációs munkaállomás a hálózat felügyeletéhez.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WLC-2504:</a:t>
            </a:r>
            <a:r>
              <a:rPr lang="hu-HU" dirty="0">
                <a:ea typeface="+mn-lt"/>
                <a:cs typeface="+mn-lt"/>
              </a:rPr>
              <a:t> Cisco </a:t>
            </a:r>
            <a:r>
              <a:rPr lang="hu-HU" err="1">
                <a:ea typeface="+mn-lt"/>
                <a:cs typeface="+mn-lt"/>
              </a:rPr>
              <a:t>Wireless</a:t>
            </a:r>
            <a:r>
              <a:rPr lang="hu-HU" dirty="0">
                <a:ea typeface="+mn-lt"/>
                <a:cs typeface="+mn-lt"/>
              </a:rPr>
              <a:t> LAN </a:t>
            </a:r>
            <a:r>
              <a:rPr lang="hu-HU" err="1">
                <a:ea typeface="+mn-lt"/>
                <a:cs typeface="+mn-lt"/>
              </a:rPr>
              <a:t>Controller</a:t>
            </a:r>
            <a:r>
              <a:rPr lang="hu-HU" dirty="0">
                <a:ea typeface="+mn-lt"/>
                <a:cs typeface="+mn-lt"/>
              </a:rPr>
              <a:t> a vállalati </a:t>
            </a:r>
            <a:r>
              <a:rPr lang="hu-HU" err="1">
                <a:ea typeface="+mn-lt"/>
                <a:cs typeface="+mn-lt"/>
              </a:rPr>
              <a:t>Wi</a:t>
            </a:r>
            <a:r>
              <a:rPr lang="hu-HU" dirty="0">
                <a:ea typeface="+mn-lt"/>
                <a:cs typeface="+mn-lt"/>
              </a:rPr>
              <a:t>-Fi hálózat és az AP-k központi vezérléséhez.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b="1" dirty="0">
                <a:ea typeface="+mn-lt"/>
                <a:cs typeface="+mn-lt"/>
              </a:rPr>
              <a:t>2811 </a:t>
            </a:r>
            <a:r>
              <a:rPr lang="hu-HU" b="1" err="1">
                <a:ea typeface="+mn-lt"/>
                <a:cs typeface="+mn-lt"/>
              </a:rPr>
              <a:t>Voice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err="1">
                <a:ea typeface="+mn-lt"/>
                <a:cs typeface="+mn-lt"/>
              </a:rPr>
              <a:t>Gateway</a:t>
            </a:r>
            <a:r>
              <a:rPr lang="hu-HU" b="1" dirty="0">
                <a:ea typeface="+mn-lt"/>
                <a:cs typeface="+mn-lt"/>
              </a:rPr>
              <a:t>:</a:t>
            </a:r>
            <a:r>
              <a:rPr lang="hu-HU" dirty="0">
                <a:ea typeface="+mn-lt"/>
                <a:cs typeface="+mn-lt"/>
              </a:rPr>
              <a:t> Cisco router a hangalapú (</a:t>
            </a:r>
            <a:r>
              <a:rPr lang="hu-HU" err="1">
                <a:ea typeface="+mn-lt"/>
                <a:cs typeface="+mn-lt"/>
              </a:rPr>
              <a:t>VoIP</a:t>
            </a:r>
            <a:r>
              <a:rPr lang="hu-HU" dirty="0">
                <a:ea typeface="+mn-lt"/>
                <a:cs typeface="+mn-lt"/>
              </a:rPr>
              <a:t>) forgalom és a telefonközpont kiszolgálására.</a:t>
            </a:r>
            <a:endParaRPr lang="hu-HU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hu-HU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hu-HU" dirty="0">
                <a:ea typeface="+mn-lt"/>
                <a:cs typeface="+mn-lt"/>
              </a:rPr>
              <a:t> Ez a zóna biztosítja a DMZ-</a:t>
            </a:r>
            <a:r>
              <a:rPr lang="hu-HU" err="1">
                <a:ea typeface="+mn-lt"/>
                <a:cs typeface="+mn-lt"/>
              </a:rPr>
              <a:t>től</a:t>
            </a:r>
            <a:r>
              <a:rPr lang="hu-HU" dirty="0">
                <a:ea typeface="+mn-lt"/>
                <a:cs typeface="+mn-lt"/>
              </a:rPr>
              <a:t> és a belső hálótól elszeparált, védett elérést a hálózati infrastruktúra (WLAN, </a:t>
            </a:r>
            <a:r>
              <a:rPr lang="hu-HU" err="1">
                <a:ea typeface="+mn-lt"/>
                <a:cs typeface="+mn-lt"/>
              </a:rPr>
              <a:t>Voice</a:t>
            </a:r>
            <a:r>
              <a:rPr lang="hu-HU" dirty="0">
                <a:ea typeface="+mn-lt"/>
                <a:cs typeface="+mn-lt"/>
              </a:rPr>
              <a:t>, Biztonság) konfigurálásáho</a:t>
            </a:r>
            <a:r>
              <a:rPr lang="hu-HU" sz="1300" dirty="0">
                <a:ea typeface="+mn-lt"/>
                <a:cs typeface="+mn-lt"/>
              </a:rPr>
              <a:t>z.</a:t>
            </a:r>
            <a:endParaRPr lang="hu-HU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100">
              <a:ea typeface="Calibri"/>
              <a:cs typeface="Calibri"/>
            </a:endParaRPr>
          </a:p>
        </p:txBody>
      </p:sp>
      <p:pic>
        <p:nvPicPr>
          <p:cNvPr id="4" name="Kép 3" descr="A képen diagram, szöveg, kör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4571D455-9C13-2C13-E6A3-64FA408D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790" y="4443"/>
            <a:ext cx="4993549" cy="309738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0495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BB3B83-F2EE-2D4F-1FCB-F9A4562A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" y="-1033922"/>
            <a:ext cx="8618700" cy="1651000"/>
          </a:xfrm>
        </p:spPr>
        <p:txBody>
          <a:bodyPr anchor="b">
            <a:normAutofit/>
          </a:bodyPr>
          <a:lstStyle/>
          <a:p>
            <a:r>
              <a:rPr lang="hu-HU" sz="3200" dirty="0">
                <a:ea typeface="+mj-lt"/>
                <a:cs typeface="+mj-lt"/>
              </a:rPr>
              <a:t>Külső Kapcsolat és Internet (INTERNET/CLOUD)</a:t>
            </a:r>
            <a:endParaRPr lang="hu-HU" sz="32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15119F-2732-8F89-3A03-D071365E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94" y="937545"/>
            <a:ext cx="8885756" cy="2781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hu-HU" sz="2000" b="1" dirty="0">
                <a:ea typeface="+mn-lt"/>
                <a:cs typeface="+mn-lt"/>
              </a:rPr>
              <a:t>Központi Felhő:</a:t>
            </a:r>
            <a:r>
              <a:rPr lang="hu-HU" sz="2000" dirty="0">
                <a:ea typeface="+mn-lt"/>
                <a:cs typeface="+mn-lt"/>
              </a:rPr>
              <a:t> A hálózat az </a:t>
            </a:r>
            <a:r>
              <a:rPr lang="hu-HU" sz="2000" dirty="0">
                <a:latin typeface="Consolas"/>
              </a:rPr>
              <a:t>8.0.0.0/8</a:t>
            </a:r>
            <a:r>
              <a:rPr lang="hu-HU" sz="2000" dirty="0">
                <a:ea typeface="+mn-lt"/>
                <a:cs typeface="+mn-lt"/>
              </a:rPr>
              <a:t> tartományon keresztül kapcsolódik a külvilághoz.</a:t>
            </a:r>
            <a:endParaRPr lang="hu-HU" sz="20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USA-INTERNET-USER (</a:t>
            </a:r>
            <a:r>
              <a:rPr lang="hu-HU" sz="2000" b="1" dirty="0">
                <a:latin typeface="Consolas"/>
              </a:rPr>
              <a:t>8.0.0.10</a:t>
            </a:r>
            <a:r>
              <a:rPr lang="hu-HU" sz="2000" b="1" dirty="0">
                <a:ea typeface="+mn-lt"/>
                <a:cs typeface="+mn-lt"/>
              </a:rPr>
              <a:t>):</a:t>
            </a:r>
            <a:r>
              <a:rPr lang="hu-HU" sz="2000" dirty="0">
                <a:ea typeface="+mn-lt"/>
                <a:cs typeface="+mn-lt"/>
              </a:rPr>
              <a:t> Távoli, amerikai kliens elérése.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CHINA-INTERNETUSER (</a:t>
            </a:r>
            <a:r>
              <a:rPr lang="hu-HU" sz="2000" b="1" dirty="0">
                <a:latin typeface="Consolas"/>
              </a:rPr>
              <a:t>8.0.0.20</a:t>
            </a:r>
            <a:r>
              <a:rPr lang="hu-HU" sz="2000" b="1" dirty="0">
                <a:ea typeface="+mn-lt"/>
                <a:cs typeface="+mn-lt"/>
              </a:rPr>
              <a:t>):</a:t>
            </a:r>
            <a:r>
              <a:rPr lang="hu-HU" sz="2000" dirty="0">
                <a:ea typeface="+mn-lt"/>
                <a:cs typeface="+mn-lt"/>
              </a:rPr>
              <a:t> Távoli, kínai kliens elérése.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hu-HU" sz="2000" b="1" dirty="0">
                <a:ea typeface="+mn-lt"/>
                <a:cs typeface="+mn-lt"/>
              </a:rPr>
              <a:t>Összeköttetések:</a:t>
            </a:r>
            <a:r>
              <a:rPr lang="hu-HU" sz="2000" dirty="0">
                <a:ea typeface="+mn-lt"/>
                <a:cs typeface="+mn-lt"/>
              </a:rPr>
              <a:t> A központi routerek (például </a:t>
            </a:r>
            <a:r>
              <a:rPr lang="hu-HU" sz="2000" dirty="0">
                <a:latin typeface="Consolas"/>
              </a:rPr>
              <a:t>20.20.20.0/30</a:t>
            </a:r>
            <a:r>
              <a:rPr lang="hu-HU" sz="2000" dirty="0">
                <a:ea typeface="+mn-lt"/>
                <a:cs typeface="+mn-lt"/>
              </a:rPr>
              <a:t> és </a:t>
            </a:r>
            <a:r>
              <a:rPr lang="hu-HU" sz="2000" dirty="0">
                <a:latin typeface="Consolas"/>
              </a:rPr>
              <a:t>30.30.30.0/30</a:t>
            </a:r>
            <a:r>
              <a:rPr lang="hu-HU" sz="2000" dirty="0">
                <a:ea typeface="+mn-lt"/>
                <a:cs typeface="+mn-lt"/>
              </a:rPr>
              <a:t> alhálózatokon keresztül) biztosítják a forgalomirányítást a telephelyek és az internet között</a:t>
            </a:r>
            <a:r>
              <a:rPr lang="hu-HU" sz="2000">
                <a:ea typeface="+mn-lt"/>
                <a:cs typeface="+mn-lt"/>
              </a:rPr>
              <a:t>.</a:t>
            </a:r>
            <a:endParaRPr lang="hu-HU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2000">
              <a:ea typeface="Calibri"/>
              <a:cs typeface="Calibri"/>
            </a:endParaRPr>
          </a:p>
        </p:txBody>
      </p:sp>
      <p:pic>
        <p:nvPicPr>
          <p:cNvPr id="5" name="Kép 4" descr="A képen diagram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C2DB5455-6A17-9187-08C6-B6E03C0B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0338"/>
            <a:ext cx="9144000" cy="11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0336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D37F73-D801-7F8F-0825-896A1B78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22" y="713"/>
            <a:ext cx="7772400" cy="1456267"/>
          </a:xfrm>
        </p:spPr>
        <p:txBody>
          <a:bodyPr/>
          <a:lstStyle/>
          <a:p>
            <a:pPr algn="ctr"/>
            <a:r>
              <a:rPr lang="hu-HU" dirty="0">
                <a:ea typeface="+mj-lt"/>
                <a:cs typeface="+mj-lt"/>
              </a:rPr>
              <a:t>A Maghálózat (A "hálózat szíve")</a:t>
            </a:r>
            <a:endParaRPr lang="hu-HU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7860B5-45CB-5BF3-363A-EF83E361B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209" y="1084526"/>
            <a:ext cx="7772400" cy="3649133"/>
          </a:xfrm>
        </p:spPr>
        <p:txBody>
          <a:bodyPr/>
          <a:lstStyle/>
          <a:p>
            <a:pPr algn="ctr"/>
            <a:r>
              <a:rPr lang="hu-HU" sz="2000">
                <a:ea typeface="+mn-lt"/>
                <a:cs typeface="+mn-lt"/>
              </a:rPr>
              <a:t>A két nagy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> (CORE-SW1 és CORE-SW2) végzi a munka nehezét.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HSRP (Kettőzés):</a:t>
            </a:r>
            <a:r>
              <a:rPr lang="hu-HU" sz="2000">
                <a:ea typeface="+mn-lt"/>
                <a:cs typeface="+mn-lt"/>
              </a:rPr>
              <a:t> Olyan, mint egy pótkerék. Ha az egyik </a:t>
            </a:r>
            <a:r>
              <a:rPr lang="hu-HU" sz="2000" err="1">
                <a:ea typeface="+mn-lt"/>
                <a:cs typeface="+mn-lt"/>
              </a:rPr>
              <a:t>switch</a:t>
            </a:r>
            <a:r>
              <a:rPr lang="hu-HU" sz="2000">
                <a:ea typeface="+mn-lt"/>
                <a:cs typeface="+mn-lt"/>
              </a:rPr>
              <a:t> elromlik, a másik azonnal átveszi a helyét, és a dolgozók </a:t>
            </a:r>
            <a:r>
              <a:rPr lang="hu-HU" sz="2000" err="1">
                <a:ea typeface="+mn-lt"/>
                <a:cs typeface="+mn-lt"/>
              </a:rPr>
              <a:t>észre</a:t>
            </a:r>
            <a:r>
              <a:rPr lang="hu-HU" sz="2000">
                <a:ea typeface="+mn-lt"/>
                <a:cs typeface="+mn-lt"/>
              </a:rPr>
              <a:t> sem veszik a leállást.</a:t>
            </a:r>
            <a:endParaRPr lang="hu-HU" sz="2000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sz="2000" b="1">
                <a:ea typeface="+mn-lt"/>
                <a:cs typeface="+mn-lt"/>
              </a:rPr>
              <a:t>LACP (Összefogás):</a:t>
            </a:r>
            <a:r>
              <a:rPr lang="hu-HU" sz="2000">
                <a:ea typeface="+mn-lt"/>
                <a:cs typeface="+mn-lt"/>
              </a:rPr>
              <a:t> Több kábelt kötnek össze a </a:t>
            </a:r>
            <a:r>
              <a:rPr lang="hu-HU" sz="2000" err="1">
                <a:ea typeface="+mn-lt"/>
                <a:cs typeface="+mn-lt"/>
              </a:rPr>
              <a:t>switchek</a:t>
            </a:r>
            <a:r>
              <a:rPr lang="hu-HU" sz="2000">
                <a:ea typeface="+mn-lt"/>
                <a:cs typeface="+mn-lt"/>
              </a:rPr>
              <a:t> között, hogy gyorsabb legyen az adatforgalom, és ha egy kábel elszakad, maradjon másik út az adatoknak.</a:t>
            </a:r>
            <a:endParaRPr lang="hu-HU" sz="20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hu-HU" sz="2000">
              <a:ea typeface="Calibri"/>
              <a:cs typeface="Calibri"/>
            </a:endParaRPr>
          </a:p>
        </p:txBody>
      </p:sp>
      <p:pic>
        <p:nvPicPr>
          <p:cNvPr id="4" name="Kép 3" descr="A képen diagram, képernyőkép, sor, kör látható&#10;&#10;Lehet, hogy az AI által létrehozott tartalom helytelen.">
            <a:extLst>
              <a:ext uri="{FF2B5EF4-FFF2-40B4-BE49-F238E27FC236}">
                <a16:creationId xmlns:a16="http://schemas.microsoft.com/office/drawing/2014/main" id="{B9E18D4D-11CC-3159-017A-703AA802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" y="5411581"/>
            <a:ext cx="9128688" cy="14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058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CD2430-6131-9004-3C05-DEE21E01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11" y="1560320"/>
            <a:ext cx="7772400" cy="3357706"/>
          </a:xfrm>
        </p:spPr>
        <p:txBody>
          <a:bodyPr/>
          <a:lstStyle/>
          <a:p>
            <a:pPr algn="ctr"/>
            <a:r>
              <a:rPr lang="hu-HU" dirty="0">
                <a:ea typeface="Calibri Light"/>
                <a:cs typeface="Calibri Light"/>
              </a:rPr>
              <a:t>Hálózati virtuális gépeket készítettünk az </a:t>
            </a:r>
            <a:r>
              <a:rPr lang="hu-HU" err="1">
                <a:ea typeface="Calibri Light"/>
                <a:cs typeface="Calibri Light"/>
              </a:rPr>
              <a:t>oracle</a:t>
            </a:r>
            <a:r>
              <a:rPr lang="hu-HU" dirty="0">
                <a:ea typeface="Calibri Light"/>
                <a:cs typeface="Calibri Light"/>
              </a:rPr>
              <a:t> </a:t>
            </a:r>
            <a:r>
              <a:rPr lang="hu-HU" err="1">
                <a:ea typeface="Calibri Light"/>
                <a:cs typeface="Calibri Light"/>
              </a:rPr>
              <a:t>virtualbox</a:t>
            </a:r>
            <a:r>
              <a:rPr lang="hu-HU" dirty="0">
                <a:ea typeface="Calibri Light"/>
                <a:cs typeface="Calibri Light"/>
              </a:rPr>
              <a:t> nevű program segítségével</a:t>
            </a:r>
          </a:p>
        </p:txBody>
      </p:sp>
    </p:spTree>
    <p:extLst>
      <p:ext uri="{BB962C8B-B14F-4D97-AF65-F5344CB8AC3E}">
        <p14:creationId xmlns:p14="http://schemas.microsoft.com/office/powerpoint/2010/main" val="55369999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2DF932-CB35-4287-7E31-523E9126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hu-HU">
                <a:ea typeface="Calibri Light"/>
                <a:cs typeface="Calibri Light"/>
              </a:rPr>
              <a:t>Használt virtuális gépek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8DA050-1F3C-5130-42AA-AB4FFDB1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1" y="2261420"/>
            <a:ext cx="3589013" cy="51654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hu-HU" b="1">
                <a:ea typeface="Calibri"/>
                <a:cs typeface="Calibri"/>
              </a:rPr>
              <a:t>Windows Server 2019</a:t>
            </a: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Rendszer:</a:t>
            </a:r>
            <a:r>
              <a:rPr lang="hu-HU">
                <a:ea typeface="+mn-lt"/>
                <a:cs typeface="+mn-lt"/>
              </a:rPr>
              <a:t> Windows Server alapú környezet grafikus felülettel.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Hálózati beállítás:</a:t>
            </a:r>
            <a:r>
              <a:rPr lang="hu-HU">
                <a:ea typeface="+mn-lt"/>
                <a:cs typeface="+mn-lt"/>
              </a:rPr>
              <a:t> Statikus IP-cím a megbízható elérhetőség érdekében.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hu-HU" b="1">
                <a:ea typeface="Calibri"/>
                <a:cs typeface="Calibri"/>
              </a:rPr>
              <a:t>Debian</a:t>
            </a: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Rendszer:</a:t>
            </a:r>
            <a:r>
              <a:rPr lang="hu-HU">
                <a:ea typeface="+mn-lt"/>
                <a:cs typeface="+mn-lt"/>
              </a:rPr>
              <a:t> Debian Linux alapú szerver telepítése egyedi felhasználói fiókkal.</a:t>
            </a:r>
            <a:endParaRPr lang="hu-HU">
              <a:ea typeface="Calibri" panose="020F0502020204030204"/>
              <a:cs typeface="Calibri" panose="020F0502020204030204"/>
            </a:endParaRPr>
          </a:p>
          <a:p>
            <a:pPr algn="ctr">
              <a:buClr>
                <a:srgbClr val="FFFFFF"/>
              </a:buClr>
            </a:pPr>
            <a:r>
              <a:rPr lang="hu-HU" b="1">
                <a:ea typeface="+mn-lt"/>
                <a:cs typeface="+mn-lt"/>
              </a:rPr>
              <a:t>Hálózati beállítás:</a:t>
            </a:r>
            <a:r>
              <a:rPr lang="hu-HU">
                <a:ea typeface="+mn-lt"/>
                <a:cs typeface="+mn-lt"/>
              </a:rPr>
              <a:t> Statikus IP-cím konfigurálása a megbízható elérhetőség érdekében.</a:t>
            </a:r>
            <a:endParaRPr lang="hu-HU">
              <a:ea typeface="Calibri"/>
              <a:cs typeface="Calibri"/>
            </a:endParaRPr>
          </a:p>
          <a:p>
            <a:pPr marL="0" indent="0">
              <a:buNone/>
            </a:pPr>
            <a:endParaRPr lang="hu-HU">
              <a:ea typeface="Calibri"/>
              <a:cs typeface="Calibri"/>
            </a:endParaRPr>
          </a:p>
        </p:txBody>
      </p:sp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AE558BA-1295-CBF5-899D-E8875C02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1810652"/>
            <a:ext cx="4571694" cy="30744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67463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65BE17-4C22-87AB-6368-36092FC6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1800" b="1">
                <a:latin typeface="Calibri"/>
                <a:ea typeface="Calibri"/>
                <a:cs typeface="Calibri"/>
              </a:rPr>
              <a:t>Aktív szolgáltatások: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2F6F16-25AF-C391-B8D0-4A2242EB3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sz="2400" b="1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Webszerver:</a:t>
            </a:r>
            <a:r>
              <a:rPr lang="hu-HU" sz="2400" dirty="0">
                <a:ea typeface="+mn-lt"/>
                <a:cs typeface="+mn-lt"/>
              </a:rPr>
              <a:t> </a:t>
            </a:r>
            <a:r>
              <a:rPr lang="hu-HU" sz="2400" dirty="0" err="1">
                <a:ea typeface="+mn-lt"/>
                <a:cs typeface="+mn-lt"/>
              </a:rPr>
              <a:t>Apache</a:t>
            </a:r>
            <a:r>
              <a:rPr lang="hu-HU" sz="2400" dirty="0">
                <a:ea typeface="+mn-lt"/>
                <a:cs typeface="+mn-lt"/>
              </a:rPr>
              <a:t> telepítése HTTP(</a:t>
            </a:r>
            <a:r>
              <a:rPr lang="hu-HU" sz="2400" dirty="0" err="1">
                <a:ea typeface="+mn-lt"/>
                <a:cs typeface="+mn-lt"/>
              </a:rPr>
              <a:t>titkosítatlan</a:t>
            </a:r>
            <a:r>
              <a:rPr lang="hu-HU" sz="2400" dirty="0">
                <a:ea typeface="+mn-lt"/>
                <a:cs typeface="+mn-lt"/>
              </a:rPr>
              <a:t>) és biztonságos HTTPS (titkosított) protokollok támogatásával.</a:t>
            </a:r>
            <a:endParaRPr lang="hu-HU" sz="2400" dirty="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Fájlmegosztás:</a:t>
            </a:r>
            <a:r>
              <a:rPr lang="hu-HU" sz="2400" dirty="0">
                <a:ea typeface="+mn-lt"/>
                <a:cs typeface="+mn-lt"/>
              </a:rPr>
              <a:t> Samba szolgáltatás konfigurálása a platformfüggetlen adathozzáféréshez.</a:t>
            </a:r>
            <a:endParaRPr lang="hu-HU" sz="2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 sz="2400" b="1" dirty="0">
                <a:ea typeface="+mn-lt"/>
                <a:cs typeface="+mn-lt"/>
              </a:rPr>
              <a:t>Adatvédelem:</a:t>
            </a:r>
            <a:r>
              <a:rPr lang="hu-HU" sz="2400" dirty="0">
                <a:ea typeface="+mn-lt"/>
                <a:cs typeface="+mn-lt"/>
              </a:rPr>
              <a:t> Automatizált rendszermentés beállítása </a:t>
            </a:r>
            <a:r>
              <a:rPr lang="hu-HU" sz="2400" b="1" err="1">
                <a:ea typeface="+mn-lt"/>
                <a:cs typeface="+mn-lt"/>
              </a:rPr>
              <a:t>cron</a:t>
            </a:r>
            <a:r>
              <a:rPr lang="hu-HU" sz="2400" dirty="0">
                <a:ea typeface="+mn-lt"/>
                <a:cs typeface="+mn-lt"/>
              </a:rPr>
              <a:t> időzítő segítségével.</a:t>
            </a:r>
            <a:endParaRPr lang="hu-HU" sz="2400" dirty="0"/>
          </a:p>
          <a:p>
            <a:pPr>
              <a:buClr>
                <a:srgbClr val="FFFFFF"/>
              </a:buClr>
            </a:pPr>
            <a:endParaRPr lang="hu-HU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564636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BE2C6AD-5E34-B428-0835-6E48C68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" y="535"/>
            <a:ext cx="5804806" cy="692150"/>
          </a:xfrm>
        </p:spPr>
        <p:txBody>
          <a:bodyPr anchor="b">
            <a:normAutofit/>
          </a:bodyPr>
          <a:lstStyle/>
          <a:p>
            <a:r>
              <a:rPr lang="hu-HU" sz="2400">
                <a:ea typeface="+mj-lt"/>
                <a:cs typeface="+mj-lt"/>
              </a:rPr>
              <a:t>Windows Server 2019 Infrastruktúra</a:t>
            </a:r>
            <a:endParaRPr lang="hu-HU" sz="24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7C0CC-41C4-38D8-DF20-47F89A22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" y="2754430"/>
            <a:ext cx="6229349" cy="298033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Telepítés: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Adminisztrátori környezet és IPv4 beállítása.</a:t>
            </a:r>
            <a:endParaRPr lang="hu-HU" sz="28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Címtár: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hu-HU" sz="28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Active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hu-HU" sz="28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Directory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és DNS szerviz telepítése.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DHCP: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Automatikus IP-cím kiosztás a klienseknek.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Erőforrások: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Központi fájl- és nyomtatómegosztás.</a:t>
            </a:r>
            <a:endParaRPr lang="hu-HU" sz="28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hu-HU" sz="28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Biztonság:</a:t>
            </a:r>
            <a:r>
              <a:rPr lang="hu-HU" sz="2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Ütemezett mentés (Backup Schedule) beállítása</a:t>
            </a:r>
            <a:r>
              <a:rPr lang="hu-HU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hu-HU" sz="16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000000"/>
              </a:buClr>
            </a:pPr>
            <a:endParaRPr lang="hu-HU" sz="11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1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8226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E5BC1C-8669-9B63-F31D-9ADAD132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581535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000" b="1" dirty="0"/>
              <a:t>Debian/Linux Szerver </a:t>
            </a:r>
            <a:br>
              <a:rPr lang="hu-HU" sz="2000" b="1" dirty="0">
                <a:ea typeface="Calibri Light"/>
                <a:cs typeface="Calibri Light"/>
              </a:rPr>
            </a:br>
            <a:br>
              <a:rPr lang="hu-HU" sz="2000" b="1" dirty="0"/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Rendszerkörnyezet:</a:t>
            </a:r>
            <a:r>
              <a:rPr lang="hu-HU" sz="2000" dirty="0">
                <a:ea typeface="+mj-lt"/>
                <a:cs typeface="+mj-lt"/>
              </a:rPr>
              <a:t> Debian OS telepítése egyedi felhasználói fiókkal és NAT hálózati integrációval.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Hálózati Alapok:</a:t>
            </a:r>
            <a:r>
              <a:rPr lang="hu-HU" sz="2000" dirty="0">
                <a:ea typeface="+mj-lt"/>
                <a:cs typeface="+mj-lt"/>
              </a:rPr>
              <a:t> Statikus IPv4 címkonfiguráció a szolgáltatások fix és megbízható eléréséhez.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Webszolgáltatás:</a:t>
            </a:r>
            <a:r>
              <a:rPr lang="hu-HU" sz="2000" dirty="0">
                <a:ea typeface="+mj-lt"/>
                <a:cs typeface="+mj-lt"/>
              </a:rPr>
              <a:t> </a:t>
            </a:r>
            <a:r>
              <a:rPr lang="hu-HU" sz="2000" dirty="0" err="1">
                <a:ea typeface="+mj-lt"/>
                <a:cs typeface="+mj-lt"/>
              </a:rPr>
              <a:t>Apache</a:t>
            </a:r>
            <a:r>
              <a:rPr lang="hu-HU" sz="2000" dirty="0">
                <a:ea typeface="+mj-lt"/>
                <a:cs typeface="+mj-lt"/>
              </a:rPr>
              <a:t> webszerver implementálása HTTP és biztonságos HTTPS protokollok támogatásával.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Fájlkezelés:</a:t>
            </a:r>
            <a:r>
              <a:rPr lang="hu-HU" sz="2000" dirty="0">
                <a:ea typeface="+mj-lt"/>
                <a:cs typeface="+mj-lt"/>
              </a:rPr>
              <a:t> Samba szolgáltatás telepítése a Linux és Windows platformok közötti zökkenőmentes adatcseréhez.</a:t>
            </a:r>
            <a:br>
              <a:rPr lang="hu-HU" sz="2000" dirty="0">
                <a:ea typeface="+mj-lt"/>
                <a:cs typeface="+mj-lt"/>
              </a:rPr>
            </a:br>
            <a:endParaRPr lang="hu-HU" sz="2000" dirty="0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hu-HU" sz="2000" b="1" dirty="0">
                <a:ea typeface="+mj-lt"/>
                <a:cs typeface="+mj-lt"/>
              </a:rPr>
              <a:t>Rendszerbiztonság:</a:t>
            </a:r>
            <a:r>
              <a:rPr lang="hu-HU" sz="2000" dirty="0">
                <a:ea typeface="+mj-lt"/>
                <a:cs typeface="+mj-lt"/>
              </a:rPr>
              <a:t> Automatizált adatmentési folyamat kialakítása </a:t>
            </a:r>
            <a:r>
              <a:rPr lang="hu-HU" sz="2000" b="1" err="1">
                <a:ea typeface="+mj-lt"/>
                <a:cs typeface="+mj-lt"/>
              </a:rPr>
              <a:t>cron</a:t>
            </a:r>
            <a:r>
              <a:rPr lang="hu-HU" sz="2000" dirty="0">
                <a:ea typeface="+mj-lt"/>
                <a:cs typeface="+mj-lt"/>
              </a:rPr>
              <a:t> feladatütemező segítségével.</a:t>
            </a:r>
            <a:endParaRPr lang="hu-HU" sz="2000" dirty="0">
              <a:ea typeface="Calibri Light"/>
              <a:cs typeface="Calibri Light"/>
            </a:endParaRPr>
          </a:p>
          <a:p>
            <a:endParaRPr lang="hu-HU" sz="2000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2828801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pic>
        <p:nvPicPr>
          <p:cNvPr id="3" name="Kép 2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F82EB5A-E71D-0BBB-74D2-BE0E71CA6B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10" r="-1" b="-1"/>
          <a:stretch>
            <a:fillRect/>
          </a:stretch>
        </p:blipFill>
        <p:spPr>
          <a:xfrm>
            <a:off x="2915061" y="3865595"/>
            <a:ext cx="6227039" cy="2996101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Kép 3" descr="A képen szöveg, képernyőkép, Multimédiás szoftver, Grafikai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B7B42C7-36B4-8986-1C25-76E60AD33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1" y="806779"/>
            <a:ext cx="6056123" cy="305919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280D3F47-CAB9-E389-E4AA-3E3B59CC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36" y="-309072"/>
            <a:ext cx="7772400" cy="1456267"/>
          </a:xfrm>
        </p:spPr>
        <p:txBody>
          <a:bodyPr/>
          <a:lstStyle/>
          <a:p>
            <a:r>
              <a:rPr lang="hu-HU" dirty="0">
                <a:ea typeface="Calibri Light"/>
                <a:cs typeface="Calibri Light"/>
              </a:rPr>
              <a:t>Hálózati Virtuális gépek működés közbe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3D5142D-4B15-1C7F-0A0F-3E52A6FE5FD3}"/>
              </a:ext>
            </a:extLst>
          </p:cNvPr>
          <p:cNvSpPr txBox="1"/>
          <p:nvPr/>
        </p:nvSpPr>
        <p:spPr>
          <a:xfrm>
            <a:off x="6719131" y="1858710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windows</a:t>
            </a:r>
          </a:p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394FB6-788C-0E66-571D-7C93A824AD23}"/>
              </a:ext>
            </a:extLst>
          </p:cNvPr>
          <p:cNvSpPr txBox="1"/>
          <p:nvPr/>
        </p:nvSpPr>
        <p:spPr>
          <a:xfrm>
            <a:off x="854579" y="5031336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Debian</a:t>
            </a:r>
          </a:p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86694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32D116-5676-9A6B-2951-3635EE517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" y="160769"/>
            <a:ext cx="5804806" cy="692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GIT – </a:t>
            </a:r>
            <a:r>
              <a:rPr lang="en-US" sz="2400" b="1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Verziókezelés</a:t>
            </a:r>
            <a:endParaRPr lang="hu-HU" sz="2400" err="1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A9C4BB3-44C3-9E0D-79FD-4B8AE57B15C9}"/>
              </a:ext>
            </a:extLst>
          </p:cNvPr>
          <p:cNvSpPr txBox="1"/>
          <p:nvPr/>
        </p:nvSpPr>
        <p:spPr>
          <a:xfrm>
            <a:off x="1604" y="1718253"/>
            <a:ext cx="6229349" cy="47749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Mi </a:t>
            </a: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ez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Szoftver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ami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menti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fájlok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különböző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állapotait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Mire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jó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?: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Visszakövethetőség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Minden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változtatás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és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felelős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naplózva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van.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Visszaállítás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(Rollback):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Hiba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esetén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bármikor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visszatérhetsz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egy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korábbi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működő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verzióhoz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Csapatmunka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Többen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dolgozhatnak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ugyanazon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projekten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anélkül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hogy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felülírnák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egymás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munkáját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Aft>
                <a:spcPts val="1000"/>
              </a:spcAft>
              <a:buClr>
                <a:srgbClr val="000000"/>
              </a:buClr>
              <a:buSzPct val="100000"/>
              <a:buFont typeface="Arial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750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676"/>
            <a:ext cx="9141619" cy="5142161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857250"/>
            <a:ext cx="7906232" cy="51435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F46219B-4C55-FE80-6F68-6D94F9EC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2" y="1314451"/>
            <a:ext cx="5804806" cy="6921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000" b="1" u="sng">
                <a:ea typeface="+mj-lt"/>
                <a:cs typeface="+mj-lt"/>
              </a:rPr>
              <a:t>JIRA – Projektmenedzsment és Hibajegy-kezelés</a:t>
            </a:r>
            <a:endParaRPr lang="hu-HU" sz="2000" b="1">
              <a:ea typeface="Calibri Light"/>
              <a:cs typeface="Calibri Ligh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C01899-79CA-E1F3-BFDD-04813A92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2" y="2220318"/>
            <a:ext cx="6229349" cy="493518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z="20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Mi ez?</a:t>
            </a:r>
            <a:r>
              <a:rPr lang="hu-HU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Feladatkezelő és folyamatkövető keretrendszer.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Mire használtuk?</a:t>
            </a:r>
            <a:endParaRPr lang="hu-HU" sz="2000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Feladatok kiosztása: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Munkák (pl. kábelezés, beszerzés, telepítés) ütemezése.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Hibajegyek (</a:t>
            </a:r>
            <a:r>
              <a:rPr lang="hu-HU" sz="2000" b="1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Tickets</a:t>
            </a: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):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 kivitelezés során felmerülő problémák rögzítése és kezelése.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Státuszkövetés: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 haladás figyelése "Teendő", "Folyamatban" és "Kész" oszlopok segítségével.</a:t>
            </a:r>
          </a:p>
          <a:p>
            <a:pPr>
              <a:buClr>
                <a:srgbClr val="000000"/>
              </a:buClr>
            </a:pPr>
            <a:r>
              <a:rPr lang="hu-HU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Határidők:</a:t>
            </a:r>
            <a:r>
              <a:rPr lang="hu-HU" sz="20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A mérföldkövek és az átadási időpontok betartása.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  <a:buNone/>
            </a:pPr>
            <a:endParaRPr lang="hu-HU" sz="14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hu-HU" sz="140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Kép 3" descr="A képen szöveg, képernyőkép, diagram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9F08371-E0A6-CDA9-AE98-B041F9BC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127" y="180910"/>
            <a:ext cx="3588814" cy="133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8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F1100F-8EAA-2D7A-3B0D-D5D74C33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2329" y="1002311"/>
            <a:ext cx="7595394" cy="931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/>
              <a:t>Tesztelés</a:t>
            </a:r>
          </a:p>
        </p:txBody>
      </p:sp>
      <p:pic>
        <p:nvPicPr>
          <p:cNvPr id="4" name="Tartalom helye 3" descr="A képen szöveg, képernyőkép, diagram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EAC75BC3-2861-8E5F-ECD2-0F5F49F3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90" r="7985" b="2"/>
          <a:stretch>
            <a:fillRect/>
          </a:stretch>
        </p:blipFill>
        <p:spPr>
          <a:xfrm>
            <a:off x="1023299" y="2749918"/>
            <a:ext cx="7759699" cy="373816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414800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724" y="1501132"/>
            <a:ext cx="7598569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5400" b="1" err="1">
                <a:latin typeface="Times New Roman"/>
                <a:cs typeface="Times New Roman"/>
              </a:rPr>
              <a:t>Köszönjük</a:t>
            </a:r>
            <a:r>
              <a:rPr lang="hu-HU" sz="5400" b="1">
                <a:latin typeface="Times New Roman"/>
                <a:cs typeface="Times New Roman"/>
              </a:rPr>
              <a:t> a </a:t>
            </a:r>
            <a:r>
              <a:rPr lang="hu-HU" sz="5400" b="1" err="1">
                <a:latin typeface="Times New Roman"/>
                <a:cs typeface="Times New Roman"/>
              </a:rPr>
              <a:t>figyelmet</a:t>
            </a:r>
            <a:r>
              <a:rPr lang="hu-HU" sz="5400" b="1">
                <a:latin typeface="Times New Roman"/>
                <a:cs typeface="Times New Roman"/>
              </a:rPr>
              <a:t>!</a:t>
            </a:r>
            <a:endParaRPr lang="hu-HU" sz="54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(4:3 oldalarány)</PresentationFormat>
  <Slides>22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3" baseType="lpstr">
      <vt:lpstr>Celestial</vt:lpstr>
      <vt:lpstr>InfraWorks KFT</vt:lpstr>
      <vt:lpstr>A Projekt Vízió</vt:lpstr>
      <vt:lpstr>A Projekt teljes váza</vt:lpstr>
      <vt:lpstr>Amik találhatók a topológiába</vt:lpstr>
      <vt:lpstr>2. DMZ (Demilitarizált Zóna)</vt:lpstr>
      <vt:lpstr>3. A hálózat "Agya" avagy Maghálózati redundancia és vezérlés</vt:lpstr>
      <vt:lpstr>Első emelet (Kék &amp; Zöld blokk) Értékesítés, HR és Logisztika</vt:lpstr>
      <vt:lpstr>      Részlegek: Pénzügy &amp; Számvitel, Admin &amp; Kapcsolatok.  Felépítés: Az első emelettel megegyező struktúra (standardizált kiépítés).  Hálózat: VLAN-alapú szegmentálás az adatok védelmében.  Eszközök: Saját Access Switch-ek (FIN-SW, ADM-SW) biztosítják a kapcsolatot a Core felé. . </vt:lpstr>
      <vt:lpstr>Informatikai osztály (ICT): Operatív felügyelet és fejlesztés.  Belső hálózati szolgáltatások (Server-SW): DHCP Szerver: Automatikus IP-cím kiosztás a klienseknek. DNS Szerver: Belső és külső névfeloldás. RADIUS Szerver: Felhasználói hitelesítés és hálózati biztonság (AAA). </vt:lpstr>
      <vt:lpstr>PowerPoint-bemutató</vt:lpstr>
      <vt:lpstr>Külső Kapcsolat és Internet (INTERNET/CLOUD)</vt:lpstr>
      <vt:lpstr>A Maghálózat (A "hálózat szíve")</vt:lpstr>
      <vt:lpstr>Hálózati virtuális gépeket készítettünk az oracle virtualbox nevű program segítségével</vt:lpstr>
      <vt:lpstr>Használt virtuális gépek</vt:lpstr>
      <vt:lpstr>Aktív szolgáltatások:</vt:lpstr>
      <vt:lpstr>Windows Server 2019 Infrastruktúra</vt:lpstr>
      <vt:lpstr>Debian/Linux Szerver    Rendszerkörnyezet: Debian OS telepítése egyedi felhasználói fiókkal és NAT hálózati integrációval.  Hálózati Alapok: Statikus IPv4 címkonfiguráció a szolgáltatások fix és megbízható eléréséhez.  Webszolgáltatás: Apache webszerver implementálása HTTP és biztonságos HTTPS protokollok támogatásával.  Fájlkezelés: Samba szolgáltatás telepítése a Linux és Windows platformok közötti zökkenőmentes adatcseréhez.  Rendszerbiztonság: Automatizált adatmentési folyamat kialakítása cron feladatütemező segítségével. </vt:lpstr>
      <vt:lpstr>Hálózati Virtuális gépek működés közbe</vt:lpstr>
      <vt:lpstr>GIT – Verziókezelés</vt:lpstr>
      <vt:lpstr>JIRA – Projektmenedzsment és Hibajegy-kezelés</vt:lpstr>
      <vt:lpstr>Tesztelés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249</cp:revision>
  <dcterms:created xsi:type="dcterms:W3CDTF">2013-01-27T09:14:16Z</dcterms:created>
  <dcterms:modified xsi:type="dcterms:W3CDTF">2026-02-22T11:06:48Z</dcterms:modified>
  <cp:category/>
</cp:coreProperties>
</file>