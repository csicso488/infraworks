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90" r:id="rId11"/>
    <p:sldId id="291" r:id="rId12"/>
    <p:sldId id="292" r:id="rId13"/>
    <p:sldId id="293" r:id="rId14"/>
    <p:sldId id="280" r:id="rId15"/>
    <p:sldId id="281" r:id="rId16"/>
    <p:sldId id="282" r:id="rId17"/>
    <p:sldId id="294" r:id="rId18"/>
    <p:sldId id="288" r:id="rId19"/>
    <p:sldId id="267" r:id="rId20"/>
    <p:sldId id="277" r:id="rId21"/>
    <p:sldId id="29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E2E4B-6939-CE57-83AC-0C2FE3165F36}" v="36" dt="2026-02-22T11:05:32.457"/>
    <p1510:client id="{997FE876-CCBF-4AA4-BFF1-7D719042D0FB}" v="533" dt="2026-02-22T09:15:50.631"/>
    <p1510:client id="{AADCB4A9-7097-4BB7-8138-194E7E47061F}" v="19" dt="2026-02-22T11:05:47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6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0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9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98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36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772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8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388" y="1200760"/>
            <a:ext cx="5551714" cy="1020536"/>
          </a:xfrm>
        </p:spPr>
        <p:txBody>
          <a:bodyPr>
            <a:normAutofit/>
          </a:bodyPr>
          <a:lstStyle/>
          <a:p>
            <a:r>
              <a:rPr lang="hu-HU" b="1" u="sng" err="1"/>
              <a:t>InfraWorks</a:t>
            </a:r>
            <a:r>
              <a:rPr lang="hu-HU" b="1" u="sng"/>
              <a:t xml:space="preserve"> KFT</a:t>
            </a:r>
            <a:endParaRPr lang="hu-HU" u="sng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248" y="1851398"/>
            <a:ext cx="7277419" cy="3575024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buNone/>
            </a:pPr>
            <a:endParaRPr lang="hu-HU"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hu-HU"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sz="3600" b="1">
                <a:latin typeface="Times New Roman"/>
                <a:cs typeface="Times New Roman"/>
              </a:rPr>
              <a:t>Final Exam Project</a:t>
            </a:r>
            <a:endParaRPr sz="3200" b="1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sz="4400" b="1">
                <a:latin typeface="Times New Roman"/>
                <a:cs typeface="Times New Roman"/>
              </a:rPr>
              <a:t xml:space="preserve">Team Members: </a:t>
            </a: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000000"/>
              </a:buClr>
              <a:buNone/>
            </a:pPr>
            <a:r>
              <a:rPr lang="hu-HU" sz="4400" b="1">
                <a:latin typeface="Times New Roman"/>
                <a:cs typeface="Times New Roman"/>
              </a:rPr>
              <a:t>Tóth Richárd (PM)</a:t>
            </a:r>
          </a:p>
          <a:p>
            <a:pPr marL="0" indent="0">
              <a:buClr>
                <a:srgbClr val="000000"/>
              </a:buClr>
              <a:buNone/>
            </a:pPr>
            <a:r>
              <a:rPr lang="hu-HU" sz="4400" b="1" err="1">
                <a:latin typeface="Times New Roman"/>
                <a:cs typeface="Times New Roman"/>
              </a:rPr>
              <a:t>Schäfer</a:t>
            </a:r>
            <a:r>
              <a:rPr lang="hu-HU" sz="4400" b="1">
                <a:latin typeface="Times New Roman"/>
                <a:cs typeface="Times New Roman"/>
              </a:rPr>
              <a:t xml:space="preserve"> Kristóf, </a:t>
            </a: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000000"/>
              </a:buClr>
              <a:buNone/>
            </a:pP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sz="4400" b="1" err="1">
                <a:latin typeface="Times New Roman"/>
                <a:cs typeface="Times New Roman"/>
              </a:rPr>
              <a:t>Date</a:t>
            </a:r>
            <a:r>
              <a:rPr sz="4400" b="1">
                <a:latin typeface="Times New Roman"/>
                <a:cs typeface="Times New Roman"/>
              </a:rPr>
              <a:t xml:space="preserve">: </a:t>
            </a:r>
            <a:r>
              <a:rPr lang="hu-HU" sz="4400" b="1">
                <a:latin typeface="Times New Roman"/>
                <a:cs typeface="Times New Roman"/>
              </a:rPr>
              <a:t>2026</a:t>
            </a:r>
            <a:endParaRPr sz="4400" b="1"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85216"/>
            <a:ext cx="8115300" cy="882819"/>
          </a:xfrm>
        </p:spPr>
        <p:txBody>
          <a:bodyPr anchor="b">
            <a:normAutofit/>
          </a:bodyPr>
          <a:lstStyle/>
          <a:p>
            <a:pPr algn="ctr"/>
            <a:r>
              <a:rPr lang="hu-HU" sz="3300" b="1" u="sng" dirty="0">
                <a:latin typeface="Times New Roman"/>
                <a:ea typeface="Calibri Light"/>
                <a:cs typeface="Times New Roman"/>
              </a:rPr>
              <a:t>The Project 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8042" y="1564931"/>
            <a:ext cx="8877299" cy="49791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Architecture:</a:t>
            </a:r>
            <a:r>
              <a:rPr lang="hu-HU" sz="3200" dirty="0">
                <a:ea typeface="+mn-lt"/>
                <a:cs typeface="+mn-lt"/>
              </a:rPr>
              <a:t xml:space="preserve"> Three-tier (</a:t>
            </a:r>
            <a:r>
              <a:rPr lang="hu-HU" sz="3200" dirty="0" err="1">
                <a:ea typeface="+mn-lt"/>
                <a:cs typeface="+mn-lt"/>
              </a:rPr>
              <a:t>Core</a:t>
            </a:r>
            <a:r>
              <a:rPr lang="hu-HU" sz="3200" dirty="0">
                <a:ea typeface="+mn-lt"/>
                <a:cs typeface="+mn-lt"/>
              </a:rPr>
              <a:t xml:space="preserve">, </a:t>
            </a:r>
            <a:r>
              <a:rPr lang="hu-HU" sz="3200" dirty="0" err="1">
                <a:ea typeface="+mn-lt"/>
                <a:cs typeface="+mn-lt"/>
              </a:rPr>
              <a:t>Distribution</a:t>
            </a:r>
            <a:r>
              <a:rPr lang="hu-HU" sz="3200" dirty="0">
                <a:ea typeface="+mn-lt"/>
                <a:cs typeface="+mn-lt"/>
              </a:rPr>
              <a:t>, Access) hierarchy.</a:t>
            </a:r>
            <a:endParaRPr lang="hu-HU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Redundancy:</a:t>
            </a:r>
            <a:r>
              <a:rPr lang="hu-HU" sz="3200" dirty="0">
                <a:ea typeface="+mn-lt"/>
                <a:cs typeface="+mn-lt"/>
              </a:rPr>
              <a:t xml:space="preserve"> Dual ISP, redundant firewalls and </a:t>
            </a:r>
            <a:r>
              <a:rPr lang="hu-HU" sz="3200" dirty="0" err="1">
                <a:ea typeface="+mn-lt"/>
                <a:cs typeface="+mn-lt"/>
              </a:rPr>
              <a:t>Core</a:t>
            </a:r>
            <a:r>
              <a:rPr lang="hu-HU" sz="3200" dirty="0">
                <a:ea typeface="+mn-lt"/>
                <a:cs typeface="+mn-lt"/>
              </a:rPr>
              <a:t xml:space="preserve"> </a:t>
            </a:r>
            <a:r>
              <a:rPr lang="hu-HU" sz="3200" dirty="0" err="1">
                <a:ea typeface="+mn-lt"/>
                <a:cs typeface="+mn-lt"/>
              </a:rPr>
              <a:t>switches</a:t>
            </a:r>
            <a:r>
              <a:rPr lang="hu-HU" sz="3200" dirty="0">
                <a:ea typeface="+mn-lt"/>
                <a:cs typeface="+mn-lt"/>
              </a:rPr>
              <a:t>.</a:t>
            </a:r>
            <a:endParaRPr lang="hu-HU" dirty="0"/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Segmentation:</a:t>
            </a:r>
            <a:r>
              <a:rPr lang="hu-HU" sz="3200" dirty="0">
                <a:ea typeface="+mn-lt"/>
                <a:cs typeface="+mn-lt"/>
              </a:rPr>
              <a:t xml:space="preserve"> </a:t>
            </a:r>
            <a:r>
              <a:rPr lang="hu-HU" sz="3200" dirty="0" err="1">
                <a:ea typeface="+mn-lt"/>
                <a:cs typeface="+mn-lt"/>
              </a:rPr>
              <a:t>Floor-by-floor</a:t>
            </a:r>
            <a:r>
              <a:rPr lang="hu-HU" sz="3200" dirty="0">
                <a:ea typeface="+mn-lt"/>
                <a:cs typeface="+mn-lt"/>
              </a:rPr>
              <a:t xml:space="preserve"> separation and dedicated DMZ for servers.</a:t>
            </a:r>
            <a:endParaRPr lang="hu-HU" dirty="0"/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Technologies:</a:t>
            </a:r>
            <a:r>
              <a:rPr lang="hu-HU" sz="3200" dirty="0">
                <a:ea typeface="+mn-lt"/>
                <a:cs typeface="+mn-lt"/>
              </a:rPr>
              <a:t xml:space="preserve"> HSRP for fault tolerance, LACP for bandwidth.</a:t>
            </a:r>
            <a:endParaRPr lang="hu-HU" dirty="0">
              <a:ea typeface="+mn-lt"/>
              <a:cs typeface="+mn-lt"/>
            </a:endParaRPr>
          </a:p>
          <a:p>
            <a:pPr marL="457200" indent="-457200">
              <a:buClr>
                <a:srgbClr val="FFFFFF"/>
              </a:buClr>
              <a:buFont typeface="Calibri"/>
              <a:buChar char="-"/>
            </a:pPr>
            <a:endParaRPr lang="hu-HU" sz="3200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hu-HU" sz="3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B2E2329-5B8D-2838-F02B-5BC83C5D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29627" y="-3099688"/>
            <a:ext cx="8421472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b="1"/>
              <a:t xml:space="preserve">A Projekt </a:t>
            </a:r>
            <a:r>
              <a:rPr lang="en-US" sz="4400" b="1" err="1"/>
              <a:t>Layout</a:t>
            </a:r>
            <a:r>
              <a:rPr lang="en-US" sz="4400" b="1"/>
              <a:t xml:space="preserve"> </a:t>
            </a:r>
            <a:r>
              <a:rPr lang="en-US" sz="4400" b="1" err="1"/>
              <a:t>Overview</a:t>
            </a:r>
            <a:endParaRPr lang="en-US" sz="4400" b="1" err="1">
              <a:ea typeface="Calibri Light"/>
              <a:cs typeface="Calibri Light"/>
            </a:endParaRPr>
          </a:p>
        </p:txBody>
      </p:sp>
      <p:pic>
        <p:nvPicPr>
          <p:cNvPr id="4" name="Tartalom helye 3" descr="A képen szöveg, diagram, tervezés látható  Lehet, hogy az AI által létrehozott tartalom helytelen.">
            <a:extLst>
              <a:ext uri="{FF2B5EF4-FFF2-40B4-BE49-F238E27FC236}">
                <a16:creationId xmlns:a16="http://schemas.microsoft.com/office/drawing/2014/main" id="{0F15C75B-118B-1A29-B5AD-3637E085C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11" y="646843"/>
            <a:ext cx="6750630" cy="60285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5457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2619C0-5CE8-1C24-2E54-B8DE1FC9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2481944"/>
            <a:ext cx="7772400" cy="1456267"/>
          </a:xfrm>
        </p:spPr>
        <p:txBody>
          <a:bodyPr/>
          <a:lstStyle/>
          <a:p>
            <a:r>
              <a:rPr lang="hu-HU">
                <a:ea typeface="Calibri Light"/>
                <a:cs typeface="Calibri Light"/>
              </a:rPr>
              <a:t>What's Included in the Topology</a:t>
            </a:r>
          </a:p>
        </p:txBody>
      </p:sp>
    </p:spTree>
    <p:extLst>
      <p:ext uri="{BB962C8B-B14F-4D97-AF65-F5344CB8AC3E}">
        <p14:creationId xmlns:p14="http://schemas.microsoft.com/office/powerpoint/2010/main" val="247629075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00CBAD-C824-328F-AB85-791B92EB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" y="-176805"/>
            <a:ext cx="3074960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200">
                <a:ea typeface="+mj-lt"/>
                <a:cs typeface="+mj-lt"/>
              </a:rPr>
              <a:t>2. DMZ (Demilitarized Zone)</a:t>
            </a:r>
            <a:endParaRPr lang="hu-HU" sz="22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C8F54-B4D1-BB05-3D14-A38DB73C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" y="2120702"/>
            <a:ext cx="7241035" cy="31791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hu-HU" b="1" dirty="0"/>
              <a:t>DMZ Network Summary</a:t>
            </a:r>
            <a:endParaRPr lang="hu-HU" b="1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Function:</a:t>
            </a:r>
            <a:r>
              <a:rPr lang="hu-HU" dirty="0">
                <a:ea typeface="+mn-lt"/>
                <a:cs typeface="+mn-lt"/>
              </a:rPr>
              <a:t xml:space="preserve"> Isolation of public servers from the internal network.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Device:</a:t>
            </a:r>
            <a:r>
              <a:rPr lang="hu-HU" dirty="0">
                <a:ea typeface="+mn-lt"/>
                <a:cs typeface="+mn-lt"/>
              </a:rPr>
              <a:t xml:space="preserve"> Cisco 2960 (</a:t>
            </a:r>
            <a:r>
              <a:rPr lang="hu-HU" err="1">
                <a:ea typeface="+mn-lt"/>
                <a:cs typeface="+mn-lt"/>
              </a:rPr>
              <a:t>Dedicated</a:t>
            </a:r>
            <a:r>
              <a:rPr lang="hu-HU" dirty="0">
                <a:ea typeface="+mn-lt"/>
                <a:cs typeface="+mn-lt"/>
              </a:rPr>
              <a:t xml:space="preserve"> DMZ-SW).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Network:</a:t>
            </a:r>
            <a:r>
              <a:rPr lang="hu-HU" dirty="0">
                <a:ea typeface="+mn-lt"/>
                <a:cs typeface="+mn-lt"/>
              </a:rPr>
              <a:t xml:space="preserve"> </a:t>
            </a:r>
            <a:r>
              <a:rPr lang="hu-HU" dirty="0">
                <a:latin typeface="Consolas"/>
                <a:ea typeface="Calibri"/>
                <a:cs typeface="Calibri"/>
              </a:rPr>
              <a:t>10.11.11.0/27</a:t>
            </a:r>
            <a:r>
              <a:rPr lang="hu-HU" dirty="0">
                <a:ea typeface="+mn-lt"/>
                <a:cs typeface="+mn-lt"/>
              </a:rPr>
              <a:t xml:space="preserve"> (Mask: </a:t>
            </a:r>
            <a:r>
              <a:rPr lang="hu-HU" dirty="0">
                <a:latin typeface="Consolas"/>
                <a:ea typeface="Calibri"/>
                <a:cs typeface="Calibri"/>
              </a:rPr>
              <a:t>255.255.255.224</a:t>
            </a:r>
            <a:r>
              <a:rPr lang="hu-HU" dirty="0">
                <a:ea typeface="+mn-lt"/>
                <a:cs typeface="+mn-lt"/>
              </a:rPr>
              <a:t>).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Range:</a:t>
            </a:r>
            <a:r>
              <a:rPr lang="hu-HU" dirty="0">
                <a:ea typeface="+mn-lt"/>
                <a:cs typeface="+mn-lt"/>
              </a:rPr>
              <a:t xml:space="preserve"> </a:t>
            </a:r>
            <a:r>
              <a:rPr lang="hu-HU" dirty="0">
                <a:latin typeface="Consolas"/>
                <a:ea typeface="Calibri"/>
                <a:cs typeface="Calibri"/>
              </a:rPr>
              <a:t>10.11.11.1 – 10.11.11.30</a:t>
            </a:r>
            <a:r>
              <a:rPr lang="hu-HU" dirty="0">
                <a:ea typeface="+mn-lt"/>
                <a:cs typeface="+mn-lt"/>
              </a:rPr>
              <a:t>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Servers: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WEB:</a:t>
            </a:r>
            <a:r>
              <a:rPr lang="hu-HU" dirty="0">
                <a:ea typeface="+mn-lt"/>
                <a:cs typeface="+mn-lt"/>
              </a:rPr>
              <a:t xml:space="preserve"> Website (HTTP/S)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EMAIL:</a:t>
            </a:r>
            <a:r>
              <a:rPr lang="hu-HU" dirty="0">
                <a:ea typeface="+mn-lt"/>
                <a:cs typeface="+mn-lt"/>
              </a:rPr>
              <a:t xml:space="preserve"> Mailing (SMTP/IMAP)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FTP:</a:t>
            </a:r>
            <a:r>
              <a:rPr lang="hu-HU" dirty="0">
                <a:ea typeface="+mn-lt"/>
                <a:cs typeface="+mn-lt"/>
              </a:rPr>
              <a:t xml:space="preserve"> File Transfer (SFTP)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APP:</a:t>
            </a:r>
            <a:r>
              <a:rPr lang="hu-HU" dirty="0">
                <a:ea typeface="+mn-lt"/>
                <a:cs typeface="+mn-lt"/>
              </a:rPr>
              <a:t xml:space="preserve"> Business Apps (API)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NAS-STORAGE:</a:t>
            </a:r>
            <a:r>
              <a:rPr lang="hu-HU" dirty="0">
                <a:ea typeface="+mn-lt"/>
                <a:cs typeface="+mn-lt"/>
              </a:rPr>
              <a:t xml:space="preserve"> Central Storage (NFS/SMB)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Security:</a:t>
            </a:r>
            <a:r>
              <a:rPr lang="hu-HU" dirty="0">
                <a:ea typeface="+mn-lt"/>
                <a:cs typeface="+mn-lt"/>
              </a:rPr>
              <a:t xml:space="preserve"> VLAN-based segmentation + Firewall restriction toward internal network.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hu-HU" b="1" dirty="0"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hu-HU" sz="1400">
              <a:ea typeface="Calibri"/>
              <a:cs typeface="Calibri"/>
            </a:endParaRPr>
          </a:p>
        </p:txBody>
      </p:sp>
      <p:pic>
        <p:nvPicPr>
          <p:cNvPr id="4" name="Kép 3" descr="A képen szöveg, képernyőkép, szoftver, képernyő látható  Lehet, hogy az AI által létrehozott tartalom helytelen.">
            <a:extLst>
              <a:ext uri="{FF2B5EF4-FFF2-40B4-BE49-F238E27FC236}">
                <a16:creationId xmlns:a16="http://schemas.microsoft.com/office/drawing/2014/main" id="{74CBCC5D-8021-B645-A1B6-A9F174F4E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203" y="115668"/>
            <a:ext cx="2942539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Kép 4" descr="A képen szöveg, képernyőkép, diagram, sor látható  Lehet, hogy az AI által létrehozott tartalom helytelen.">
            <a:extLst>
              <a:ext uri="{FF2B5EF4-FFF2-40B4-BE49-F238E27FC236}">
                <a16:creationId xmlns:a16="http://schemas.microsoft.com/office/drawing/2014/main" id="{069FB6AD-4893-00EC-CE16-4AA85144B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771" y="2806401"/>
            <a:ext cx="2948085" cy="2489462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BFAAFFD-61B1-2A1A-01B3-E259BEF30701}"/>
              </a:ext>
            </a:extLst>
          </p:cNvPr>
          <p:cNvSpPr txBox="1"/>
          <p:nvPr/>
        </p:nvSpPr>
        <p:spPr>
          <a:xfrm>
            <a:off x="0" y="6056832"/>
            <a:ext cx="89944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Goal:</a:t>
            </a:r>
            <a:r>
              <a:rPr lang="en-US"/>
              <a:t xml:space="preserve"> Secure isolation of public services (WEB, EMAIL, FTP, APP, NAS) from the internal network.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9329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3F2E6F-2BB9-F685-8001-5D2CBD67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" y="-125932"/>
            <a:ext cx="2828925" cy="1651000"/>
          </a:xfrm>
        </p:spPr>
        <p:txBody>
          <a:bodyPr anchor="b">
            <a:normAutofit/>
          </a:bodyPr>
          <a:lstStyle/>
          <a:p>
            <a:r>
              <a:rPr lang="hu-HU" sz="2100">
                <a:ea typeface="+mj-lt"/>
                <a:cs typeface="+mj-lt"/>
              </a:rPr>
              <a:t>3. The Network "Brain" – Core Network Redundancy and Control</a:t>
            </a:r>
            <a:endParaRPr lang="hu-HU" sz="210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9A1CBF-8DFC-723C-C49D-E0312048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342" y="136377"/>
            <a:ext cx="6578391" cy="2781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hu-HU" sz="1600" b="1">
                <a:ea typeface="+mn-lt"/>
                <a:cs typeface="+mn-lt"/>
              </a:rPr>
              <a:t>Devices:</a:t>
            </a:r>
            <a:r>
              <a:rPr lang="hu-HU" sz="1600">
                <a:ea typeface="+mn-lt"/>
                <a:cs typeface="+mn-lt"/>
              </a:rPr>
              <a:t xml:space="preserve"> 2x Cisco 3560 </a:t>
            </a:r>
            <a:r>
              <a:rPr lang="hu-HU" sz="1600" err="1">
                <a:ea typeface="+mn-lt"/>
                <a:cs typeface="+mn-lt"/>
              </a:rPr>
              <a:t>Multilayer</a:t>
            </a:r>
            <a:r>
              <a:rPr lang="hu-HU" sz="1600">
                <a:ea typeface="+mn-lt"/>
                <a:cs typeface="+mn-lt"/>
              </a:rPr>
              <a:t xml:space="preserve"> </a:t>
            </a:r>
            <a:r>
              <a:rPr lang="hu-HU" sz="1600" err="1">
                <a:ea typeface="+mn-lt"/>
                <a:cs typeface="+mn-lt"/>
              </a:rPr>
              <a:t>Switch</a:t>
            </a:r>
            <a:r>
              <a:rPr lang="hu-HU" sz="1600">
                <a:ea typeface="+mn-lt"/>
                <a:cs typeface="+mn-lt"/>
              </a:rPr>
              <a:t xml:space="preserve"> (CORE-SW1, CORE-SW2).</a:t>
            </a:r>
            <a:endParaRPr lang="hu-HU" sz="16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Applied Technologies: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LACP (</a:t>
            </a:r>
            <a:r>
              <a:rPr lang="hu-HU" sz="1600" b="1" err="1">
                <a:ea typeface="+mn-lt"/>
                <a:cs typeface="+mn-lt"/>
              </a:rPr>
              <a:t>EtherChannel</a:t>
            </a:r>
            <a:r>
              <a:rPr lang="hu-HU" sz="1600" b="1">
                <a:ea typeface="+mn-lt"/>
                <a:cs typeface="+mn-lt"/>
              </a:rPr>
              <a:t>):</a:t>
            </a:r>
            <a:r>
              <a:rPr lang="hu-HU" sz="1600">
                <a:ea typeface="+mn-lt"/>
                <a:cs typeface="+mn-lt"/>
              </a:rPr>
              <a:t xml:space="preserve"> Bundling multiple links for high bandwidth.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HSRP:</a:t>
            </a:r>
            <a:r>
              <a:rPr lang="hu-HU" sz="1600">
                <a:ea typeface="+mn-lt"/>
                <a:cs typeface="+mn-lt"/>
              </a:rPr>
              <a:t xml:space="preserve"> Virtual default gateway (</a:t>
            </a:r>
            <a:r>
              <a:rPr lang="hu-HU" sz="1600" err="1">
                <a:ea typeface="+mn-lt"/>
                <a:cs typeface="+mn-lt"/>
              </a:rPr>
              <a:t>Gateway</a:t>
            </a:r>
            <a:r>
              <a:rPr lang="hu-HU" sz="1600">
                <a:ea typeface="+mn-lt"/>
                <a:cs typeface="+mn-lt"/>
              </a:rPr>
              <a:t>) for continuous operation.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WLAN Controller (WLC):</a:t>
            </a:r>
            <a:r>
              <a:rPr lang="hu-HU" sz="1600">
                <a:ea typeface="+mn-lt"/>
                <a:cs typeface="+mn-lt"/>
              </a:rPr>
              <a:t xml:space="preserve"> Central unit for all floor-level </a:t>
            </a:r>
            <a:r>
              <a:rPr lang="hu-HU" sz="1600" err="1">
                <a:ea typeface="+mn-lt"/>
                <a:cs typeface="+mn-lt"/>
              </a:rPr>
              <a:t>Wi</a:t>
            </a:r>
            <a:r>
              <a:rPr lang="hu-HU" sz="1600">
                <a:ea typeface="+mn-lt"/>
                <a:cs typeface="+mn-lt"/>
              </a:rPr>
              <a:t>-Fi access points.</a:t>
            </a:r>
            <a:endParaRPr lang="hu-HU" sz="16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200">
              <a:ea typeface="Calibri"/>
              <a:cs typeface="Calibri"/>
            </a:endParaRPr>
          </a:p>
        </p:txBody>
      </p:sp>
      <p:pic>
        <p:nvPicPr>
          <p:cNvPr id="4" name="Kép 3" descr="A képen diagram, szöveg, sor, képernyőkép látható  Lehet, hogy az AI által létrehozott tartalom helytelen.">
            <a:extLst>
              <a:ext uri="{FF2B5EF4-FFF2-40B4-BE49-F238E27FC236}">
                <a16:creationId xmlns:a16="http://schemas.microsoft.com/office/drawing/2014/main" id="{3918FF0D-13B8-CCAF-48F0-90A93C08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" y="3427359"/>
            <a:ext cx="9141350" cy="221056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0241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43DBFC-A45E-5E84-C5C1-0443432C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" y="-174711"/>
            <a:ext cx="8838272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400">
                <a:ea typeface="+mj-lt"/>
                <a:cs typeface="+mj-lt"/>
              </a:rPr>
              <a:t>First Floor (Blue &amp; Green Block) – Sales, HR and Logistics</a:t>
            </a:r>
            <a:endParaRPr lang="hu-HU" sz="2400">
              <a:ea typeface="Calibri Light"/>
              <a:cs typeface="Calibri Ligh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FBDB14-8E79-9DEE-05B4-091BA64B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937" y="2261420"/>
            <a:ext cx="3621772" cy="363793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1900" b="1" dirty="0" err="1">
                <a:ea typeface="+mn-lt"/>
                <a:cs typeface="+mn-lt"/>
              </a:rPr>
              <a:t>Departments</a:t>
            </a:r>
            <a:r>
              <a:rPr lang="en-US" sz="1900" b="1" dirty="0">
                <a:ea typeface="+mn-lt"/>
                <a:cs typeface="+mn-lt"/>
              </a:rPr>
              <a:t>: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Sales</a:t>
            </a:r>
            <a:r>
              <a:rPr lang="en-US" sz="1900" dirty="0">
                <a:ea typeface="+mn-lt"/>
                <a:cs typeface="+mn-lt"/>
              </a:rPr>
              <a:t xml:space="preserve"> &amp; Marketing, HR &amp; </a:t>
            </a:r>
            <a:r>
              <a:rPr lang="en-US" sz="1900" dirty="0" err="1">
                <a:ea typeface="+mn-lt"/>
                <a:cs typeface="+mn-lt"/>
              </a:rPr>
              <a:t>Logistics</a:t>
            </a:r>
            <a:r>
              <a:rPr lang="en-US" sz="1900" dirty="0">
                <a:ea typeface="+mn-lt"/>
                <a:cs typeface="+mn-lt"/>
              </a:rPr>
              <a:t>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 err="1">
                <a:ea typeface="+mn-lt"/>
                <a:cs typeface="+mn-lt"/>
              </a:rPr>
              <a:t>Endpoint</a:t>
            </a:r>
            <a:r>
              <a:rPr lang="en-US" sz="1900" b="1" dirty="0">
                <a:ea typeface="+mn-lt"/>
                <a:cs typeface="+mn-lt"/>
              </a:rPr>
              <a:t xml:space="preserve"> </a:t>
            </a:r>
            <a:r>
              <a:rPr lang="en-US" sz="1900" b="1" dirty="0" err="1">
                <a:ea typeface="+mn-lt"/>
                <a:cs typeface="+mn-lt"/>
              </a:rPr>
              <a:t>Devices</a:t>
            </a:r>
            <a:r>
              <a:rPr lang="en-US" sz="1900" b="1" dirty="0">
                <a:ea typeface="+mn-lt"/>
                <a:cs typeface="+mn-lt"/>
              </a:rPr>
              <a:t>:</a:t>
            </a:r>
            <a:endParaRPr lang="en-US" sz="1900" dirty="0">
              <a:ea typeface="+mn-lt"/>
              <a:cs typeface="+mn-lt"/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dirty="0" err="1">
                <a:ea typeface="+mn-lt"/>
                <a:cs typeface="+mn-lt"/>
              </a:rPr>
              <a:t>Wired</a:t>
            </a:r>
            <a:r>
              <a:rPr lang="en-US" sz="1900" dirty="0">
                <a:ea typeface="+mn-lt"/>
                <a:cs typeface="+mn-lt"/>
              </a:rPr>
              <a:t xml:space="preserve"> PCs </a:t>
            </a:r>
            <a:r>
              <a:rPr lang="en-US" sz="1900" dirty="0" err="1">
                <a:ea typeface="+mn-lt"/>
                <a:cs typeface="+mn-lt"/>
              </a:rPr>
              <a:t>and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Laptops</a:t>
            </a:r>
            <a:r>
              <a:rPr lang="en-US" sz="1900" dirty="0">
                <a:ea typeface="+mn-lt"/>
                <a:cs typeface="+mn-lt"/>
              </a:rPr>
              <a:t>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dirty="0" err="1">
                <a:ea typeface="+mn-lt"/>
                <a:cs typeface="+mn-lt"/>
              </a:rPr>
              <a:t>Network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Printers</a:t>
            </a:r>
            <a:r>
              <a:rPr lang="en-US" sz="1900" dirty="0">
                <a:ea typeface="+mn-lt"/>
                <a:cs typeface="+mn-lt"/>
              </a:rPr>
              <a:t xml:space="preserve"> (MK-PR, HR-PR).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err="1">
                <a:ea typeface="+mn-lt"/>
                <a:cs typeface="+mn-lt"/>
              </a:rPr>
              <a:t>Mobile Devices</a:t>
            </a:r>
            <a:r>
              <a:rPr lang="en-US" sz="1900" dirty="0">
                <a:ea typeface="+mn-lt"/>
                <a:cs typeface="+mn-lt"/>
              </a:rPr>
              <a:t xml:space="preserve"> (</a:t>
            </a:r>
            <a:r>
              <a:rPr lang="en-US" sz="1900" err="1">
                <a:ea typeface="+mn-lt"/>
                <a:cs typeface="+mn-lt"/>
              </a:rPr>
              <a:t>Tablets</a:t>
            </a:r>
            <a:r>
              <a:rPr lang="en-US" sz="1900" dirty="0">
                <a:ea typeface="+mn-lt"/>
                <a:cs typeface="+mn-lt"/>
              </a:rPr>
              <a:t xml:space="preserve">, </a:t>
            </a:r>
            <a:r>
              <a:rPr lang="en-US" sz="1900" err="1">
                <a:ea typeface="+mn-lt"/>
                <a:cs typeface="+mn-lt"/>
              </a:rPr>
              <a:t>Smartphones</a:t>
            </a:r>
            <a:r>
              <a:rPr lang="en-US" sz="1900" dirty="0">
                <a:ea typeface="+mn-lt"/>
                <a:cs typeface="+mn-lt"/>
              </a:rPr>
              <a:t>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 err="1">
                <a:ea typeface="+mn-lt"/>
                <a:cs typeface="+mn-lt"/>
              </a:rPr>
              <a:t>Communication</a:t>
            </a:r>
            <a:r>
              <a:rPr lang="en-US" sz="1900" b="1" dirty="0">
                <a:ea typeface="+mn-lt"/>
                <a:cs typeface="+mn-lt"/>
              </a:rPr>
              <a:t>:</a:t>
            </a:r>
            <a:r>
              <a:rPr lang="en-US" sz="1900" dirty="0">
                <a:ea typeface="+mn-lt"/>
                <a:cs typeface="+mn-lt"/>
              </a:rPr>
              <a:t xml:space="preserve"> IP </a:t>
            </a:r>
            <a:r>
              <a:rPr lang="en-US" sz="1900" dirty="0" err="1">
                <a:ea typeface="+mn-lt"/>
                <a:cs typeface="+mn-lt"/>
              </a:rPr>
              <a:t>phones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at every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desk</a:t>
            </a:r>
            <a:r>
              <a:rPr lang="en-US" sz="1900" dirty="0">
                <a:ea typeface="+mn-lt"/>
                <a:cs typeface="+mn-lt"/>
              </a:rPr>
              <a:t xml:space="preserve"> (VoIP </a:t>
            </a:r>
            <a:r>
              <a:rPr lang="en-US" sz="1900" dirty="0" err="1">
                <a:ea typeface="+mn-lt"/>
                <a:cs typeface="+mn-lt"/>
              </a:rPr>
              <a:t>network</a:t>
            </a:r>
            <a:r>
              <a:rPr lang="en-US" sz="1900" dirty="0">
                <a:ea typeface="+mn-lt"/>
                <a:cs typeface="+mn-lt"/>
              </a:rPr>
              <a:t>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>
                <a:ea typeface="+mn-lt"/>
                <a:cs typeface="+mn-lt"/>
              </a:rPr>
              <a:t>Wi-Fi:</a:t>
            </a:r>
            <a:r>
              <a:rPr lang="en-US" sz="1900" dirty="0">
                <a:ea typeface="+mn-lt"/>
                <a:cs typeface="+mn-lt"/>
              </a:rPr>
              <a:t xml:space="preserve"> Dedicated </a:t>
            </a:r>
            <a:r>
              <a:rPr lang="en-US" sz="1900" dirty="0" err="1">
                <a:ea typeface="+mn-lt"/>
                <a:cs typeface="+mn-lt"/>
              </a:rPr>
              <a:t>access</a:t>
            </a:r>
            <a:r>
              <a:rPr lang="en-US" sz="1900" dirty="0">
                <a:ea typeface="+mn-lt"/>
                <a:cs typeface="+mn-lt"/>
              </a:rPr>
              <a:t xml:space="preserve"> </a:t>
            </a:r>
            <a:r>
              <a:rPr lang="en-US" sz="1900" dirty="0" err="1">
                <a:ea typeface="+mn-lt"/>
                <a:cs typeface="+mn-lt"/>
              </a:rPr>
              <a:t>points</a:t>
            </a:r>
            <a:r>
              <a:rPr lang="en-US" sz="1900" dirty="0">
                <a:ea typeface="+mn-lt"/>
                <a:cs typeface="+mn-lt"/>
              </a:rPr>
              <a:t xml:space="preserve"> (Access Points).</a:t>
            </a:r>
          </a:p>
          <a:p>
            <a:pPr>
              <a:buClr>
                <a:srgbClr val="FFFFFF"/>
              </a:buClr>
            </a:pPr>
            <a:endParaRPr lang="en-US" sz="1900">
              <a:ea typeface="Calibri"/>
              <a:cs typeface="Calibri"/>
            </a:endParaRPr>
          </a:p>
        </p:txBody>
      </p:sp>
      <p:pic>
        <p:nvPicPr>
          <p:cNvPr id="4" name="Tartalom helye 3" descr="A képen szöveg, diagram, sor, képernyőkép látható  Lehet, hogy az AI által létrehozott tartalom helytelen.">
            <a:extLst>
              <a:ext uri="{FF2B5EF4-FFF2-40B4-BE49-F238E27FC236}">
                <a16:creationId xmlns:a16="http://schemas.microsoft.com/office/drawing/2014/main" id="{BA03CCED-1A7E-7E33-3819-7EDF18BC4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1003426"/>
            <a:ext cx="4571694" cy="468891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31805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1C90E75-A1BA-FA95-6857-87B402BC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87" y="585685"/>
            <a:ext cx="4927538" cy="6139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ctr">
              <a:lnSpc>
                <a:spcPct val="90000"/>
              </a:lnSpc>
            </a:pP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r>
              <a:rPr lang="en-US" sz="2200" b="1" dirty="0" err="1"/>
              <a:t>Departments</a:t>
            </a:r>
            <a:r>
              <a:rPr lang="en-US" sz="2200" b="1" dirty="0"/>
              <a:t>:</a:t>
            </a:r>
            <a:r>
              <a:rPr lang="en-US" sz="2200" dirty="0"/>
              <a:t xml:space="preserve"> </a:t>
            </a:r>
            <a:r>
              <a:rPr lang="en-US" sz="2200" dirty="0" err="1"/>
              <a:t>Finance</a:t>
            </a:r>
            <a:r>
              <a:rPr lang="en-US" sz="2200" dirty="0"/>
              <a:t xml:space="preserve"> &amp; </a:t>
            </a:r>
            <a:r>
              <a:rPr lang="en-US" sz="2200" dirty="0" err="1"/>
              <a:t>Accounting</a:t>
            </a:r>
            <a:r>
              <a:rPr lang="en-US" sz="2200" dirty="0"/>
              <a:t xml:space="preserve">, Admin &amp; </a:t>
            </a:r>
            <a:r>
              <a:rPr lang="en-US" sz="2200" dirty="0" err="1"/>
              <a:t>Relations</a:t>
            </a:r>
            <a:r>
              <a:rPr lang="en-US" sz="2200" dirty="0"/>
              <a:t>.</a:t>
            </a:r>
            <a:br>
              <a:rPr lang="en-US" sz="2200" dirty="0"/>
            </a:br>
            <a:br>
              <a:rPr lang="en-US" sz="2200" dirty="0"/>
            </a:br>
            <a:r>
              <a:rPr lang="en-US" sz="2200" b="1" dirty="0" err="1"/>
              <a:t>Structure</a:t>
            </a:r>
            <a:r>
              <a:rPr lang="en-US" sz="2200" b="1" dirty="0"/>
              <a:t>:</a:t>
            </a:r>
            <a:r>
              <a:rPr lang="en-US" sz="2200" dirty="0"/>
              <a:t xml:space="preserve"> Identical to the </a:t>
            </a:r>
            <a:r>
              <a:rPr lang="en-US" sz="2200" dirty="0" err="1"/>
              <a:t>first</a:t>
            </a:r>
            <a:r>
              <a:rPr lang="en-US" sz="2200" dirty="0"/>
              <a:t xml:space="preserve"> </a:t>
            </a:r>
            <a:r>
              <a:rPr lang="en-US" sz="2200" dirty="0" err="1"/>
              <a:t>floor</a:t>
            </a:r>
            <a:r>
              <a:rPr lang="en-US" sz="2200" dirty="0"/>
              <a:t xml:space="preserve"> </a:t>
            </a:r>
            <a:r>
              <a:rPr lang="en-US" sz="2200" dirty="0" err="1"/>
              <a:t>matching</a:t>
            </a:r>
            <a:r>
              <a:rPr lang="en-US" sz="2200" dirty="0"/>
              <a:t xml:space="preserve"> </a:t>
            </a:r>
            <a:r>
              <a:rPr lang="en-US" sz="2200" dirty="0" err="1"/>
              <a:t>structure</a:t>
            </a:r>
            <a:r>
              <a:rPr lang="en-US" sz="2200" dirty="0"/>
              <a:t xml:space="preserve"> (</a:t>
            </a:r>
            <a:r>
              <a:rPr lang="en-US" sz="2200" dirty="0" err="1"/>
              <a:t>standardized</a:t>
            </a:r>
            <a:r>
              <a:rPr lang="en-US" sz="2200" dirty="0"/>
              <a:t xml:space="preserve"> </a:t>
            </a:r>
            <a:r>
              <a:rPr lang="en-US" sz="2200" dirty="0" err="1"/>
              <a:t>deployment</a:t>
            </a:r>
            <a:r>
              <a:rPr lang="en-US" sz="2200" dirty="0"/>
              <a:t>).</a:t>
            </a:r>
            <a:br>
              <a:rPr lang="en-US" sz="2200" dirty="0"/>
            </a:br>
            <a:endParaRPr lang="en-US" sz="2200" dirty="0">
              <a:ea typeface="Calibri Light"/>
              <a:cs typeface="Calibri Light"/>
            </a:endParaRPr>
          </a:p>
          <a:p>
            <a:pPr algn="ctr">
              <a:lnSpc>
                <a:spcPct val="90000"/>
              </a:lnSpc>
            </a:pPr>
            <a:r>
              <a:rPr lang="en-US" sz="2200" b="1" dirty="0" err="1"/>
              <a:t>Network</a:t>
            </a:r>
            <a:r>
              <a:rPr lang="en-US" sz="2200" b="1" dirty="0"/>
              <a:t>:</a:t>
            </a:r>
            <a:r>
              <a:rPr lang="en-US" sz="2200" dirty="0"/>
              <a:t xml:space="preserve"> VLAN-</a:t>
            </a:r>
            <a:r>
              <a:rPr lang="en-US" sz="2200" dirty="0" err="1"/>
              <a:t>based</a:t>
            </a:r>
            <a:r>
              <a:rPr lang="en-US" sz="2200" dirty="0"/>
              <a:t xml:space="preserve"> </a:t>
            </a:r>
            <a:r>
              <a:rPr lang="en-US" sz="2200" dirty="0" err="1"/>
              <a:t>segmentation</a:t>
            </a:r>
            <a:r>
              <a:rPr lang="en-US" sz="2200" dirty="0"/>
              <a:t xml:space="preserve"> </a:t>
            </a:r>
            <a:r>
              <a:rPr lang="en-US" sz="2200" dirty="0" err="1"/>
              <a:t>for</a:t>
            </a:r>
            <a:r>
              <a:rPr lang="en-US" sz="2200" dirty="0"/>
              <a:t xml:space="preserve"> </a:t>
            </a:r>
            <a:r>
              <a:rPr lang="en-US" sz="2200" dirty="0" err="1"/>
              <a:t>data</a:t>
            </a:r>
            <a:r>
              <a:rPr lang="en-US" sz="2200" dirty="0"/>
              <a:t xml:space="preserve"> </a:t>
            </a:r>
            <a:r>
              <a:rPr lang="en-US" sz="2200" dirty="0" err="1"/>
              <a:t>protection</a:t>
            </a:r>
            <a:r>
              <a:rPr lang="en-US" sz="2200" dirty="0"/>
              <a:t>.</a:t>
            </a:r>
            <a:br>
              <a:rPr lang="en-US" sz="2200" dirty="0"/>
            </a:br>
            <a:endParaRPr lang="en-US" sz="2200">
              <a:ea typeface="Calibri Light"/>
              <a:cs typeface="Calibri Light"/>
            </a:endParaRPr>
          </a:p>
          <a:p>
            <a:pPr marL="285750" indent="-285750" algn="ctr">
              <a:lnSpc>
                <a:spcPct val="90000"/>
              </a:lnSpc>
            </a:pPr>
            <a:r>
              <a:rPr lang="en-US" sz="2200" b="1" err="1"/>
              <a:t>Devices</a:t>
            </a:r>
            <a:r>
              <a:rPr lang="en-US" sz="2200" b="1" dirty="0"/>
              <a:t>:</a:t>
            </a:r>
            <a:r>
              <a:rPr lang="en-US" sz="2200" dirty="0"/>
              <a:t xml:space="preserve"> </a:t>
            </a:r>
            <a:r>
              <a:rPr lang="en-US" sz="2200" err="1"/>
              <a:t>Dedicated</a:t>
            </a:r>
            <a:r>
              <a:rPr lang="en-US" sz="2200" dirty="0"/>
              <a:t xml:space="preserve"> Access Switches (FIN-SW, ADM-SW) </a:t>
            </a:r>
            <a:r>
              <a:rPr lang="en-US" sz="2200" err="1"/>
              <a:t>providing</a:t>
            </a:r>
            <a:r>
              <a:rPr lang="en-US" sz="2200" dirty="0"/>
              <a:t xml:space="preserve"> for </a:t>
            </a:r>
            <a:r>
              <a:rPr lang="en-US" sz="2200" err="1"/>
              <a:t>uplink</a:t>
            </a:r>
            <a:r>
              <a:rPr lang="en-US" sz="2200" dirty="0"/>
              <a:t xml:space="preserve"> to the Core </a:t>
            </a:r>
            <a:r>
              <a:rPr lang="en-US" sz="2200" err="1"/>
              <a:t/>
            </a:r>
            <a:r>
              <a:rPr lang="en-US" sz="2200" dirty="0"/>
              <a:t>.</a:t>
            </a:r>
            <a:endParaRPr lang="en-US" sz="2200">
              <a:ea typeface="Calibri Light"/>
              <a:cs typeface="Calibri Light"/>
            </a:endParaRPr>
          </a:p>
          <a:p>
            <a:pPr algn="ctr">
              <a:lnSpc>
                <a:spcPct val="90000"/>
              </a:lnSpc>
            </a:pPr>
            <a:r>
              <a:rPr lang="en-US" sz="2200" dirty="0"/>
              <a:t>.</a:t>
            </a:r>
            <a:endParaRPr lang="en-US" sz="2200">
              <a:ea typeface="Calibri Light"/>
              <a:cs typeface="Calibri Light"/>
            </a:endParaRPr>
          </a:p>
          <a:p>
            <a:pPr algn="r">
              <a:lnSpc>
                <a:spcPct val="90000"/>
              </a:lnSpc>
            </a:pPr>
            <a:endParaRPr lang="en-US" sz="120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660913-C9EB-F52C-304E-C0C59774A102}"/>
              </a:ext>
            </a:extLst>
          </p:cNvPr>
          <p:cNvSpPr txBox="1"/>
          <p:nvPr/>
        </p:nvSpPr>
        <p:spPr>
          <a:xfrm>
            <a:off x="781700" y="-4670"/>
            <a:ext cx="3257563" cy="18380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Aft>
                <a:spcPts val="1000"/>
              </a:spcAft>
              <a:buClr>
                <a:prstClr val="white"/>
              </a:buClr>
              <a:buSzPct val="100000"/>
            </a:pPr>
            <a:r>
              <a:rPr lang="en-US" b="1" cap="all" baseline="0" dirty="0"/>
              <a:t xml:space="preserve">2. </a:t>
            </a:r>
            <a:r>
              <a:rPr lang="en-US" b="1" cap="all" baseline="0" dirty="0" err="1"/>
              <a:t>Floor</a:t>
            </a:r>
            <a:r>
              <a:rPr lang="en-US" b="1" cap="all" baseline="0" dirty="0"/>
              <a:t xml:space="preserve"> (</a:t>
            </a:r>
            <a:r>
              <a:rPr lang="en-US" b="1" cap="all" baseline="0" dirty="0" err="1"/>
              <a:t>Light Blue</a:t>
            </a:r>
            <a:r>
              <a:rPr lang="en-US" b="1" cap="all" baseline="0" dirty="0"/>
              <a:t>/</a:t>
            </a:r>
            <a:r>
              <a:rPr lang="en-US" b="1" cap="all" baseline="0" dirty="0" err="1"/>
              <a:t>Light Green</a:t>
            </a:r>
            <a:endParaRPr lang="en-US" cap="all" dirty="0">
              <a:ea typeface="Calibri"/>
              <a:cs typeface="Calibri"/>
            </a:endParaRPr>
          </a:p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cap="all"/>
          </a:p>
        </p:txBody>
      </p:sp>
      <p:pic>
        <p:nvPicPr>
          <p:cNvPr id="4" name="Kép 3" descr="A képen szöveg, diagram, képernyőkép, térkép látható  Lehet, hogy az AI által létrehozott tartalom helytelen.">
            <a:extLst>
              <a:ext uri="{FF2B5EF4-FFF2-40B4-BE49-F238E27FC236}">
                <a16:creationId xmlns:a16="http://schemas.microsoft.com/office/drawing/2014/main" id="{092D4F49-30BC-B6AB-9A9C-14527C16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651" y="580623"/>
            <a:ext cx="4114627" cy="504077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3894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2C73EA-7940-C3FA-BAC0-4B653DEA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94" y="2309620"/>
            <a:ext cx="2828925" cy="3199925"/>
          </a:xfrm>
        </p:spPr>
        <p:txBody>
          <a:bodyPr anchor="b">
            <a:normAutofit fontScale="90000"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IT Department (ICT):</a:t>
            </a:r>
            <a:r>
              <a:rPr lang="hu-HU" sz="1800" dirty="0">
                <a:ea typeface="+mj-lt"/>
                <a:cs typeface="+mj-lt"/>
              </a:rPr>
              <a:t xml:space="preserve"> Operational oversight and development.</a:t>
            </a:r>
            <a:br>
              <a:rPr lang="hu-HU" sz="1800" dirty="0">
                <a:ea typeface="+mj-lt"/>
                <a:cs typeface="+mj-lt"/>
              </a:rPr>
            </a:br>
            <a:endParaRPr lang="hu-HU" sz="1800">
              <a:ea typeface="Calibri Light"/>
              <a:cs typeface="Calibri Light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Internal Network Services (Server-SW):</a:t>
            </a:r>
            <a:endParaRPr lang="hu-HU" sz="1800" dirty="0">
              <a:ea typeface="Calibri Light"/>
              <a:cs typeface="Calibri Light"/>
            </a:endParaRPr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DHCP Server:</a:t>
            </a:r>
            <a:r>
              <a:rPr lang="hu-HU" dirty="0">
                <a:latin typeface="+mj-lt"/>
                <a:ea typeface="+mj-lt"/>
                <a:cs typeface="+mj-lt"/>
              </a:rPr>
              <a:t xml:space="preserve"> Automatic IP address assignment to clients.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DNS Server:</a:t>
            </a:r>
            <a:r>
              <a:rPr lang="hu-HU" dirty="0">
                <a:latin typeface="+mj-lt"/>
                <a:ea typeface="+mj-lt"/>
                <a:cs typeface="+mj-lt"/>
              </a:rPr>
              <a:t xml:space="preserve"> Internal and external name resolution.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RADIUS Server:</a:t>
            </a:r>
            <a:r>
              <a:rPr lang="hu-HU" dirty="0">
                <a:latin typeface="+mj-lt"/>
                <a:ea typeface="+mj-lt"/>
                <a:cs typeface="+mj-lt"/>
              </a:rPr>
              <a:t xml:space="preserve"> User authentication and network security (AAA</a:t>
            </a:r>
            <a:r>
              <a:rPr lang="hu-HU" sz="1050" dirty="0">
                <a:latin typeface="+mj-lt"/>
                <a:ea typeface="+mj-lt"/>
                <a:cs typeface="+mj-lt"/>
              </a:rPr>
              <a:t>).</a:t>
            </a:r>
            <a:endParaRPr lang="hu-HU" sz="1050" dirty="0"/>
          </a:p>
          <a:p>
            <a:pPr>
              <a:lnSpc>
                <a:spcPct val="90000"/>
              </a:lnSpc>
            </a:pPr>
            <a:endParaRPr lang="hu-HU" sz="100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CE0F6E-BD88-5480-9A0F-F1347CCA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05491" y="-472511"/>
            <a:ext cx="11791326" cy="2781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hu-HU" sz="2000" b="1" dirty="0">
                <a:latin typeface="Times New Roman"/>
                <a:ea typeface="+mn-lt"/>
                <a:cs typeface="Times New Roman"/>
              </a:rPr>
              <a:t xml:space="preserve">Third Floor and IT Hub </a:t>
            </a:r>
            <a:r>
              <a:rPr lang="hu-HU" sz="2000" b="1" u="sng" dirty="0">
                <a:latin typeface="Times New Roman"/>
                <a:ea typeface="+mn-lt"/>
                <a:cs typeface="Times New Roman"/>
              </a:rPr>
              <a:t>(</a:t>
            </a:r>
            <a:r>
              <a:rPr lang="hu-HU" sz="2000" dirty="0">
                <a:ea typeface="+mn-lt"/>
                <a:cs typeface="+mn-lt"/>
              </a:rPr>
              <a:t>IT Department and Internal Servers)</a:t>
            </a:r>
            <a:endParaRPr lang="hu-HU" sz="20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Kép 3" descr="A képen szöveg, képernyőkép, diagram, Grafikus tervezés látható  Lehet, hogy az AI által létrehozott tartalom helytelen.">
            <a:extLst>
              <a:ext uri="{FF2B5EF4-FFF2-40B4-BE49-F238E27FC236}">
                <a16:creationId xmlns:a16="http://schemas.microsoft.com/office/drawing/2014/main" id="{2F494ED0-D9ED-01E6-E65D-D9CCF122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15" y="2127555"/>
            <a:ext cx="5861904" cy="48315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58619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886A89-8225-D4CB-F56F-DC9D1D0B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20" y="1744"/>
            <a:ext cx="4711700" cy="593513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u-HU" sz="3200" b="1" dirty="0"/>
              <a:t>Management Network (Green Zone)</a:t>
            </a:r>
            <a:endParaRPr lang="hu-HU" sz="32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b="1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NET-SEC-PC (</a:t>
            </a:r>
            <a:r>
              <a:rPr lang="hu-HU" b="1" dirty="0">
                <a:latin typeface="Consolas"/>
              </a:rPr>
              <a:t>10.20.0.10</a:t>
            </a:r>
            <a:r>
              <a:rPr lang="hu-HU" b="1" dirty="0">
                <a:ea typeface="+mn-lt"/>
                <a:cs typeface="+mn-lt"/>
              </a:rPr>
              <a:t>):</a:t>
            </a:r>
            <a:r>
              <a:rPr lang="hu-HU" dirty="0">
                <a:ea typeface="+mn-lt"/>
                <a:cs typeface="+mn-lt"/>
              </a:rPr>
              <a:t xml:space="preserve"> Central administrative workstation for network monitoring.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WLC-2504:</a:t>
            </a:r>
            <a:r>
              <a:rPr lang="hu-HU" dirty="0">
                <a:ea typeface="+mn-lt"/>
                <a:cs typeface="+mn-lt"/>
              </a:rPr>
              <a:t xml:space="preserve"> Cisco </a:t>
            </a:r>
            <a:r>
              <a:rPr lang="hu-HU" err="1">
                <a:ea typeface="+mn-lt"/>
                <a:cs typeface="+mn-lt"/>
              </a:rPr>
              <a:t>Wireless</a:t>
            </a:r>
            <a:r>
              <a:rPr lang="hu-HU" dirty="0">
                <a:ea typeface="+mn-lt"/>
                <a:cs typeface="+mn-lt"/>
              </a:rPr>
              <a:t xml:space="preserve"> LAN </a:t>
            </a:r>
            <a:r>
              <a:rPr lang="hu-HU" err="1">
                <a:ea typeface="+mn-lt"/>
                <a:cs typeface="+mn-lt"/>
              </a:rPr>
              <a:t>Controller</a:t>
            </a:r>
            <a:r>
              <a:rPr lang="hu-HU" dirty="0">
                <a:ea typeface="+mn-lt"/>
                <a:cs typeface="+mn-lt"/>
              </a:rPr>
              <a:t xml:space="preserve"> corporate </a:t>
            </a:r>
            <a:r>
              <a:rPr lang="hu-HU" err="1">
                <a:ea typeface="+mn-lt"/>
                <a:cs typeface="+mn-lt"/>
              </a:rPr>
              <a:t>Wi</a:t>
            </a:r>
            <a:r>
              <a:rPr lang="hu-HU" dirty="0">
                <a:ea typeface="+mn-lt"/>
                <a:cs typeface="+mn-lt"/>
              </a:rPr>
              <a:t>-Fi network and APs.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 xml:space="preserve">2811 </a:t>
            </a:r>
            <a:r>
              <a:rPr lang="hu-HU" b="1" err="1">
                <a:ea typeface="+mn-lt"/>
                <a:cs typeface="+mn-lt"/>
              </a:rPr>
              <a:t>Voice</a:t>
            </a:r>
            <a:r>
              <a:rPr lang="hu-HU" b="1" dirty="0">
                <a:ea typeface="+mn-lt"/>
                <a:cs typeface="+mn-lt"/>
              </a:rPr>
              <a:t xml:space="preserve"> </a:t>
            </a:r>
            <a:r>
              <a:rPr lang="hu-HU" b="1" err="1">
                <a:ea typeface="+mn-lt"/>
                <a:cs typeface="+mn-lt"/>
              </a:rPr>
              <a:t>Gateway</a:t>
            </a:r>
            <a:r>
              <a:rPr lang="hu-HU" b="1" dirty="0">
                <a:ea typeface="+mn-lt"/>
                <a:cs typeface="+mn-lt"/>
              </a:rPr>
              <a:t>:</a:t>
            </a:r>
            <a:r>
              <a:rPr lang="hu-HU" dirty="0">
                <a:ea typeface="+mn-lt"/>
                <a:cs typeface="+mn-lt"/>
              </a:rPr>
              <a:t xml:space="preserve"> Cisco router for VoIP (</a:t>
            </a:r>
            <a:r>
              <a:rPr lang="hu-HU" err="1">
                <a:ea typeface="+mn-lt"/>
                <a:cs typeface="+mn-lt"/>
              </a:rPr>
              <a:t>VoIP</a:t>
            </a:r>
            <a:r>
              <a:rPr lang="hu-HU" dirty="0">
                <a:ea typeface="+mn-lt"/>
                <a:cs typeface="+mn-lt"/>
              </a:rPr>
              <a:t>) traffic and PBX services.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dirty="0">
                <a:ea typeface="+mn-lt"/>
                <a:cs typeface="+mn-lt"/>
              </a:rPr>
              <a:t xml:space="preserve"> This zone provides isolated access, separate from the DMZ-</a:t>
            </a:r>
            <a:r>
              <a:rPr lang="hu-HU" err="1">
                <a:ea typeface="+mn-lt"/>
                <a:cs typeface="+mn-lt"/>
              </a:rPr>
              <a:t/>
            </a:r>
            <a:r>
              <a:rPr lang="hu-HU" dirty="0">
                <a:ea typeface="+mn-lt"/>
                <a:cs typeface="+mn-lt"/>
              </a:rPr>
              <a:t xml:space="preserve"> and internal network, for configuring network infrastructure (WLAN, </a:t>
            </a:r>
            <a:r>
              <a:rPr lang="hu-HU" err="1">
                <a:ea typeface="+mn-lt"/>
                <a:cs typeface="+mn-lt"/>
              </a:rPr>
              <a:t>Voice</a:t>
            </a:r>
            <a:r>
              <a:rPr lang="hu-HU" dirty="0">
                <a:ea typeface="+mn-lt"/>
                <a:cs typeface="+mn-lt"/>
              </a:rPr>
              <a:t>, Security)</a:t>
            </a:r>
            <a:r>
              <a:rPr lang="hu-HU" sz="1300" dirty="0">
                <a:ea typeface="+mn-lt"/>
                <a:cs typeface="+mn-lt"/>
              </a:rPr>
              <a:t/>
            </a:r>
            <a:endParaRPr lang="hu-HU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100">
              <a:ea typeface="Calibri"/>
              <a:cs typeface="Calibri"/>
            </a:endParaRPr>
          </a:p>
        </p:txBody>
      </p:sp>
      <p:pic>
        <p:nvPicPr>
          <p:cNvPr id="4" name="Kép 3" descr="A képen diagram, szöveg, kör, Grafika látható  Lehet, hogy az AI által létrehozott tartalom helytelen.">
            <a:extLst>
              <a:ext uri="{FF2B5EF4-FFF2-40B4-BE49-F238E27FC236}">
                <a16:creationId xmlns:a16="http://schemas.microsoft.com/office/drawing/2014/main" id="{4571D455-9C13-2C13-E6A3-64FA408D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90" y="4443"/>
            <a:ext cx="4993549" cy="309738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0495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BB3B83-F2EE-2D4F-1FCB-F9A4562A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" y="-1033922"/>
            <a:ext cx="8618700" cy="1651000"/>
          </a:xfrm>
        </p:spPr>
        <p:txBody>
          <a:bodyPr anchor="b">
            <a:normAutofit/>
          </a:bodyPr>
          <a:lstStyle/>
          <a:p>
            <a:r>
              <a:rPr lang="hu-HU" sz="3200" dirty="0">
                <a:ea typeface="+mj-lt"/>
                <a:cs typeface="+mj-lt"/>
              </a:rPr>
              <a:t>External Connectivity and Internet (INTERNET/CLOUD)</a:t>
            </a:r>
            <a:endParaRPr lang="hu-HU" sz="32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15119F-2732-8F89-3A03-D071365E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94" y="937545"/>
            <a:ext cx="8885756" cy="2781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hu-HU" sz="2000" b="1" dirty="0">
                <a:ea typeface="+mn-lt"/>
                <a:cs typeface="+mn-lt"/>
              </a:rPr>
              <a:t>Central Cloud:</a:t>
            </a:r>
            <a:r>
              <a:rPr lang="hu-HU" sz="2000" dirty="0">
                <a:ea typeface="+mn-lt"/>
                <a:cs typeface="+mn-lt"/>
              </a:rPr>
              <a:t xml:space="preserve"> The network connects via </a:t>
            </a:r>
            <a:r>
              <a:rPr lang="hu-HU" sz="2000" dirty="0">
                <a:latin typeface="Consolas"/>
              </a:rPr>
              <a:t>8.0.0.0/8</a:t>
            </a:r>
            <a:r>
              <a:rPr lang="hu-HU" sz="2000" dirty="0">
                <a:ea typeface="+mn-lt"/>
                <a:cs typeface="+mn-lt"/>
              </a:rPr>
              <a:t xml:space="preserve"> to connect to the outside world</a:t>
            </a:r>
            <a:endParaRPr lang="hu-HU" sz="20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USA-INTERNET-USER (</a:t>
            </a:r>
            <a:r>
              <a:rPr lang="hu-HU" sz="2000" b="1" dirty="0">
                <a:latin typeface="Consolas"/>
              </a:rPr>
              <a:t>8.0.0.10</a:t>
            </a:r>
            <a:r>
              <a:rPr lang="hu-HU" sz="2000" b="1" dirty="0">
                <a:ea typeface="+mn-lt"/>
                <a:cs typeface="+mn-lt"/>
              </a:rPr>
              <a:t>):</a:t>
            </a:r>
            <a:r>
              <a:rPr lang="hu-HU" sz="2000" dirty="0">
                <a:ea typeface="+mn-lt"/>
                <a:cs typeface="+mn-lt"/>
              </a:rPr>
              <a:t xml:space="preserve"> Remote US client access.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CHINA-INTERNETUSER (</a:t>
            </a:r>
            <a:r>
              <a:rPr lang="hu-HU" sz="2000" b="1" dirty="0">
                <a:latin typeface="Consolas"/>
              </a:rPr>
              <a:t>8.0.0.20</a:t>
            </a:r>
            <a:r>
              <a:rPr lang="hu-HU" sz="2000" b="1" dirty="0">
                <a:ea typeface="+mn-lt"/>
                <a:cs typeface="+mn-lt"/>
              </a:rPr>
              <a:t>):</a:t>
            </a:r>
            <a:r>
              <a:rPr lang="hu-HU" sz="2000" dirty="0">
                <a:ea typeface="+mn-lt"/>
                <a:cs typeface="+mn-lt"/>
              </a:rPr>
              <a:t xml:space="preserve"> Remote Chinese client access.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Connections:</a:t>
            </a:r>
            <a:r>
              <a:rPr lang="hu-HU" sz="2000" dirty="0">
                <a:ea typeface="+mn-lt"/>
                <a:cs typeface="+mn-lt"/>
              </a:rPr>
              <a:t xml:space="preserve"> Central routers (e.g., via </a:t>
            </a:r>
            <a:r>
              <a:rPr lang="hu-HU" sz="2000" dirty="0">
                <a:latin typeface="Consolas"/>
              </a:rPr>
              <a:t>20.20.20.0/30</a:t>
            </a:r>
            <a:r>
              <a:rPr lang="hu-HU" sz="2000" dirty="0">
                <a:ea typeface="+mn-lt"/>
                <a:cs typeface="+mn-lt"/>
              </a:rPr>
              <a:t xml:space="preserve"> and </a:t>
            </a:r>
            <a:r>
              <a:rPr lang="hu-HU" sz="2000" dirty="0">
                <a:latin typeface="Consolas"/>
              </a:rPr>
              <a:t>30.30.30.0/30</a:t>
            </a:r>
            <a:r>
              <a:rPr lang="hu-HU" sz="2000" dirty="0">
                <a:ea typeface="+mn-lt"/>
                <a:cs typeface="+mn-lt"/>
              </a:rPr>
              <a:t xml:space="preserve"> subnets) handle routing between sites and the internet</a:t>
            </a:r>
            <a:r>
              <a:rPr lang="hu-HU" sz="2000">
                <a:ea typeface="+mn-lt"/>
                <a:cs typeface="+mn-lt"/>
              </a:rPr>
              <a:t>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2000">
              <a:ea typeface="Calibri"/>
              <a:cs typeface="Calibri"/>
            </a:endParaRPr>
          </a:p>
        </p:txBody>
      </p:sp>
      <p:pic>
        <p:nvPicPr>
          <p:cNvPr id="5" name="Kép 4" descr="A képen diagram, szöveg látható  Lehet, hogy az AI által létrehozott tartalom helytelen.">
            <a:extLst>
              <a:ext uri="{FF2B5EF4-FFF2-40B4-BE49-F238E27FC236}">
                <a16:creationId xmlns:a16="http://schemas.microsoft.com/office/drawing/2014/main" id="{C2DB5455-6A17-9187-08C6-B6E03C0B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0338"/>
            <a:ext cx="9144000" cy="11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0336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D37F73-D801-7F8F-0825-896A1B78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22" y="713"/>
            <a:ext cx="7772400" cy="1456267"/>
          </a:xfrm>
        </p:spPr>
        <p:txBody>
          <a:bodyPr/>
          <a:lstStyle/>
          <a:p>
            <a:pPr algn="ctr"/>
            <a:r>
              <a:rPr lang="hu-HU" dirty="0">
                <a:ea typeface="+mj-lt"/>
                <a:cs typeface="+mj-lt"/>
              </a:rPr>
              <a:t>The Core Network (The "Heart" of the Network)</a:t>
            </a:r>
            <a:endParaRPr lang="hu-HU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7860B5-45CB-5BF3-363A-EF83E361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09" y="1084526"/>
            <a:ext cx="7772400" cy="3649133"/>
          </a:xfrm>
        </p:spPr>
        <p:txBody>
          <a:bodyPr/>
          <a:lstStyle/>
          <a:p>
            <a:pPr algn="ctr"/>
            <a:r>
              <a:rPr lang="hu-HU" sz="2000">
                <a:ea typeface="+mn-lt"/>
                <a:cs typeface="+mn-lt"/>
              </a:rPr>
              <a:t xml:space="preserve">The two main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 xml:space="preserve"> (CORE-SW1 and CORE-SW2) handle the heavy lifting.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HSRP (Redundancy):</a:t>
            </a:r>
            <a:r>
              <a:rPr lang="hu-HU" sz="2000">
                <a:ea typeface="+mn-lt"/>
                <a:cs typeface="+mn-lt"/>
              </a:rPr>
              <a:t xml:space="preserve"> Like a spare tire. If one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 xml:space="preserve"> fails, the other immediately takes over, and employees </a:t>
            </a:r>
            <a:r>
              <a:rPr lang="hu-HU" sz="2000" err="1">
                <a:ea typeface="+mn-lt"/>
                <a:cs typeface="+mn-lt"/>
              </a:rPr>
              <a:t>won't even notice</a:t>
            </a:r>
            <a:r>
              <a:rPr lang="hu-HU" sz="2000">
                <a:ea typeface="+mn-lt"/>
                <a:cs typeface="+mn-lt"/>
              </a:rPr>
              <a:t xml:space="preserve"> the outage.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LACP (Bonding):</a:t>
            </a:r>
            <a:r>
              <a:rPr lang="hu-HU" sz="2000">
                <a:ea typeface="+mn-lt"/>
                <a:cs typeface="+mn-lt"/>
              </a:rPr>
              <a:t xml:space="preserve"> Multiple cables are bundled between </a:t>
            </a:r>
            <a:r>
              <a:rPr lang="hu-HU" sz="2000" err="1">
                <a:ea typeface="+mn-lt"/>
                <a:cs typeface="+mn-lt"/>
              </a:rPr>
              <a:t>switches</a:t>
            </a:r>
            <a:r>
              <a:rPr lang="hu-HU" sz="2000">
                <a:ea typeface="+mn-lt"/>
                <a:cs typeface="+mn-lt"/>
              </a:rPr>
              <a:t xml:space="preserve"> for faster data throughput, and if one cable fails, alternate paths remain.</a:t>
            </a:r>
            <a:endParaRPr lang="hu-HU" sz="20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sz="2000">
              <a:ea typeface="Calibri"/>
              <a:cs typeface="Calibri"/>
            </a:endParaRPr>
          </a:p>
        </p:txBody>
      </p:sp>
      <p:pic>
        <p:nvPicPr>
          <p:cNvPr id="4" name="Kép 3" descr="A képen diagram, képernyőkép, sor, kör látható  Lehet, hogy az AI által létrehozott tartalom helytelen.">
            <a:extLst>
              <a:ext uri="{FF2B5EF4-FFF2-40B4-BE49-F238E27FC236}">
                <a16:creationId xmlns:a16="http://schemas.microsoft.com/office/drawing/2014/main" id="{B9E18D4D-11CC-3159-017A-703AA802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" y="5411581"/>
            <a:ext cx="9128688" cy="14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058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CD2430-6131-9004-3C05-DEE21E01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11" y="1560320"/>
            <a:ext cx="7772400" cy="3357706"/>
          </a:xfrm>
        </p:spPr>
        <p:txBody>
          <a:bodyPr/>
          <a:lstStyle/>
          <a:p>
            <a:pPr algn="ctr"/>
            <a:r>
              <a:rPr lang="hu-HU" dirty="0">
                <a:ea typeface="Calibri Light"/>
                <a:cs typeface="Calibri Light"/>
              </a:rPr>
              <a:t xml:space="preserve">We created network virtual machines using the </a:t>
            </a:r>
            <a:r>
              <a:rPr lang="hu-HU" err="1">
                <a:ea typeface="Calibri Light"/>
                <a:cs typeface="Calibri Light"/>
              </a:rPr>
              <a:t>Oracle</a:t>
            </a:r>
            <a:r>
              <a:rPr lang="hu-HU" dirty="0">
                <a:ea typeface="Calibri Light"/>
                <a:cs typeface="Calibri Light"/>
              </a:rPr>
              <a:t xml:space="preserve"> </a:t>
            </a:r>
            <a:r>
              <a:rPr lang="hu-HU" err="1">
                <a:ea typeface="Calibri Light"/>
                <a:cs typeface="Calibri Light"/>
              </a:rPr>
              <a:t>VirtualBox</a:t>
            </a:r>
            <a:r>
              <a:rPr lang="hu-HU" dirty="0">
                <a:ea typeface="Calibri Light"/>
                <a:cs typeface="Calibri Light"/>
              </a:rPr>
              <a:t xml:space="preserve"> application</a:t>
            </a:r>
          </a:p>
        </p:txBody>
      </p:sp>
    </p:spTree>
    <p:extLst>
      <p:ext uri="{BB962C8B-B14F-4D97-AF65-F5344CB8AC3E}">
        <p14:creationId xmlns:p14="http://schemas.microsoft.com/office/powerpoint/2010/main" val="5536999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DF932-CB35-4287-7E31-523E9126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hu-HU">
                <a:ea typeface="Calibri Light"/>
                <a:cs typeface="Calibri Light"/>
              </a:rPr>
              <a:t>Virtual Machines Used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8DA050-1F3C-5130-42AA-AB4FFDB1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1" y="2261420"/>
            <a:ext cx="3589013" cy="51654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hu-HU" b="1">
                <a:ea typeface="Calibri"/>
                <a:cs typeface="Calibri"/>
              </a:rPr>
              <a:t>Windows Server 2019</a:t>
            </a: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System:</a:t>
            </a:r>
            <a:r>
              <a:rPr lang="hu-HU">
                <a:ea typeface="+mn-lt"/>
                <a:cs typeface="+mn-lt"/>
              </a:rPr>
              <a:t xml:space="preserve"> Windows Server-based environment with a graphical interface.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Network Config:</a:t>
            </a:r>
            <a:r>
              <a:rPr lang="hu-HU">
                <a:ea typeface="+mn-lt"/>
                <a:cs typeface="+mn-lt"/>
              </a:rPr>
              <a:t xml:space="preserve"> Static IP address for reliable connectivity.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hu-HU" b="1">
                <a:ea typeface="Calibri"/>
                <a:cs typeface="Calibri"/>
              </a:rPr>
              <a:t>Debian</a:t>
            </a: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System:</a:t>
            </a:r>
            <a:r>
              <a:rPr lang="hu-HU">
                <a:ea typeface="+mn-lt"/>
                <a:cs typeface="+mn-lt"/>
              </a:rPr>
              <a:t xml:space="preserve"> Debian Linux-based server with a custom user account.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Network Config:</a:t>
            </a:r>
            <a:r>
              <a:rPr lang="hu-HU">
                <a:ea typeface="+mn-lt"/>
                <a:cs typeface="+mn-lt"/>
              </a:rPr>
              <a:t xml:space="preserve"> Static IP address configured for reliable connectivity.</a:t>
            </a:r>
            <a:endParaRPr lang="hu-HU">
              <a:ea typeface="Calibri"/>
              <a:cs typeface="Calibri"/>
            </a:endParaRPr>
          </a:p>
          <a:p>
            <a:pPr marL="0" indent="0">
              <a:buNone/>
            </a:pPr>
            <a:endParaRPr lang="hu-HU">
              <a:ea typeface="Calibri"/>
              <a:cs typeface="Calibri"/>
            </a:endParaRPr>
          </a:p>
        </p:txBody>
      </p:sp>
      <p:pic>
        <p:nvPicPr>
          <p:cNvPr id="4" name="Kép 3" descr="A képen szöveg, képernyőkép, szoftver, Multimédiás szoftver látható  Lehet, hogy az AI által létrehozott tartalom helytelen.">
            <a:extLst>
              <a:ext uri="{FF2B5EF4-FFF2-40B4-BE49-F238E27FC236}">
                <a16:creationId xmlns:a16="http://schemas.microsoft.com/office/drawing/2014/main" id="{9AE558BA-1295-CBF5-899D-E8875C02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1810652"/>
            <a:ext cx="4571694" cy="30744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6746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65BE17-4C22-87AB-6368-36092FC6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1800" b="1">
                <a:latin typeface="Calibri"/>
                <a:ea typeface="Calibri"/>
                <a:cs typeface="Calibri"/>
              </a:rPr>
              <a:t>Active Services: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2F6F16-25AF-C391-B8D0-4A2242EB3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sz="2400" b="1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Web Server:</a:t>
            </a:r>
            <a:r>
              <a:rPr lang="hu-HU" sz="2400" dirty="0">
                <a:ea typeface="+mn-lt"/>
                <a:cs typeface="+mn-lt"/>
              </a:rPr>
              <a:t xml:space="preserve"> </a:t>
            </a:r>
            <a:r>
              <a:rPr lang="hu-HU" sz="2400" dirty="0" err="1">
                <a:ea typeface="+mn-lt"/>
                <a:cs typeface="+mn-lt"/>
              </a:rPr>
              <a:t>Apache</a:t>
            </a:r>
            <a:r>
              <a:rPr lang="hu-HU" sz="2400" dirty="0">
                <a:ea typeface="+mn-lt"/>
                <a:cs typeface="+mn-lt"/>
              </a:rPr>
              <a:t xml:space="preserve"> installed with HTTP(</a:t>
            </a:r>
            <a:r>
              <a:rPr lang="hu-HU" sz="2400" dirty="0" err="1">
                <a:ea typeface="+mn-lt"/>
                <a:cs typeface="+mn-lt"/>
              </a:rPr>
              <a:t>unencrypted</a:t>
            </a:r>
            <a:r>
              <a:rPr lang="hu-HU" sz="2400" dirty="0">
                <a:ea typeface="+mn-lt"/>
                <a:cs typeface="+mn-lt"/>
              </a:rPr>
              <a:t>) and secure HTTPS (encrypted) protocol support.</a:t>
            </a:r>
            <a:endParaRPr lang="hu-HU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File Sharing:</a:t>
            </a:r>
            <a:r>
              <a:rPr lang="hu-HU" sz="2400" dirty="0">
                <a:ea typeface="+mn-lt"/>
                <a:cs typeface="+mn-lt"/>
              </a:rPr>
              <a:t xml:space="preserve"> Samba service configured for cross-platform data access.</a:t>
            </a:r>
            <a:endParaRPr lang="hu-HU" sz="2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Data Protection:</a:t>
            </a:r>
            <a:r>
              <a:rPr lang="hu-HU" sz="2400" dirty="0">
                <a:ea typeface="+mn-lt"/>
                <a:cs typeface="+mn-lt"/>
              </a:rPr>
              <a:t xml:space="preserve"> Automated backup configured using </a:t>
            </a:r>
            <a:r>
              <a:rPr lang="hu-HU" sz="2400" b="1" err="1">
                <a:ea typeface="+mn-lt"/>
                <a:cs typeface="+mn-lt"/>
              </a:rPr>
              <a:t>cron</a:t>
            </a:r>
            <a:r>
              <a:rPr lang="hu-HU" sz="2400" dirty="0">
                <a:ea typeface="+mn-lt"/>
                <a:cs typeface="+mn-lt"/>
              </a:rPr>
              <a:t xml:space="preserve"> scheduler.</a:t>
            </a:r>
            <a:endParaRPr lang="hu-HU" sz="2400" dirty="0"/>
          </a:p>
          <a:p>
            <a:pPr>
              <a:buClr>
                <a:srgbClr val="FFFFFF"/>
              </a:buClr>
            </a:pPr>
            <a:endParaRPr lang="hu-HU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564636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BE2C6AD-5E34-B428-0835-6E48C68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" y="535"/>
            <a:ext cx="5804806" cy="692150"/>
          </a:xfrm>
        </p:spPr>
        <p:txBody>
          <a:bodyPr anchor="b">
            <a:normAutofit/>
          </a:bodyPr>
          <a:lstStyle/>
          <a:p>
            <a:r>
              <a:rPr lang="hu-HU" sz="2400">
                <a:ea typeface="+mj-lt"/>
                <a:cs typeface="+mj-lt"/>
              </a:rPr>
              <a:t>Windows Server 2019 Infrastructure</a:t>
            </a:r>
            <a:endParaRPr lang="hu-HU" sz="24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7C0CC-41C4-38D8-DF20-47F89A22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" y="2754430"/>
            <a:ext cx="6229349" cy="298033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Installation: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Administrator environment and IPv4 configuration.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Directory: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hu-HU" sz="28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Active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hu-HU" sz="28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Directory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and DNS service installation.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DHCP: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Automatic IP address assignment to clients.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Resources: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Centralized file and printer sharing.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Security: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Scheduled backup (Backup Schedule) configuration</a:t>
            </a:r>
            <a:r>
              <a:rPr lang="hu-HU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hu-HU" sz="16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000000"/>
              </a:buClr>
            </a:pPr>
            <a:endParaRPr lang="hu-HU" sz="11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1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8226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E5BC1C-8669-9B63-F31D-9ADAD13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581535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000" b="1" dirty="0"/>
              <a:t xml:space="preserve">Debian/Linux Server </a:t>
            </a:r>
            <a:br>
              <a:rPr lang="hu-HU" sz="2000" b="1" dirty="0">
                <a:ea typeface="Calibri Light"/>
                <a:cs typeface="Calibri Light"/>
              </a:rPr>
            </a:br>
            <a:br>
              <a:rPr lang="hu-HU" sz="2000" b="1" dirty="0"/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System Environment:</a:t>
            </a:r>
            <a:r>
              <a:rPr lang="hu-HU" sz="2000" dirty="0">
                <a:ea typeface="+mj-lt"/>
                <a:cs typeface="+mj-lt"/>
              </a:rPr>
              <a:t xml:space="preserve"> Debian OS installed with a custom user account and NAT network integration.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Network Basics:</a:t>
            </a:r>
            <a:r>
              <a:rPr lang="hu-HU" sz="2000" dirty="0">
                <a:ea typeface="+mj-lt"/>
                <a:cs typeface="+mj-lt"/>
              </a:rPr>
              <a:t xml:space="preserve"> Static IPv4 address configuration for fixed and reliable service access.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Web Service:</a:t>
            </a:r>
            <a:r>
              <a:rPr lang="hu-HU" sz="2000" dirty="0">
                <a:ea typeface="+mj-lt"/>
                <a:cs typeface="+mj-lt"/>
              </a:rPr>
              <a:t xml:space="preserve"> </a:t>
            </a:r>
            <a:r>
              <a:rPr lang="hu-HU" sz="2000" dirty="0" err="1">
                <a:ea typeface="+mj-lt"/>
                <a:cs typeface="+mj-lt"/>
              </a:rPr>
              <a:t>Apache</a:t>
            </a:r>
            <a:r>
              <a:rPr lang="hu-HU" sz="2000" dirty="0">
                <a:ea typeface="+mj-lt"/>
                <a:cs typeface="+mj-lt"/>
              </a:rPr>
              <a:t xml:space="preserve"> web server with HTTP and secure HTTPS protocol support.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File Management:</a:t>
            </a:r>
            <a:r>
              <a:rPr lang="hu-HU" sz="2000" dirty="0">
                <a:ea typeface="+mj-lt"/>
                <a:cs typeface="+mj-lt"/>
              </a:rPr>
              <a:t xml:space="preserve"> Samba service for seamless data exchange between Linux and Windows platforms.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System Security:</a:t>
            </a:r>
            <a:r>
              <a:rPr lang="hu-HU" sz="2000" dirty="0">
                <a:ea typeface="+mj-lt"/>
                <a:cs typeface="+mj-lt"/>
              </a:rPr>
              <a:t xml:space="preserve"> Automated data backup process using </a:t>
            </a:r>
            <a:r>
              <a:rPr lang="hu-HU" sz="2000" b="1" err="1">
                <a:ea typeface="+mj-lt"/>
                <a:cs typeface="+mj-lt"/>
              </a:rPr>
              <a:t>cron</a:t>
            </a:r>
            <a:r>
              <a:rPr lang="hu-HU" sz="2000" dirty="0">
                <a:ea typeface="+mj-lt"/>
                <a:cs typeface="+mj-lt"/>
              </a:rPr>
              <a:t xml:space="preserve"> task scheduler.</a:t>
            </a:r>
            <a:endParaRPr lang="hu-HU" sz="2000" dirty="0">
              <a:ea typeface="Calibri Light"/>
              <a:cs typeface="Calibri Light"/>
            </a:endParaRPr>
          </a:p>
          <a:p>
            <a:endParaRPr lang="hu-HU" sz="20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2828801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pic>
        <p:nvPicPr>
          <p:cNvPr id="3" name="Kép 2" descr="A képen szöveg, képernyőkép, szoftver, Multimédiás szoftver látható  Lehet, hogy az AI által létrehozott tartalom helytelen.">
            <a:extLst>
              <a:ext uri="{FF2B5EF4-FFF2-40B4-BE49-F238E27FC236}">
                <a16:creationId xmlns:a16="http://schemas.microsoft.com/office/drawing/2014/main" id="{8F82EB5A-E71D-0BBB-74D2-BE0E71CA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10" r="-1" b="-1"/>
          <a:stretch>
            <a:fillRect/>
          </a:stretch>
        </p:blipFill>
        <p:spPr>
          <a:xfrm>
            <a:off x="2915061" y="3865595"/>
            <a:ext cx="6227039" cy="299610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Kép 3" descr="A képen szöveg, képernyőkép, Multimédiás szoftver, Grafikai szoftver látható  Lehet, hogy az AI által létrehozott tartalom helytelen.">
            <a:extLst>
              <a:ext uri="{FF2B5EF4-FFF2-40B4-BE49-F238E27FC236}">
                <a16:creationId xmlns:a16="http://schemas.microsoft.com/office/drawing/2014/main" id="{9B7B42C7-36B4-8986-1C25-76E60AD33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1" y="806779"/>
            <a:ext cx="6056123" cy="305919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280D3F47-CAB9-E389-E4AA-3E3B59CC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6" y="-309072"/>
            <a:ext cx="7772400" cy="1456267"/>
          </a:xfrm>
        </p:spPr>
        <p:txBody>
          <a:bodyPr/>
          <a:lstStyle/>
          <a:p>
            <a:r>
              <a:rPr lang="hu-HU" dirty="0">
                <a:ea typeface="Calibri Light"/>
                <a:cs typeface="Calibri Light"/>
              </a:rPr>
              <a:t>Network Virtual Machines in Action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3D5142D-4B15-1C7F-0A0F-3E52A6FE5FD3}"/>
              </a:ext>
            </a:extLst>
          </p:cNvPr>
          <p:cNvSpPr txBox="1"/>
          <p:nvPr/>
        </p:nvSpPr>
        <p:spPr>
          <a:xfrm>
            <a:off x="6719131" y="1858710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windows</a:t>
            </a:r>
          </a:p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394FB6-788C-0E66-571D-7C93A824AD23}"/>
              </a:ext>
            </a:extLst>
          </p:cNvPr>
          <p:cNvSpPr txBox="1"/>
          <p:nvPr/>
        </p:nvSpPr>
        <p:spPr>
          <a:xfrm>
            <a:off x="854579" y="5031336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Debian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8669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32D116-5676-9A6B-2951-3635EE51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" y="160769"/>
            <a:ext cx="5804806" cy="692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GIT – </a:t>
            </a:r>
            <a:r>
              <a:rPr lang="en-US" sz="2400" b="1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Version Control</a:t>
            </a:r>
            <a:endParaRPr lang="hu-HU" sz="2400" err="1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A9C4BB3-44C3-9E0D-79FD-4B8AE57B15C9}"/>
              </a:ext>
            </a:extLst>
          </p:cNvPr>
          <p:cNvSpPr txBox="1"/>
          <p:nvPr/>
        </p:nvSpPr>
        <p:spPr>
          <a:xfrm>
            <a:off x="1604" y="1718253"/>
            <a:ext cx="6229349" cy="47749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What </a:t>
            </a: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is it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Software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that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saves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for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files'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different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states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What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is it used for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Traceability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Every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change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and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responsible party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is logged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Rollback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(Rollback):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In case of errors,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/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at any time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you can revert to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previous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working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version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Teamwork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Multiple people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can work 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the same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for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project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without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/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overwriting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each other's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work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rgbClr val="000000"/>
              </a:buClr>
              <a:buSzPct val="100000"/>
              <a:buFont typeface="Arial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750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F46219B-4C55-FE80-6F68-6D94F9EC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2" y="1314451"/>
            <a:ext cx="5804806" cy="6921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000" b="1" u="sng">
                <a:ea typeface="+mj-lt"/>
                <a:cs typeface="+mj-lt"/>
              </a:rPr>
              <a:t>JIRA – Project Management and Issue Tracking</a:t>
            </a:r>
            <a:endParaRPr lang="hu-HU" sz="2000" b="1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C01899-79CA-E1F3-BFDD-04813A92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2" y="2220318"/>
            <a:ext cx="6229349" cy="493518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0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What is it?</a:t>
            </a:r>
            <a:r>
              <a:rPr lang="hu-HU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A task management and process tracking framework.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How did we use it?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Task Assignment: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Scheduling work items (e.g., cabling, procurement, installation).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Issue Tickets (</a:t>
            </a:r>
            <a:r>
              <a:rPr lang="hu-HU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Tickets</a:t>
            </a: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):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Recording and managing problems that arise during implementation.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Status Tracking: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Monitoring progress with "To Do", "In Progress" and "Done" columns.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Deadlines: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 xml:space="preserve"> Meeting milestones and delivery dates.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  <a:buNone/>
            </a:pPr>
            <a:endParaRPr lang="hu-HU" sz="1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4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Kép 3" descr="A képen szöveg, képernyőkép, diagram, szoftver látható  Lehet, hogy az AI által létrehozott tartalom helytelen.">
            <a:extLst>
              <a:ext uri="{FF2B5EF4-FFF2-40B4-BE49-F238E27FC236}">
                <a16:creationId xmlns:a16="http://schemas.microsoft.com/office/drawing/2014/main" id="{F9F08371-E0A6-CDA9-AE98-B041F9BC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127" y="180910"/>
            <a:ext cx="3588814" cy="133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8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F1100F-8EAA-2D7A-3B0D-D5D74C33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2329" y="1002311"/>
            <a:ext cx="7595394" cy="931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/>
              <a:t>Testing</a:t>
            </a:r>
          </a:p>
        </p:txBody>
      </p:sp>
      <p:pic>
        <p:nvPicPr>
          <p:cNvPr id="4" name="Tartalom helye 3" descr="A képen szöveg, képernyőkép, diagram, Téglalap látható  Lehet, hogy az AI által létrehozott tartalom helytelen.">
            <a:extLst>
              <a:ext uri="{FF2B5EF4-FFF2-40B4-BE49-F238E27FC236}">
                <a16:creationId xmlns:a16="http://schemas.microsoft.com/office/drawing/2014/main" id="{EAC75BC3-2861-8E5F-ECD2-0F5F49F3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90" r="7985" b="2"/>
          <a:stretch>
            <a:fillRect/>
          </a:stretch>
        </p:blipFill>
        <p:spPr>
          <a:xfrm>
            <a:off x="1023299" y="2749918"/>
            <a:ext cx="7759699" cy="37381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14800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24" y="1501132"/>
            <a:ext cx="7598569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5400" b="1" err="1">
                <a:latin typeface="Times New Roman"/>
                <a:cs typeface="Times New Roman"/>
              </a:rPr>
              <a:t>Thank You</a:t>
            </a:r>
            <a:r>
              <a:rPr lang="hu-HU" sz="5400" b="1">
                <a:latin typeface="Times New Roman"/>
                <a:cs typeface="Times New Roman"/>
              </a:rPr>
              <a:t xml:space="preserve"> for </a:t>
            </a:r>
            <a:r>
              <a:rPr lang="hu-HU" sz="5400" b="1" err="1">
                <a:latin typeface="Times New Roman"/>
                <a:cs typeface="Times New Roman"/>
              </a:rPr>
              <a:t>Your Attention</a:t>
            </a:r>
            <a:r>
              <a:rPr lang="hu-HU" sz="5400" b="1">
                <a:latin typeface="Times New Roman"/>
                <a:cs typeface="Times New Roman"/>
              </a:rPr>
              <a:t>!</a:t>
            </a:r>
            <a:endParaRPr lang="hu-HU" sz="54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(4:3 oldalarány)</PresentationFormat>
  <Slides>22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3" baseType="lpstr">
      <vt:lpstr>Celestial</vt:lpstr>
      <vt:lpstr>InfraWorks KFT</vt:lpstr>
      <vt:lpstr>A Projekt Vízió</vt:lpstr>
      <vt:lpstr>A Projekt teljes váza</vt:lpstr>
      <vt:lpstr>Amik találhatók a topológiába</vt:lpstr>
      <vt:lpstr>2. DMZ (Demilitarizált Zóna)</vt:lpstr>
      <vt:lpstr>3. A hálózat "Agya" avagy Maghálózati redundancia és vezérlés</vt:lpstr>
      <vt:lpstr>Első emelet (Kék &amp; Zöld blokk) Értékesítés, HR és Logisztika</vt:lpstr>
      <vt:lpstr>      Részlegek: Pénzügy &amp; Számvitel, Admin &amp; Kapcsolatok.  Felépítés: Az első emelettel megegyező struktúra (standardizált kiépítés).  Hálózat: VLAN-alapú szegmentálás az adatok védelmében.  Eszközök: Saját Access Switch-ek (FIN-SW, ADM-SW) biztosítják a kapcsolatot a Core felé. . </vt:lpstr>
      <vt:lpstr>Informatikai osztály (ICT): Operatív felügyelet és fejlesztés.  Belső hálózati szolgáltatások (Server-SW): DHCP Szerver: Automatikus IP-cím kiosztás a klienseknek. DNS Szerver: Belső és külső névfeloldás. RADIUS Szerver: Felhasználói hitelesítés és hálózati biztonság (AAA). </vt:lpstr>
      <vt:lpstr>PowerPoint-bemutató</vt:lpstr>
      <vt:lpstr>Külső Kapcsolat és Internet (INTERNET/CLOUD)</vt:lpstr>
      <vt:lpstr>A Maghálózat (A "hálózat szíve")</vt:lpstr>
      <vt:lpstr>Hálózati virtuális gépeket készítettünk az oracle virtualbox nevű program segítségével</vt:lpstr>
      <vt:lpstr>Használt virtuális gépek</vt:lpstr>
      <vt:lpstr>Aktív szolgáltatások:</vt:lpstr>
      <vt:lpstr>Windows Server 2019 Infrastruktúra</vt:lpstr>
      <vt:lpstr>Debian/Linux Szerver    Rendszerkörnyezet: Debian OS telepítése egyedi felhasználói fiókkal és NAT hálózati integrációval.  Hálózati Alapok: Statikus IPv4 címkonfiguráció a szolgáltatások fix és megbízható eléréséhez.  Webszolgáltatás: Apache webszerver implementálása HTTP és biztonságos HTTPS protokollok támogatásával.  Fájlkezelés: Samba szolgáltatás telepítése a Linux és Windows platformok közötti zökkenőmentes adatcseréhez.  Rendszerbiztonság: Automatizált adatmentési folyamat kialakítása cron feladatütemező segítségével. </vt:lpstr>
      <vt:lpstr>Hálózati Virtuális gépek működés közbe</vt:lpstr>
      <vt:lpstr>GIT – Verziókezelés</vt:lpstr>
      <vt:lpstr>JIRA – Projektmenedzsment és Hibajegy-kezelés</vt:lpstr>
      <vt:lpstr>Tesztelés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249</cp:revision>
  <dcterms:created xsi:type="dcterms:W3CDTF">2013-01-27T09:14:16Z</dcterms:created>
  <dcterms:modified xsi:type="dcterms:W3CDTF">2026-02-22T11:06:48Z</dcterms:modified>
  <cp:category/>
</cp:coreProperties>
</file>