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8" r:id="rId4"/>
    <p:sldId id="271" r:id="rId5"/>
    <p:sldId id="296" r:id="rId6"/>
    <p:sldId id="272" r:id="rId7"/>
    <p:sldId id="273" r:id="rId8"/>
    <p:sldId id="274" r:id="rId9"/>
    <p:sldId id="275" r:id="rId10"/>
    <p:sldId id="290" r:id="rId11"/>
    <p:sldId id="291" r:id="rId12"/>
    <p:sldId id="292" r:id="rId13"/>
    <p:sldId id="293" r:id="rId14"/>
    <p:sldId id="280" r:id="rId15"/>
    <p:sldId id="281" r:id="rId16"/>
    <p:sldId id="282" r:id="rId17"/>
    <p:sldId id="294" r:id="rId18"/>
    <p:sldId id="288" r:id="rId19"/>
    <p:sldId id="267" r:id="rId20"/>
    <p:sldId id="277" r:id="rId21"/>
    <p:sldId id="295" r:id="rId22"/>
    <p:sldId id="266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185D4E-973E-4B04-86C0-62082135B484}" v="80" dt="2026-02-27T21:20:12.858"/>
    <p1510:client id="{D1A2FE06-DEB7-4567-8DCC-F1034172529D}" v="231" dt="2026-02-27T09:28:51.2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75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44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77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3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61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784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59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807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788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55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691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958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694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4986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4072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368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437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6189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BD94887-6A10-4F62-8EE1-B2BCFA1F3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-1786"/>
            <a:ext cx="9141618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Kép 4" descr="A képen szöveg, embléma, Grafika, szimbólum látható&#10;&#10;Lehet, hogy az AI által létrehozott tartalom helytelen.">
            <a:extLst>
              <a:ext uri="{FF2B5EF4-FFF2-40B4-BE49-F238E27FC236}">
                <a16:creationId xmlns:a16="http://schemas.microsoft.com/office/drawing/2014/main" id="{83079E1E-2B04-7EF0-9BFF-8EF8445BBA4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rcRect t="9171" b="15829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3D512BA-228A-4979-9312-ACD246E10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" y="893"/>
            <a:ext cx="9141618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0350" y="-155670"/>
            <a:ext cx="7598569" cy="1456267"/>
          </a:xfrm>
        </p:spPr>
        <p:txBody>
          <a:bodyPr>
            <a:normAutofit/>
          </a:bodyPr>
          <a:lstStyle/>
          <a:p>
            <a:r>
              <a:rPr lang="hu-HU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InfraWorks</a:t>
            </a:r>
            <a:r>
              <a:rPr lang="hu-H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KFT</a:t>
            </a:r>
            <a:endParaRPr lang="hu-HU" u="sng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29784" y="1435663"/>
            <a:ext cx="3801651" cy="2599341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>
              <a:buNone/>
            </a:pPr>
            <a:endParaRPr lang="hu-HU" sz="2000" b="1" dirty="0">
              <a:latin typeface="Times New Roman"/>
              <a:ea typeface="Calibri"/>
              <a:cs typeface="Calibri"/>
            </a:endParaRPr>
          </a:p>
          <a:p>
            <a:pPr marL="0" indent="0" algn="ctr">
              <a:buNone/>
            </a:pPr>
            <a:endParaRPr lang="hu-HU" sz="2800" b="1" dirty="0">
              <a:latin typeface="Times New Roman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hu-HU" sz="2800" b="1" dirty="0">
                <a:latin typeface="Times New Roman"/>
                <a:cs typeface="Times New Roman"/>
              </a:rPr>
              <a:t>Vizsgaremek projekt</a:t>
            </a:r>
            <a:endParaRPr lang="hu-HU" sz="2800" b="1" dirty="0">
              <a:latin typeface="Times New Roman"/>
              <a:ea typeface="Calibri"/>
              <a:cs typeface="Times New Roman"/>
            </a:endParaRPr>
          </a:p>
          <a:p>
            <a:pPr marL="0" indent="0" algn="ctr">
              <a:buNone/>
            </a:pPr>
            <a:endParaRPr lang="hu-HU" sz="2800" b="1" dirty="0">
              <a:latin typeface="Times New Roman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hu-HU" sz="2800" b="1" dirty="0">
                <a:latin typeface="Times New Roman"/>
                <a:cs typeface="Times New Roman"/>
              </a:rPr>
              <a:t>Csapattagok: </a:t>
            </a:r>
            <a:endParaRPr lang="hu-HU" sz="2800" b="1">
              <a:latin typeface="Times New Roman"/>
              <a:ea typeface="Calibri"/>
              <a:cs typeface="Times New Roman"/>
            </a:endParaRPr>
          </a:p>
          <a:p>
            <a:pPr marL="0" indent="0" algn="ctr">
              <a:buNone/>
            </a:pPr>
            <a:r>
              <a:rPr lang="hu-HU" sz="2800" b="1" dirty="0">
                <a:latin typeface="Times New Roman"/>
                <a:cs typeface="Times New Roman"/>
              </a:rPr>
              <a:t>Tóth Richárd (PM)</a:t>
            </a:r>
            <a:endParaRPr lang="hu-HU" sz="2800" b="1" dirty="0">
              <a:latin typeface="Times New Roman"/>
              <a:ea typeface="Calibri"/>
              <a:cs typeface="Times New Roman"/>
            </a:endParaRPr>
          </a:p>
          <a:p>
            <a:pPr marL="0" indent="0" algn="ctr">
              <a:buClr>
                <a:srgbClr val="000000"/>
              </a:buClr>
              <a:buNone/>
            </a:pPr>
            <a:r>
              <a:rPr lang="hu-HU" sz="2800" b="1" dirty="0">
                <a:latin typeface="Times New Roman"/>
                <a:cs typeface="Times New Roman"/>
              </a:rPr>
              <a:t>      </a:t>
            </a:r>
            <a:r>
              <a:rPr lang="hu-HU" sz="2800" b="1" dirty="0" err="1">
                <a:latin typeface="Times New Roman"/>
                <a:cs typeface="Times New Roman"/>
              </a:rPr>
              <a:t>Schäfer</a:t>
            </a:r>
            <a:r>
              <a:rPr lang="hu-HU" sz="2800" b="1" dirty="0">
                <a:latin typeface="Times New Roman"/>
                <a:cs typeface="Times New Roman"/>
              </a:rPr>
              <a:t> Kristóf,       </a:t>
            </a:r>
            <a:endParaRPr lang="hu-HU" sz="2800" b="1" dirty="0">
              <a:latin typeface="Times New Roman"/>
              <a:ea typeface="Calibri"/>
              <a:cs typeface="Times New Roman"/>
            </a:endParaRPr>
          </a:p>
          <a:p>
            <a:pPr marL="0" indent="0" algn="ctr">
              <a:buNone/>
            </a:pPr>
            <a:endParaRPr lang="hu-HU" sz="2800" b="1" dirty="0">
              <a:latin typeface="Times New Roman"/>
              <a:cs typeface="Times New Roman"/>
            </a:endParaRPr>
          </a:p>
          <a:p>
            <a:pPr marL="0" indent="0" algn="ctr">
              <a:buNone/>
            </a:pPr>
            <a:r>
              <a:rPr lang="hu-HU" sz="2800" b="1" dirty="0">
                <a:latin typeface="Times New Roman"/>
                <a:cs typeface="Times New Roman"/>
              </a:rPr>
              <a:t>Dátum: 2026</a:t>
            </a:r>
            <a:endParaRPr lang="hu-HU" sz="2800" b="1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FB64FC4-21AE-4221-BFA2-3D4C517CEF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BD94887-6A10-4F62-8EE1-B2BCFA1F3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-1786"/>
            <a:ext cx="9141618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Kép 3" descr="A képen szöveg, embléma, Grafika, szimbólum látható&#10;&#10;Lehet, hogy az AI által létrehozott tartalom helytelen.">
            <a:extLst>
              <a:ext uri="{FF2B5EF4-FFF2-40B4-BE49-F238E27FC236}">
                <a16:creationId xmlns:a16="http://schemas.microsoft.com/office/drawing/2014/main" id="{EBD827D2-7391-BA70-E95E-9FEA490677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rcRect t="9171" b="15829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3D512BA-228A-4979-9312-ACD246E10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" y="893"/>
            <a:ext cx="9141618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007" y="-194915"/>
            <a:ext cx="7598569" cy="1456267"/>
          </a:xfrm>
        </p:spPr>
        <p:txBody>
          <a:bodyPr>
            <a:normAutofit/>
          </a:bodyPr>
          <a:lstStyle/>
          <a:p>
            <a:r>
              <a:rPr lang="hu-HU" b="1" u="sng">
                <a:latin typeface="Times New Roman"/>
                <a:ea typeface="Calibri Light"/>
                <a:cs typeface="Times New Roman"/>
              </a:rPr>
              <a:t>A Projekt Vízió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7552" y="1602454"/>
            <a:ext cx="7598569" cy="4689038"/>
          </a:xfrm>
        </p:spPr>
        <p:txBody>
          <a:bodyPr vert="horz" lIns="91440" tIns="45720" rIns="91440" bIns="45720" rtlCol="0">
            <a:normAutofit/>
          </a:bodyPr>
          <a:lstStyle/>
          <a:p>
            <a:pPr algn="ctr">
              <a:buClr>
                <a:srgbClr val="FFFFFF"/>
              </a:buClr>
            </a:pPr>
            <a:r>
              <a:rPr lang="hu-HU" b="1" dirty="0">
                <a:latin typeface="Times New Roman"/>
                <a:ea typeface="+mn-lt"/>
                <a:cs typeface="Times New Roman"/>
              </a:rPr>
              <a:t>Felépítés:</a:t>
            </a:r>
            <a:r>
              <a:rPr lang="hu-HU" dirty="0">
                <a:latin typeface="Times New Roman"/>
                <a:ea typeface="+mn-lt"/>
                <a:cs typeface="Times New Roman"/>
              </a:rPr>
              <a:t> Háromszintes (</a:t>
            </a:r>
            <a:r>
              <a:rPr lang="hu-HU" err="1">
                <a:latin typeface="Times New Roman"/>
                <a:ea typeface="+mn-lt"/>
                <a:cs typeface="Times New Roman"/>
              </a:rPr>
              <a:t>Core</a:t>
            </a:r>
            <a:r>
              <a:rPr lang="hu-HU" dirty="0">
                <a:latin typeface="Times New Roman"/>
                <a:ea typeface="+mn-lt"/>
                <a:cs typeface="Times New Roman"/>
              </a:rPr>
              <a:t>, </a:t>
            </a:r>
            <a:r>
              <a:rPr lang="hu-HU" err="1">
                <a:latin typeface="Times New Roman"/>
                <a:ea typeface="+mn-lt"/>
                <a:cs typeface="Times New Roman"/>
              </a:rPr>
              <a:t>Distribution</a:t>
            </a:r>
            <a:r>
              <a:rPr lang="hu-HU" dirty="0">
                <a:latin typeface="Times New Roman"/>
                <a:ea typeface="+mn-lt"/>
                <a:cs typeface="Times New Roman"/>
              </a:rPr>
              <a:t>, Access) hierarchia.</a:t>
            </a:r>
            <a:endParaRPr lang="hu-HU"/>
          </a:p>
          <a:p>
            <a:pPr algn="ctr">
              <a:buClr>
                <a:srgbClr val="FFFFFF"/>
              </a:buClr>
            </a:pPr>
            <a:endParaRPr lang="hu-HU" dirty="0">
              <a:latin typeface="Times New Roman"/>
              <a:ea typeface="+mn-lt"/>
              <a:cs typeface="Times New Roman"/>
            </a:endParaRPr>
          </a:p>
          <a:p>
            <a:pPr algn="ctr">
              <a:buClr>
                <a:srgbClr val="FFFFFF"/>
              </a:buClr>
            </a:pPr>
            <a:r>
              <a:rPr lang="hu-HU" b="1" dirty="0">
                <a:latin typeface="Times New Roman"/>
                <a:ea typeface="+mn-lt"/>
                <a:cs typeface="Times New Roman"/>
              </a:rPr>
              <a:t>Redundancia:</a:t>
            </a:r>
            <a:r>
              <a:rPr lang="hu-HU" dirty="0">
                <a:latin typeface="Times New Roman"/>
                <a:ea typeface="+mn-lt"/>
                <a:cs typeface="Times New Roman"/>
              </a:rPr>
              <a:t> Dupla ISP, redundáns tűzfalak és </a:t>
            </a:r>
            <a:r>
              <a:rPr lang="hu-HU" err="1">
                <a:latin typeface="Times New Roman"/>
                <a:ea typeface="+mn-lt"/>
                <a:cs typeface="Times New Roman"/>
              </a:rPr>
              <a:t>Core</a:t>
            </a:r>
            <a:r>
              <a:rPr lang="hu-HU" dirty="0">
                <a:latin typeface="Times New Roman"/>
                <a:ea typeface="+mn-lt"/>
                <a:cs typeface="Times New Roman"/>
              </a:rPr>
              <a:t> </a:t>
            </a:r>
            <a:r>
              <a:rPr lang="hu-HU" err="1">
                <a:latin typeface="Times New Roman"/>
                <a:ea typeface="+mn-lt"/>
                <a:cs typeface="Times New Roman"/>
              </a:rPr>
              <a:t>switchek</a:t>
            </a:r>
            <a:r>
              <a:rPr lang="hu-HU" dirty="0">
                <a:latin typeface="Times New Roman"/>
                <a:ea typeface="+mn-lt"/>
                <a:cs typeface="Times New Roman"/>
              </a:rPr>
              <a:t>.</a:t>
            </a:r>
            <a:endParaRPr lang="hu-HU" dirty="0">
              <a:latin typeface="Times New Roman"/>
              <a:cs typeface="Times New Roman"/>
            </a:endParaRPr>
          </a:p>
          <a:p>
            <a:pPr algn="ctr">
              <a:buClr>
                <a:srgbClr val="FFFFFF"/>
              </a:buClr>
            </a:pPr>
            <a:endParaRPr lang="hu-HU" dirty="0">
              <a:latin typeface="Times New Roman"/>
              <a:ea typeface="+mn-lt"/>
              <a:cs typeface="Times New Roman"/>
            </a:endParaRPr>
          </a:p>
          <a:p>
            <a:pPr algn="ctr">
              <a:buClr>
                <a:srgbClr val="FFFFFF"/>
              </a:buClr>
            </a:pPr>
            <a:r>
              <a:rPr lang="hu-HU" b="1" dirty="0">
                <a:latin typeface="Times New Roman"/>
                <a:ea typeface="+mn-lt"/>
                <a:cs typeface="Times New Roman"/>
              </a:rPr>
              <a:t>Szegmentálás:</a:t>
            </a:r>
            <a:r>
              <a:rPr lang="hu-HU" dirty="0">
                <a:latin typeface="Times New Roman"/>
                <a:ea typeface="+mn-lt"/>
                <a:cs typeface="Times New Roman"/>
              </a:rPr>
              <a:t> </a:t>
            </a:r>
            <a:r>
              <a:rPr lang="hu-HU" err="1">
                <a:latin typeface="Times New Roman"/>
                <a:ea typeface="+mn-lt"/>
                <a:cs typeface="Times New Roman"/>
              </a:rPr>
              <a:t>Emeletenkénti</a:t>
            </a:r>
            <a:r>
              <a:rPr lang="hu-HU" dirty="0">
                <a:latin typeface="Times New Roman"/>
                <a:ea typeface="+mn-lt"/>
                <a:cs typeface="Times New Roman"/>
              </a:rPr>
              <a:t> bontás és dedikált DMZ a szervereknek.</a:t>
            </a:r>
            <a:endParaRPr lang="hu-HU" dirty="0">
              <a:latin typeface="Times New Roman"/>
              <a:cs typeface="Times New Roman"/>
            </a:endParaRPr>
          </a:p>
          <a:p>
            <a:pPr algn="ctr">
              <a:buClr>
                <a:srgbClr val="FFFFFF"/>
              </a:buClr>
            </a:pPr>
            <a:endParaRPr lang="hu-HU" dirty="0">
              <a:latin typeface="Times New Roman"/>
              <a:ea typeface="+mn-lt"/>
              <a:cs typeface="Times New Roman"/>
            </a:endParaRPr>
          </a:p>
          <a:p>
            <a:pPr algn="ctr">
              <a:buClr>
                <a:srgbClr val="FFFFFF"/>
              </a:buClr>
            </a:pPr>
            <a:r>
              <a:rPr lang="hu-HU" b="1" dirty="0">
                <a:latin typeface="Times New Roman"/>
                <a:ea typeface="+mn-lt"/>
                <a:cs typeface="Times New Roman"/>
              </a:rPr>
              <a:t>Technológiák:</a:t>
            </a:r>
            <a:r>
              <a:rPr lang="hu-HU" dirty="0">
                <a:latin typeface="Times New Roman"/>
                <a:ea typeface="+mn-lt"/>
                <a:cs typeface="Times New Roman"/>
              </a:rPr>
              <a:t> HSRP a hibatűrésért, LACP a sávszélességért.</a:t>
            </a:r>
          </a:p>
          <a:p>
            <a:pPr marL="457200" indent="-457200" algn="ctr">
              <a:buClr>
                <a:srgbClr val="FFFFFF"/>
              </a:buClr>
              <a:buFont typeface="Calibri"/>
              <a:buChar char="-"/>
            </a:pPr>
            <a:endParaRPr lang="hu-HU">
              <a:ea typeface="Calibri" panose="020F0502020204030204"/>
              <a:cs typeface="Calibri" panose="020F0502020204030204"/>
            </a:endParaRPr>
          </a:p>
          <a:p>
            <a:pPr algn="ctr">
              <a:buNone/>
            </a:pPr>
            <a:endParaRPr lang="hu-HU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B2E2329-5B8D-2838-F02B-5BC83C5D4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7996" y="-207184"/>
            <a:ext cx="6467404" cy="14533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u="sng" dirty="0">
                <a:latin typeface="times new"/>
                <a:cs typeface="Times"/>
              </a:rPr>
              <a:t>A Projekt </a:t>
            </a:r>
            <a:r>
              <a:rPr lang="en-US" sz="3200" b="1" u="sng" err="1">
                <a:latin typeface="times new"/>
                <a:cs typeface="Times"/>
              </a:rPr>
              <a:t>teljes</a:t>
            </a:r>
            <a:r>
              <a:rPr lang="en-US" sz="3200" b="1" u="sng" dirty="0">
                <a:latin typeface="times new"/>
                <a:cs typeface="Times"/>
              </a:rPr>
              <a:t> </a:t>
            </a:r>
            <a:r>
              <a:rPr lang="en-US" sz="3200" b="1" u="sng" err="1">
                <a:latin typeface="times new"/>
                <a:cs typeface="Times"/>
              </a:rPr>
              <a:t>váza</a:t>
            </a:r>
            <a:endParaRPr lang="en-US" sz="3200" b="1" u="sng" err="1">
              <a:latin typeface="times new"/>
              <a:ea typeface="Calibri Light"/>
              <a:cs typeface="Times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6E386EC8-FD3A-44E7-DFCD-F47598841068}"/>
              </a:ext>
            </a:extLst>
          </p:cNvPr>
          <p:cNvSpPr txBox="1"/>
          <p:nvPr/>
        </p:nvSpPr>
        <p:spPr>
          <a:xfrm>
            <a:off x="-1365" y="-563113"/>
            <a:ext cx="4394559" cy="7728923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1</a:t>
            </a:r>
            <a:r>
              <a:rPr lang="en-US" b="1" dirty="0">
                <a:latin typeface="Times New Roman"/>
                <a:cs typeface="Times New Roman"/>
              </a:rPr>
              <a:t>. </a:t>
            </a:r>
            <a:r>
              <a:rPr lang="en-US" b="1" dirty="0" err="1">
                <a:latin typeface="Times New Roman"/>
                <a:cs typeface="Times New Roman"/>
              </a:rPr>
              <a:t>Központi</a:t>
            </a:r>
            <a:r>
              <a:rPr lang="en-US" b="1" dirty="0">
                <a:latin typeface="Times New Roman"/>
                <a:cs typeface="Times New Roman"/>
              </a:rPr>
              <a:t> </a:t>
            </a:r>
            <a:r>
              <a:rPr lang="en-US" b="1" dirty="0" err="1">
                <a:latin typeface="Times New Roman"/>
                <a:cs typeface="Times New Roman"/>
              </a:rPr>
              <a:t>Biztonság</a:t>
            </a:r>
            <a:r>
              <a:rPr lang="en-US" b="1" dirty="0">
                <a:latin typeface="Times New Roman"/>
                <a:cs typeface="Times New Roman"/>
              </a:rPr>
              <a:t> </a:t>
            </a:r>
            <a:r>
              <a:rPr lang="en-US" b="1" dirty="0" err="1">
                <a:latin typeface="Times New Roman"/>
                <a:cs typeface="Times New Roman"/>
              </a:rPr>
              <a:t>és</a:t>
            </a:r>
            <a:r>
              <a:rPr lang="en-US" b="1" dirty="0">
                <a:latin typeface="Times New Roman"/>
                <a:cs typeface="Times New Roman"/>
              </a:rPr>
              <a:t> Core </a:t>
            </a:r>
            <a:r>
              <a:rPr lang="en-US" b="1" dirty="0" err="1">
                <a:latin typeface="Times New Roman"/>
                <a:cs typeface="Times New Roman"/>
              </a:rPr>
              <a:t>Réteg</a:t>
            </a:r>
            <a:endParaRPr lang="hu-HU" dirty="0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US" b="1" dirty="0">
                <a:latin typeface="Times New Roman"/>
                <a:ea typeface="+mn-lt"/>
                <a:cs typeface="Times New Roman"/>
              </a:rPr>
              <a:t>Internet &amp; DMZ:</a:t>
            </a:r>
            <a:r>
              <a:rPr lang="en-US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err="1">
                <a:latin typeface="Times New Roman"/>
                <a:ea typeface="+mn-lt"/>
                <a:cs typeface="Times New Roman"/>
              </a:rPr>
              <a:t>Elkülönített</a:t>
            </a:r>
            <a:r>
              <a:rPr lang="en-US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err="1">
                <a:latin typeface="Times New Roman"/>
                <a:ea typeface="+mn-lt"/>
                <a:cs typeface="Times New Roman"/>
              </a:rPr>
              <a:t>szerverfarm</a:t>
            </a:r>
            <a:r>
              <a:rPr lang="en-US" dirty="0">
                <a:latin typeface="Times New Roman"/>
                <a:ea typeface="+mn-lt"/>
                <a:cs typeface="Times New Roman"/>
              </a:rPr>
              <a:t> (Web, FTP, Email, DNS).</a:t>
            </a:r>
          </a:p>
          <a:p>
            <a:r>
              <a:rPr lang="en-US" b="1" err="1">
                <a:latin typeface="Times New Roman"/>
                <a:ea typeface="+mn-lt"/>
                <a:cs typeface="Times New Roman"/>
              </a:rPr>
              <a:t>Redundancia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:</a:t>
            </a:r>
            <a:r>
              <a:rPr lang="en-US" dirty="0">
                <a:latin typeface="Times New Roman"/>
                <a:ea typeface="+mn-lt"/>
                <a:cs typeface="Times New Roman"/>
              </a:rPr>
              <a:t> 2x ASA </a:t>
            </a:r>
            <a:r>
              <a:rPr lang="en-US" err="1">
                <a:latin typeface="Times New Roman"/>
                <a:ea typeface="+mn-lt"/>
                <a:cs typeface="Times New Roman"/>
              </a:rPr>
              <a:t>Tűzfal</a:t>
            </a:r>
            <a:r>
              <a:rPr lang="en-US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err="1">
                <a:latin typeface="Times New Roman"/>
                <a:ea typeface="+mn-lt"/>
                <a:cs typeface="Times New Roman"/>
              </a:rPr>
              <a:t>és</a:t>
            </a:r>
            <a:r>
              <a:rPr lang="en-US" dirty="0">
                <a:latin typeface="Times New Roman"/>
                <a:ea typeface="+mn-lt"/>
                <a:cs typeface="Times New Roman"/>
              </a:rPr>
              <a:t> Core </a:t>
            </a:r>
            <a:r>
              <a:rPr lang="en-US" err="1">
                <a:latin typeface="Times New Roman"/>
                <a:ea typeface="+mn-lt"/>
                <a:cs typeface="Times New Roman"/>
              </a:rPr>
              <a:t>Routerek</a:t>
            </a:r>
            <a:r>
              <a:rPr lang="en-US" dirty="0">
                <a:latin typeface="Times New Roman"/>
                <a:ea typeface="+mn-lt"/>
                <a:cs typeface="Times New Roman"/>
              </a:rPr>
              <a:t>.</a:t>
            </a:r>
          </a:p>
          <a:p>
            <a:r>
              <a:rPr lang="en-US" b="1" err="1">
                <a:latin typeface="Times New Roman"/>
                <a:ea typeface="+mn-lt"/>
                <a:cs typeface="Times New Roman"/>
              </a:rPr>
              <a:t>Technológiák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:</a:t>
            </a:r>
            <a:r>
              <a:rPr lang="en-US" dirty="0">
                <a:latin typeface="Times New Roman"/>
                <a:ea typeface="+mn-lt"/>
                <a:cs typeface="Times New Roman"/>
              </a:rPr>
              <a:t> Magas </a:t>
            </a:r>
            <a:r>
              <a:rPr lang="en-US" err="1">
                <a:latin typeface="Times New Roman"/>
                <a:ea typeface="+mn-lt"/>
                <a:cs typeface="Times New Roman"/>
              </a:rPr>
              <a:t>rendelkezésre</a:t>
            </a:r>
            <a:r>
              <a:rPr lang="en-US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err="1">
                <a:latin typeface="Times New Roman"/>
                <a:ea typeface="+mn-lt"/>
                <a:cs typeface="Times New Roman"/>
              </a:rPr>
              <a:t>állás</a:t>
            </a:r>
            <a:r>
              <a:rPr lang="en-US" dirty="0">
                <a:latin typeface="Times New Roman"/>
                <a:ea typeface="+mn-lt"/>
                <a:cs typeface="Times New Roman"/>
              </a:rPr>
              <a:t> (HSRP, LACP).</a:t>
            </a:r>
            <a:endParaRPr lang="en-US" dirty="0">
              <a:latin typeface="Times New Roman"/>
              <a:ea typeface="Calibri" panose="020F0502020204030204"/>
              <a:cs typeface="Times New Roman"/>
            </a:endParaRPr>
          </a:p>
          <a:p>
            <a:endParaRPr lang="en-US" dirty="0">
              <a:latin typeface="Times New Roman"/>
              <a:ea typeface="Calibri" panose="020F0502020204030204"/>
              <a:cs typeface="Times New Roman"/>
            </a:endParaRPr>
          </a:p>
          <a:p>
            <a:endParaRPr lang="en-US" sz="1200" dirty="0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US" b="1" dirty="0">
                <a:latin typeface="Times New Roman"/>
                <a:cs typeface="Times New Roman"/>
              </a:rPr>
              <a:t>2. </a:t>
            </a:r>
            <a:r>
              <a:rPr lang="en-US" b="1" err="1">
                <a:latin typeface="Times New Roman"/>
                <a:cs typeface="Times New Roman"/>
              </a:rPr>
              <a:t>Logikai</a:t>
            </a:r>
            <a:r>
              <a:rPr lang="en-US" b="1" dirty="0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Tagolás</a:t>
            </a:r>
            <a:r>
              <a:rPr lang="en-US" b="1" dirty="0">
                <a:latin typeface="Times New Roman"/>
                <a:cs typeface="Times New Roman"/>
              </a:rPr>
              <a:t> (VLAN &amp; </a:t>
            </a:r>
            <a:r>
              <a:rPr lang="en-US" b="1" err="1">
                <a:latin typeface="Times New Roman"/>
                <a:cs typeface="Times New Roman"/>
              </a:rPr>
              <a:t>Szintek</a:t>
            </a:r>
            <a:r>
              <a:rPr lang="en-US" b="1" dirty="0">
                <a:latin typeface="Times New Roman"/>
                <a:cs typeface="Times New Roman"/>
              </a:rPr>
              <a:t>)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US" sz="1600" b="1" err="1">
                <a:latin typeface="Times New Roman"/>
                <a:ea typeface="+mn-lt"/>
                <a:cs typeface="Times New Roman"/>
              </a:rPr>
              <a:t>Földszint</a:t>
            </a:r>
            <a:r>
              <a:rPr lang="en-US" sz="1600" b="1" dirty="0">
                <a:latin typeface="Times New Roman"/>
                <a:ea typeface="+mn-lt"/>
                <a:cs typeface="Times New Roman"/>
              </a:rPr>
              <a:t> (Zöld/Kék):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Marketing, HR, </a:t>
            </a:r>
            <a:r>
              <a:rPr lang="en-US" sz="1600" err="1">
                <a:latin typeface="Times New Roman"/>
                <a:ea typeface="+mn-lt"/>
                <a:cs typeface="Times New Roman"/>
              </a:rPr>
              <a:t>Logisztika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.</a:t>
            </a:r>
          </a:p>
          <a:p>
            <a:r>
              <a:rPr lang="en-US" sz="1600" b="1" dirty="0">
                <a:latin typeface="Times New Roman"/>
                <a:ea typeface="+mn-lt"/>
                <a:cs typeface="Times New Roman"/>
              </a:rPr>
              <a:t>1. </a:t>
            </a:r>
            <a:r>
              <a:rPr lang="en-US" sz="1600" b="1" err="1">
                <a:latin typeface="Times New Roman"/>
                <a:ea typeface="+mn-lt"/>
                <a:cs typeface="Times New Roman"/>
              </a:rPr>
              <a:t>emelet</a:t>
            </a:r>
            <a:r>
              <a:rPr lang="en-US" sz="1600" b="1" dirty="0">
                <a:latin typeface="Times New Roman"/>
                <a:ea typeface="+mn-lt"/>
                <a:cs typeface="Times New Roman"/>
              </a:rPr>
              <a:t> (</a:t>
            </a:r>
            <a:r>
              <a:rPr lang="en-US" sz="1600" b="1" err="1">
                <a:latin typeface="Times New Roman"/>
                <a:ea typeface="+mn-lt"/>
                <a:cs typeface="Times New Roman"/>
              </a:rPr>
              <a:t>Világoskék</a:t>
            </a:r>
            <a:r>
              <a:rPr lang="en-US" sz="1600" b="1" dirty="0">
                <a:latin typeface="Times New Roman"/>
                <a:ea typeface="+mn-lt"/>
                <a:cs typeface="Times New Roman"/>
              </a:rPr>
              <a:t>):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1600" err="1">
                <a:latin typeface="Times New Roman"/>
                <a:ea typeface="+mn-lt"/>
                <a:cs typeface="Times New Roman"/>
              </a:rPr>
              <a:t>Pénzügy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, </a:t>
            </a:r>
            <a:r>
              <a:rPr lang="en-US" sz="1600" err="1">
                <a:latin typeface="Times New Roman"/>
                <a:ea typeface="+mn-lt"/>
                <a:cs typeface="Times New Roman"/>
              </a:rPr>
              <a:t>Adminisztráció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.</a:t>
            </a:r>
          </a:p>
          <a:p>
            <a:r>
              <a:rPr lang="en-US" sz="1600" b="1" dirty="0">
                <a:latin typeface="Times New Roman"/>
                <a:ea typeface="+mn-lt"/>
                <a:cs typeface="Times New Roman"/>
              </a:rPr>
              <a:t>2. </a:t>
            </a:r>
            <a:r>
              <a:rPr lang="en-US" sz="1600" b="1" err="1">
                <a:latin typeface="Times New Roman"/>
                <a:ea typeface="+mn-lt"/>
                <a:cs typeface="Times New Roman"/>
              </a:rPr>
              <a:t>emelet</a:t>
            </a:r>
            <a:r>
              <a:rPr lang="en-US" sz="1600" b="1" dirty="0">
                <a:latin typeface="Times New Roman"/>
                <a:ea typeface="+mn-lt"/>
                <a:cs typeface="Times New Roman"/>
              </a:rPr>
              <a:t> (Piros):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IT / </a:t>
            </a:r>
            <a:r>
              <a:rPr lang="en-US" sz="1600" err="1">
                <a:latin typeface="Times New Roman"/>
                <a:ea typeface="+mn-lt"/>
                <a:cs typeface="Times New Roman"/>
              </a:rPr>
              <a:t>Informatika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.</a:t>
            </a:r>
          </a:p>
          <a:p>
            <a:r>
              <a:rPr lang="en-US" sz="1600" b="1" err="1">
                <a:latin typeface="Times New Roman"/>
                <a:ea typeface="+mn-lt"/>
                <a:cs typeface="Times New Roman"/>
              </a:rPr>
              <a:t>Szerverterem</a:t>
            </a:r>
            <a:r>
              <a:rPr lang="en-US" sz="1600" b="1" dirty="0">
                <a:latin typeface="Times New Roman"/>
                <a:ea typeface="+mn-lt"/>
                <a:cs typeface="Times New Roman"/>
              </a:rPr>
              <a:t> (</a:t>
            </a:r>
            <a:r>
              <a:rPr lang="en-US" sz="1600" b="1" err="1">
                <a:latin typeface="Times New Roman"/>
                <a:ea typeface="+mn-lt"/>
                <a:cs typeface="Times New Roman"/>
              </a:rPr>
              <a:t>Narancs</a:t>
            </a:r>
            <a:r>
              <a:rPr lang="en-US" sz="1600" b="1" dirty="0">
                <a:latin typeface="Times New Roman"/>
                <a:ea typeface="+mn-lt"/>
                <a:cs typeface="Times New Roman"/>
              </a:rPr>
              <a:t>):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1600" err="1">
                <a:latin typeface="Times New Roman"/>
                <a:ea typeface="+mn-lt"/>
                <a:cs typeface="Times New Roman"/>
              </a:rPr>
              <a:t>Központi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DHCP, DNS </a:t>
            </a:r>
            <a:r>
              <a:rPr lang="en-US" sz="1600" err="1">
                <a:latin typeface="Times New Roman"/>
                <a:ea typeface="+mn-lt"/>
                <a:cs typeface="Times New Roman"/>
              </a:rPr>
              <a:t>és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RADIUS.</a:t>
            </a:r>
          </a:p>
          <a:p>
            <a:endParaRPr lang="en-US" sz="1200" dirty="0">
              <a:latin typeface="Times New Roman"/>
              <a:ea typeface="Calibri" panose="020F0502020204030204"/>
              <a:cs typeface="Times New Roman"/>
            </a:endParaRPr>
          </a:p>
          <a:p>
            <a:endParaRPr lang="en-US" sz="1200" dirty="0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US" sz="2400" b="1" dirty="0">
                <a:latin typeface="Times New Roman"/>
                <a:cs typeface="Times New Roman"/>
              </a:rPr>
              <a:t>3</a:t>
            </a:r>
            <a:r>
              <a:rPr lang="en-US" sz="2000" b="1" dirty="0">
                <a:latin typeface="Times New Roman"/>
                <a:cs typeface="Times New Roman"/>
              </a:rPr>
              <a:t>. </a:t>
            </a:r>
            <a:r>
              <a:rPr lang="en-US" sz="2000" b="1" err="1">
                <a:latin typeface="Times New Roman"/>
                <a:cs typeface="Times New Roman"/>
              </a:rPr>
              <a:t>Eszközpark</a:t>
            </a:r>
            <a:r>
              <a:rPr lang="en-US" sz="2000" b="1" dirty="0">
                <a:latin typeface="Times New Roman"/>
                <a:cs typeface="Times New Roman"/>
              </a:rPr>
              <a:t> </a:t>
            </a:r>
            <a:r>
              <a:rPr lang="en-US" sz="2000" b="1" err="1">
                <a:latin typeface="Times New Roman"/>
                <a:cs typeface="Times New Roman"/>
              </a:rPr>
              <a:t>és</a:t>
            </a:r>
            <a:r>
              <a:rPr lang="en-US" sz="2000" b="1" dirty="0">
                <a:latin typeface="Times New Roman"/>
                <a:cs typeface="Times New Roman"/>
              </a:rPr>
              <a:t> </a:t>
            </a:r>
            <a:r>
              <a:rPr lang="en-US" sz="2000" b="1" err="1">
                <a:latin typeface="Times New Roman"/>
                <a:cs typeface="Times New Roman"/>
              </a:rPr>
              <a:t>Konnektivitás</a:t>
            </a:r>
            <a:endParaRPr lang="en-US" sz="2000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US" sz="1600" b="1" err="1">
                <a:latin typeface="Times New Roman"/>
                <a:ea typeface="+mn-lt"/>
                <a:cs typeface="Times New Roman"/>
              </a:rPr>
              <a:t>Végpontok</a:t>
            </a:r>
            <a:r>
              <a:rPr lang="en-US" sz="1600" b="1" dirty="0">
                <a:latin typeface="Times New Roman"/>
                <a:ea typeface="+mn-lt"/>
                <a:cs typeface="Times New Roman"/>
              </a:rPr>
              <a:t>: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PC, Laptop, IP-</a:t>
            </a:r>
            <a:r>
              <a:rPr lang="en-US" sz="1600" err="1">
                <a:latin typeface="Times New Roman"/>
                <a:ea typeface="+mn-lt"/>
                <a:cs typeface="Times New Roman"/>
              </a:rPr>
              <a:t>telefon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, Mobil </a:t>
            </a:r>
            <a:r>
              <a:rPr lang="en-US" sz="1600" err="1">
                <a:latin typeface="Times New Roman"/>
                <a:ea typeface="+mn-lt"/>
                <a:cs typeface="Times New Roman"/>
              </a:rPr>
              <a:t>eszközök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.</a:t>
            </a:r>
          </a:p>
          <a:p>
            <a:r>
              <a:rPr lang="en-US" sz="1600" b="1" dirty="0">
                <a:latin typeface="Times New Roman"/>
                <a:ea typeface="+mn-lt"/>
                <a:cs typeface="Times New Roman"/>
              </a:rPr>
              <a:t>WLAN: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WLC </a:t>
            </a:r>
            <a:r>
              <a:rPr lang="en-US" sz="1600" err="1">
                <a:latin typeface="Times New Roman"/>
                <a:ea typeface="+mn-lt"/>
                <a:cs typeface="Times New Roman"/>
              </a:rPr>
              <a:t>vezérelt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Lightweight Access </a:t>
            </a:r>
            <a:r>
              <a:rPr lang="en-US" sz="1600" err="1">
                <a:latin typeface="Times New Roman"/>
                <a:ea typeface="+mn-lt"/>
                <a:cs typeface="Times New Roman"/>
              </a:rPr>
              <a:t>Pointok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(LAP).</a:t>
            </a:r>
          </a:p>
          <a:p>
            <a:r>
              <a:rPr lang="en-US" sz="1600" b="1" err="1">
                <a:latin typeface="Times New Roman"/>
                <a:ea typeface="+mn-lt"/>
                <a:cs typeface="Times New Roman"/>
              </a:rPr>
              <a:t>Menedzsment</a:t>
            </a:r>
            <a:r>
              <a:rPr lang="en-US" sz="1600" b="1" dirty="0">
                <a:latin typeface="Times New Roman"/>
                <a:ea typeface="+mn-lt"/>
                <a:cs typeface="Times New Roman"/>
              </a:rPr>
              <a:t>: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1600" err="1">
                <a:latin typeface="Times New Roman"/>
                <a:ea typeface="+mn-lt"/>
                <a:cs typeface="Times New Roman"/>
              </a:rPr>
              <a:t>Elkülönített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LAN </a:t>
            </a:r>
            <a:r>
              <a:rPr lang="en-US" sz="1600" err="1">
                <a:latin typeface="Times New Roman"/>
                <a:ea typeface="+mn-lt"/>
                <a:cs typeface="Times New Roman"/>
              </a:rPr>
              <a:t>és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1600" err="1">
                <a:latin typeface="Times New Roman"/>
                <a:ea typeface="+mn-lt"/>
                <a:cs typeface="Times New Roman"/>
              </a:rPr>
              <a:t>WiFi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IP-</a:t>
            </a:r>
            <a:r>
              <a:rPr lang="en-US" sz="1600" err="1">
                <a:latin typeface="Times New Roman"/>
                <a:ea typeface="+mn-lt"/>
                <a:cs typeface="Times New Roman"/>
              </a:rPr>
              <a:t>tartományok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.</a:t>
            </a:r>
            <a:endParaRPr lang="en-US" sz="1600">
              <a:latin typeface="Times New Roman"/>
              <a:ea typeface="+mn-lt"/>
              <a:cs typeface="Times New Roman"/>
            </a:endParaRPr>
          </a:p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050" b="1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SzPct val="100000"/>
            </a:pPr>
            <a:endParaRPr lang="en-US" sz="60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" name="Kép 4" descr="A képen szöveg, diagram, térkép, Tervrajz látható&#10;&#10;Lehet, hogy az AI által létrehozott tartalom helytelen.">
            <a:extLst>
              <a:ext uri="{FF2B5EF4-FFF2-40B4-BE49-F238E27FC236}">
                <a16:creationId xmlns:a16="http://schemas.microsoft.com/office/drawing/2014/main" id="{C8C20701-DA26-815B-5F16-866513D792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1" t="2" r="4024" b="4835"/>
          <a:stretch>
            <a:fillRect/>
          </a:stretch>
        </p:blipFill>
        <p:spPr>
          <a:xfrm>
            <a:off x="4398922" y="1360144"/>
            <a:ext cx="4571694" cy="4137480"/>
          </a:xfrm>
          <a:prstGeom prst="roundRect">
            <a:avLst>
              <a:gd name="adj" fmla="val 4380"/>
            </a:avLst>
          </a:prstGeom>
          <a:solidFill>
            <a:srgbClr val="FFFFFF"/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8854576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F00CBAD-C824-328F-AB85-791B92EBB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95" y="-167928"/>
            <a:ext cx="6477923" cy="10355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u-HU" sz="2200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2. DMZ (Demilitarizált Zóna)</a:t>
            </a:r>
            <a:endParaRPr lang="hu-HU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3EC8F54-B4D1-BB05-3D14-A38DB73C2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96" y="682476"/>
            <a:ext cx="3888419" cy="3179115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DMZ Hálózati Összefoglaló</a:t>
            </a:r>
            <a:endParaRPr lang="hu-HU" b="1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hu-HU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Funkció:</a:t>
            </a:r>
            <a:r>
              <a:rPr lang="hu-HU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Publikus szerverek izolációja a belső hálótól.</a:t>
            </a:r>
            <a:endParaRPr lang="hu-HU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hu-HU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Eszköz:</a:t>
            </a:r>
            <a:r>
              <a:rPr lang="hu-HU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Cisco 2960 (</a:t>
            </a:r>
            <a:r>
              <a:rPr lang="hu-HU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Dedicated</a:t>
            </a:r>
            <a:r>
              <a:rPr lang="hu-HU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DMZ-SW).</a:t>
            </a:r>
            <a:endParaRPr lang="hu-HU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hu-HU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Hálózat:</a:t>
            </a:r>
            <a:r>
              <a:rPr lang="hu-HU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hu-HU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10.11.11.0/27</a:t>
            </a:r>
            <a:r>
              <a:rPr lang="hu-HU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(Maszk: </a:t>
            </a:r>
            <a:r>
              <a:rPr lang="hu-HU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255.255.255.224</a:t>
            </a:r>
            <a:r>
              <a:rPr lang="hu-HU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).</a:t>
            </a:r>
            <a:endParaRPr lang="hu-HU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hu-HU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Tartomány:</a:t>
            </a:r>
            <a:r>
              <a:rPr lang="hu-HU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hu-HU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10.11.11.1 – 10.11.11.30</a:t>
            </a:r>
            <a:r>
              <a:rPr lang="hu-HU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.</a:t>
            </a:r>
            <a:endParaRPr lang="hu-HU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algn="ctr">
              <a:lnSpc>
                <a:spcPct val="90000"/>
              </a:lnSpc>
              <a:buClr>
                <a:srgbClr val="FFFFFF"/>
              </a:buClr>
            </a:pPr>
            <a:endParaRPr lang="hu-HU" sz="1400" dirty="0">
              <a:ea typeface="Calibri"/>
              <a:cs typeface="Calibri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1BFAAFFD-61B1-2A1A-01B3-E259BEF30701}"/>
              </a:ext>
            </a:extLst>
          </p:cNvPr>
          <p:cNvSpPr txBox="1"/>
          <p:nvPr/>
        </p:nvSpPr>
        <p:spPr>
          <a:xfrm>
            <a:off x="4608" y="3966207"/>
            <a:ext cx="4328977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Cél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hu-H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Publikus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szolgáltatások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(WEB, EMAIL, FTP, APP, NAS)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biztonságos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elszigetelése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belső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hálózattól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endParaRPr lang="hu-HU" dirty="0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C4F57B1A-9463-4369-9035-98064D34C17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65" t="2726" r="3505" b="1994"/>
          <a:stretch/>
        </p:blipFill>
        <p:spPr>
          <a:xfrm>
            <a:off x="4328976" y="3000652"/>
            <a:ext cx="4821686" cy="3857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3293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9D749A0-9EF0-46DB-B604-50BE44312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90" y="559293"/>
            <a:ext cx="4319524" cy="6219716"/>
          </a:xfrm>
        </p:spPr>
        <p:txBody>
          <a:bodyPr>
            <a:normAutofit fontScale="90000"/>
          </a:bodyPr>
          <a:lstStyle/>
          <a:p>
            <a:br>
              <a:rPr lang="hu-HU" b="1" dirty="0">
                <a:ea typeface="+mn-lt"/>
                <a:cs typeface="+mn-lt"/>
              </a:rPr>
            </a:br>
            <a:br>
              <a:rPr lang="hu-HU" dirty="0">
                <a:ea typeface="Calibri" panose="020F0502020204030204"/>
                <a:cs typeface="Calibri" panose="020F0502020204030204"/>
              </a:rPr>
            </a:br>
            <a:r>
              <a:rPr lang="hu-HU" sz="2200" b="1" dirty="0">
                <a:ea typeface="+mn-lt"/>
                <a:cs typeface="+mn-lt"/>
              </a:rPr>
              <a:t>WEB:</a:t>
            </a:r>
            <a:r>
              <a:rPr lang="hu-HU" sz="2200" dirty="0">
                <a:ea typeface="+mn-lt"/>
                <a:cs typeface="+mn-lt"/>
              </a:rPr>
              <a:t> Honlap (HTTP/S)</a:t>
            </a:r>
            <a:br>
              <a:rPr lang="hu-HU" sz="2200" dirty="0">
                <a:ea typeface="+mn-lt"/>
                <a:cs typeface="+mn-lt"/>
              </a:rPr>
            </a:br>
            <a:br>
              <a:rPr lang="hu-HU" sz="2200" dirty="0">
                <a:ea typeface="Calibri" panose="020F0502020204030204"/>
                <a:cs typeface="Calibri" panose="020F0502020204030204"/>
              </a:rPr>
            </a:br>
            <a:r>
              <a:rPr lang="hu-HU" sz="2200" b="1" dirty="0">
                <a:ea typeface="+mn-lt"/>
                <a:cs typeface="+mn-lt"/>
              </a:rPr>
              <a:t>EMAIL:</a:t>
            </a:r>
            <a:r>
              <a:rPr lang="hu-HU" sz="2200" dirty="0">
                <a:ea typeface="+mn-lt"/>
                <a:cs typeface="+mn-lt"/>
              </a:rPr>
              <a:t> Levelezés (SMTP/IMAP)</a:t>
            </a:r>
            <a:br>
              <a:rPr lang="hu-HU" sz="2200" dirty="0">
                <a:ea typeface="+mn-lt"/>
                <a:cs typeface="+mn-lt"/>
              </a:rPr>
            </a:br>
            <a:br>
              <a:rPr lang="hu-HU" sz="2200" dirty="0">
                <a:ea typeface="Calibri" panose="020F0502020204030204"/>
                <a:cs typeface="Calibri" panose="020F0502020204030204"/>
              </a:rPr>
            </a:br>
            <a:r>
              <a:rPr lang="hu-HU" sz="2200" b="1" dirty="0">
                <a:ea typeface="+mn-lt"/>
                <a:cs typeface="+mn-lt"/>
              </a:rPr>
              <a:t>FTP:</a:t>
            </a:r>
            <a:r>
              <a:rPr lang="hu-HU" sz="2200" dirty="0">
                <a:ea typeface="+mn-lt"/>
                <a:cs typeface="+mn-lt"/>
              </a:rPr>
              <a:t> Fájlküldés (SFTP)</a:t>
            </a:r>
            <a:br>
              <a:rPr lang="hu-HU" sz="2200" dirty="0">
                <a:ea typeface="+mn-lt"/>
                <a:cs typeface="+mn-lt"/>
              </a:rPr>
            </a:br>
            <a:br>
              <a:rPr lang="hu-HU" sz="2200" dirty="0">
                <a:ea typeface="Calibri" panose="020F0502020204030204"/>
                <a:cs typeface="Calibri" panose="020F0502020204030204"/>
              </a:rPr>
            </a:br>
            <a:r>
              <a:rPr lang="hu-HU" sz="2200" b="1" dirty="0">
                <a:ea typeface="+mn-lt"/>
                <a:cs typeface="+mn-lt"/>
              </a:rPr>
              <a:t>APP:</a:t>
            </a:r>
            <a:r>
              <a:rPr lang="hu-HU" sz="2200" dirty="0">
                <a:ea typeface="+mn-lt"/>
                <a:cs typeface="+mn-lt"/>
              </a:rPr>
              <a:t> Üzleti appok (API)</a:t>
            </a:r>
            <a:br>
              <a:rPr lang="hu-HU" sz="2200" dirty="0">
                <a:ea typeface="+mn-lt"/>
                <a:cs typeface="+mn-lt"/>
              </a:rPr>
            </a:br>
            <a:br>
              <a:rPr lang="hu-HU" sz="2200" dirty="0">
                <a:ea typeface="Calibri" panose="020F0502020204030204"/>
                <a:cs typeface="Calibri" panose="020F0502020204030204"/>
              </a:rPr>
            </a:br>
            <a:r>
              <a:rPr lang="hu-HU" sz="2200" b="1" dirty="0">
                <a:ea typeface="+mn-lt"/>
                <a:cs typeface="+mn-lt"/>
              </a:rPr>
              <a:t>NAS-STORAGE:</a:t>
            </a:r>
            <a:r>
              <a:rPr lang="hu-HU" sz="2200" dirty="0">
                <a:ea typeface="+mn-lt"/>
                <a:cs typeface="+mn-lt"/>
              </a:rPr>
              <a:t> Központi tároló (NFS/SMB)</a:t>
            </a:r>
            <a:br>
              <a:rPr lang="hu-HU" sz="2200" dirty="0">
                <a:ea typeface="+mn-lt"/>
                <a:cs typeface="+mn-lt"/>
              </a:rPr>
            </a:br>
            <a:br>
              <a:rPr lang="hu-HU" sz="2200" dirty="0">
                <a:ea typeface="Calibri" panose="020F0502020204030204"/>
                <a:cs typeface="Calibri" panose="020F0502020204030204"/>
              </a:rPr>
            </a:br>
            <a:r>
              <a:rPr lang="hu-HU" sz="2200" b="1" dirty="0">
                <a:ea typeface="+mn-lt"/>
                <a:cs typeface="+mn-lt"/>
              </a:rPr>
              <a:t>Biztonság:</a:t>
            </a:r>
            <a:r>
              <a:rPr lang="hu-HU" sz="2200" dirty="0">
                <a:ea typeface="+mn-lt"/>
                <a:cs typeface="+mn-lt"/>
              </a:rPr>
              <a:t> VLAN alapú szegmentálás + Tűzfalas tiltás a belső háló felé.</a:t>
            </a:r>
            <a:br>
              <a:rPr lang="hu-HU" dirty="0">
                <a:ea typeface="Calibri" panose="020F0502020204030204"/>
                <a:cs typeface="Calibri" panose="020F0502020204030204"/>
              </a:rPr>
            </a:br>
            <a:br>
              <a:rPr lang="hu-HU" b="1" dirty="0">
                <a:ea typeface="Calibri"/>
                <a:cs typeface="Calibri"/>
              </a:rPr>
            </a:br>
            <a:endParaRPr lang="hu-HU" dirty="0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F79541FD-9A55-4144-9A08-A4D099B7EFE0}"/>
              </a:ext>
            </a:extLst>
          </p:cNvPr>
          <p:cNvSpPr txBox="1"/>
          <p:nvPr/>
        </p:nvSpPr>
        <p:spPr>
          <a:xfrm>
            <a:off x="86895" y="78991"/>
            <a:ext cx="47273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32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Kiszolgálók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Kép 15">
            <a:extLst>
              <a:ext uri="{FF2B5EF4-FFF2-40B4-BE49-F238E27FC236}">
                <a16:creationId xmlns:a16="http://schemas.microsoft.com/office/drawing/2014/main" id="{EF9D1345-A590-48B2-AEB3-06B7DE1857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654"/>
          <a:stretch/>
        </p:blipFill>
        <p:spPr>
          <a:xfrm>
            <a:off x="4023933" y="878889"/>
            <a:ext cx="4887850" cy="423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025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3F2E6F-2BB9-F685-8001-5D2CBD67A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87138" y="367481"/>
            <a:ext cx="8656861" cy="648071"/>
          </a:xfrm>
        </p:spPr>
        <p:txBody>
          <a:bodyPr anchor="b">
            <a:noAutofit/>
          </a:bodyPr>
          <a:lstStyle/>
          <a:p>
            <a:r>
              <a:rPr lang="hu-HU" sz="2000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A hálózat "Agya" avagy Maghálózati redundancia és vezérlés</a:t>
            </a:r>
            <a:endParaRPr lang="hu-HU" sz="2000" b="1" dirty="0"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79A1CBF-8DFC-723C-C49D-E03120487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70" y="1441660"/>
            <a:ext cx="8017668" cy="255329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hu-HU" sz="16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Eszközök:</a:t>
            </a:r>
            <a:r>
              <a:rPr lang="hu-HU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2 darab Cisco 3560 </a:t>
            </a:r>
            <a:r>
              <a:rPr lang="hu-HU" sz="1600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Multilayer</a:t>
            </a:r>
            <a:r>
              <a:rPr lang="hu-HU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hu-HU" sz="1600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Switch</a:t>
            </a:r>
            <a:r>
              <a:rPr lang="hu-HU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(CORE-SW1, CORE-SW2).</a:t>
            </a:r>
          </a:p>
          <a:p>
            <a:pPr marL="0" indent="0">
              <a:lnSpc>
                <a:spcPct val="90000"/>
              </a:lnSpc>
              <a:buNone/>
            </a:pPr>
            <a:endParaRPr lang="hu-HU" sz="1600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hu-HU" sz="1600" b="1" u="sng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Alkalmazott technológiák:</a:t>
            </a: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endParaRPr lang="hu-H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hu-HU" sz="16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LACP (</a:t>
            </a:r>
            <a:r>
              <a:rPr lang="hu-HU" sz="1600" b="1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EtherChannel</a:t>
            </a:r>
            <a:r>
              <a:rPr lang="hu-HU" sz="16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):</a:t>
            </a:r>
            <a:r>
              <a:rPr lang="hu-HU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Többszörös linkek összefogása a nagy sávszélességért.</a:t>
            </a: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endParaRPr lang="hu-H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hu-HU" sz="16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HSRP:</a:t>
            </a:r>
            <a:r>
              <a:rPr lang="hu-HU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Virtuális alapértelmezett átjáró (</a:t>
            </a:r>
            <a:r>
              <a:rPr lang="hu-HU" sz="1600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Gateway</a:t>
            </a:r>
            <a:r>
              <a:rPr lang="hu-HU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) a folyamatos üzemért.</a:t>
            </a: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endParaRPr lang="hu-H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hu-HU" sz="16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WLAN Kontroller (WLC):</a:t>
            </a:r>
            <a:r>
              <a:rPr lang="hu-HU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Központi egység az összes emeleti </a:t>
            </a:r>
            <a:r>
              <a:rPr lang="hu-HU" sz="1600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Wi</a:t>
            </a:r>
            <a:r>
              <a:rPr lang="hu-HU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-Fi pont kezelésére.</a:t>
            </a:r>
            <a:endParaRPr lang="hu-H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hu-HU" sz="1200" dirty="0">
              <a:ea typeface="Calibri"/>
              <a:cs typeface="Calibri"/>
            </a:endParaRPr>
          </a:p>
        </p:txBody>
      </p:sp>
      <p:pic>
        <p:nvPicPr>
          <p:cNvPr id="4" name="Kép 3" descr="A képen diagram, szöveg, sor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3918FF0D-13B8-CCAF-48F0-90A93C082C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5" t="17873" r="4815" b="16624"/>
          <a:stretch/>
        </p:blipFill>
        <p:spPr>
          <a:xfrm>
            <a:off x="0" y="5220070"/>
            <a:ext cx="9144000" cy="1637930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302410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043DBFC-A45E-5E84-C5C1-0443432CE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8" y="-174711"/>
            <a:ext cx="8838272" cy="14533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u-HU" sz="2400">
                <a:ea typeface="+mj-lt"/>
                <a:cs typeface="+mj-lt"/>
              </a:rPr>
              <a:t>Első emelet (Kék &amp; Zöld blokk) Értékesítés, HR és Logisztika</a:t>
            </a:r>
            <a:endParaRPr lang="hu-HU" sz="2400">
              <a:ea typeface="Calibri Light"/>
              <a:cs typeface="Calibri Light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7FBDB14-8E79-9DEE-05B4-091BA64B2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38" y="1713390"/>
            <a:ext cx="4909350" cy="3755254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endParaRPr lang="hu-HU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en-US" sz="1900" b="1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Végponti</a:t>
            </a:r>
            <a:r>
              <a:rPr lang="en-US" sz="19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US" sz="1900" b="1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eszközök</a:t>
            </a:r>
            <a:r>
              <a:rPr lang="en-US" sz="19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:</a:t>
            </a:r>
            <a:endParaRPr lang="en-US" sz="19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en-US" sz="1900" b="1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Vezetékes</a:t>
            </a:r>
            <a:r>
              <a:rPr lang="en-US" sz="19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PC-k </a:t>
            </a:r>
            <a:r>
              <a:rPr lang="en-US" sz="1900" b="1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és</a:t>
            </a:r>
            <a:r>
              <a:rPr lang="en-US" sz="19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US" sz="1900" b="1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Laptopok</a:t>
            </a:r>
            <a:r>
              <a:rPr lang="en-US" sz="19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.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en-US" sz="1900" b="1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Hálózati</a:t>
            </a:r>
            <a:r>
              <a:rPr lang="en-US" sz="19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US" sz="1900" b="1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nyomtatók</a:t>
            </a:r>
            <a:r>
              <a:rPr lang="en-US" sz="19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US" sz="19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(MK-PR, HR-PR).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en-US" sz="1900" b="1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Mobileszközök</a:t>
            </a:r>
            <a:r>
              <a:rPr lang="en-US" sz="19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US" sz="19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(</a:t>
            </a:r>
            <a:r>
              <a:rPr lang="en-US" sz="1900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Tabletek</a:t>
            </a:r>
            <a:r>
              <a:rPr lang="en-US" sz="19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 </a:t>
            </a:r>
            <a:r>
              <a:rPr lang="en-US" sz="1900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Okostelefonok</a:t>
            </a:r>
            <a:r>
              <a:rPr lang="en-US" sz="19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).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en-US" sz="1900" b="1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Kommunikáció</a:t>
            </a:r>
            <a:r>
              <a:rPr lang="en-US" sz="19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:</a:t>
            </a:r>
            <a:r>
              <a:rPr lang="en-US" sz="19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IP </a:t>
            </a:r>
            <a:r>
              <a:rPr lang="en-US" sz="1900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telefonok</a:t>
            </a:r>
            <a:r>
              <a:rPr lang="en-US" sz="19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minden</a:t>
            </a:r>
            <a:r>
              <a:rPr lang="en-US" sz="19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asztalnál</a:t>
            </a:r>
            <a:r>
              <a:rPr lang="en-US" sz="19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(VoIP </a:t>
            </a:r>
            <a:r>
              <a:rPr lang="en-US" sz="1900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hálózat</a:t>
            </a:r>
            <a:r>
              <a:rPr lang="en-US" sz="19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).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en-US" sz="19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Wi-Fi:</a:t>
            </a:r>
            <a:r>
              <a:rPr lang="en-US" sz="19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Dedikált </a:t>
            </a:r>
            <a:r>
              <a:rPr lang="en-US" sz="1900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hozzáférési</a:t>
            </a:r>
            <a:r>
              <a:rPr lang="en-US" sz="19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pontok</a:t>
            </a:r>
            <a:r>
              <a:rPr lang="en-US" sz="19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(Access Points).</a:t>
            </a:r>
          </a:p>
          <a:p>
            <a:pPr>
              <a:buClr>
                <a:srgbClr val="FFFFFF"/>
              </a:buClr>
            </a:pPr>
            <a:endParaRPr lang="en-US" sz="1900" dirty="0">
              <a:ea typeface="Calibri"/>
              <a:cs typeface="Calibri"/>
            </a:endParaRPr>
          </a:p>
        </p:txBody>
      </p:sp>
      <p:pic>
        <p:nvPicPr>
          <p:cNvPr id="4" name="Tartalom helye 3" descr="A képen szöveg, diagram, sor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BA03CCED-1A7E-7E33-3819-7EDF18BC4B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15" t="4784" r="6685" b="7555"/>
          <a:stretch/>
        </p:blipFill>
        <p:spPr>
          <a:xfrm>
            <a:off x="5019909" y="1373819"/>
            <a:ext cx="3982049" cy="4110361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49E4FB92-4F9D-476D-9E25-B6F78AE4DF68}"/>
              </a:ext>
            </a:extLst>
          </p:cNvPr>
          <p:cNvSpPr txBox="1"/>
          <p:nvPr/>
        </p:nvSpPr>
        <p:spPr>
          <a:xfrm>
            <a:off x="0" y="736794"/>
            <a:ext cx="48560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hu-HU" sz="1800" b="1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Részlegek</a:t>
            </a:r>
            <a:r>
              <a:rPr lang="en-US" sz="18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:</a:t>
            </a:r>
            <a:endParaRPr lang="hu-HU" sz="1800" b="1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hu-HU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   </a:t>
            </a:r>
            <a:r>
              <a:rPr lang="en-US" sz="1800" b="1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Eladás</a:t>
            </a:r>
            <a:r>
              <a:rPr lang="en-US" sz="18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&amp; Marketing, </a:t>
            </a:r>
            <a:r>
              <a:rPr lang="en-US" sz="1800" b="1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HR&amp;Logisztika</a:t>
            </a:r>
            <a:r>
              <a:rPr lang="en-US" sz="18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.</a:t>
            </a:r>
            <a:endParaRPr lang="hu-HU" sz="1800" b="1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18055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Picture 106">
            <a:extLst>
              <a:ext uri="{FF2B5EF4-FFF2-40B4-BE49-F238E27FC236}">
                <a16:creationId xmlns:a16="http://schemas.microsoft.com/office/drawing/2014/main" id="{6AF6706C-CF07-43A1-BCC4-CBA5D3382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21C90E75-A1BA-FA95-6857-87B402BC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5410" y="745721"/>
            <a:ext cx="4554245" cy="577936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marL="285750" indent="-285750">
              <a:lnSpc>
                <a:spcPct val="90000"/>
              </a:lnSpc>
            </a:pPr>
            <a:br>
              <a:rPr lang="en-US" sz="1200" b="1" dirty="0"/>
            </a:br>
            <a:br>
              <a:rPr lang="en-US" sz="1200" b="1" dirty="0"/>
            </a:br>
            <a:br>
              <a:rPr lang="en-US" sz="1200" b="1" dirty="0"/>
            </a:br>
            <a:endParaRPr lang="en-US" sz="3600" dirty="0"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</a:pPr>
            <a:br>
              <a:rPr lang="en-US" sz="1200" b="1" dirty="0"/>
            </a:br>
            <a:br>
              <a:rPr lang="en-US" sz="1200" b="1" dirty="0"/>
            </a:b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Részlegek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hu-H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Pénzügy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Számvitel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Admin &amp;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Kapcsolatok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Felépítés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első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emelettel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megegyező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struktúra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standardizált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kiépítés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b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Hálózat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VLAN-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alapú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szegmentálás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b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adatok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védelmében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Eszközök</a:t>
            </a:r>
            <a:r>
              <a:rPr lang="hu-H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Saját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Access Switch-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(FIN-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SW, ADM-SW)</a:t>
            </a:r>
            <a:b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biztosítják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kapcsolatot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Core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felé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E5660913-C9EB-F52C-304E-C0C59774A102}"/>
              </a:ext>
            </a:extLst>
          </p:cNvPr>
          <p:cNvSpPr txBox="1"/>
          <p:nvPr/>
        </p:nvSpPr>
        <p:spPr>
          <a:xfrm>
            <a:off x="2219417" y="109869"/>
            <a:ext cx="4226870" cy="52598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spcAft>
                <a:spcPts val="1000"/>
              </a:spcAft>
              <a:buClr>
                <a:prstClr val="white"/>
              </a:buClr>
              <a:buSzPct val="100000"/>
            </a:pPr>
            <a:r>
              <a:rPr lang="en-US" b="1" cap="all" baseline="0" dirty="0"/>
              <a:t>2. </a:t>
            </a:r>
            <a:r>
              <a:rPr lang="en-US" b="1" cap="all" baseline="0" dirty="0" err="1"/>
              <a:t>Emelet</a:t>
            </a:r>
            <a:r>
              <a:rPr lang="en-US" b="1" cap="all" baseline="0" dirty="0"/>
              <a:t> (</a:t>
            </a:r>
            <a:r>
              <a:rPr lang="en-US" b="1" cap="all" baseline="0" dirty="0" err="1"/>
              <a:t>Világoskék</a:t>
            </a:r>
            <a:r>
              <a:rPr lang="en-US" b="1" cap="all" baseline="0" dirty="0"/>
              <a:t>/</a:t>
            </a:r>
            <a:r>
              <a:rPr lang="en-US" b="1" cap="all" baseline="0" dirty="0" err="1"/>
              <a:t>Világoszöld</a:t>
            </a:r>
            <a:endParaRPr lang="en-US" cap="all" dirty="0">
              <a:ea typeface="Calibri"/>
              <a:cs typeface="Calibri"/>
            </a:endParaRPr>
          </a:p>
          <a:p>
            <a:pPr algn="r">
              <a:spcAft>
                <a:spcPts val="1000"/>
              </a:spcAft>
              <a:buClr>
                <a:schemeClr val="tx1"/>
              </a:buClr>
              <a:buSzPct val="100000"/>
            </a:pPr>
            <a:endParaRPr lang="en-US" cap="all" dirty="0"/>
          </a:p>
        </p:txBody>
      </p:sp>
      <p:pic>
        <p:nvPicPr>
          <p:cNvPr id="4" name="Kép 3" descr="A képen szöveg, diagram, képernyőkép, térkép látható&#10;&#10;Lehet, hogy az AI által létrehozott tartalom helytelen.">
            <a:extLst>
              <a:ext uri="{FF2B5EF4-FFF2-40B4-BE49-F238E27FC236}">
                <a16:creationId xmlns:a16="http://schemas.microsoft.com/office/drawing/2014/main" id="{092D4F49-30BC-B6AB-9A9C-14527C160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985" y="954969"/>
            <a:ext cx="4038952" cy="4948062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738944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F2C73EA-7940-C3FA-BAC0-4B653DEAE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294" y="2309620"/>
            <a:ext cx="2828925" cy="3199925"/>
          </a:xfrm>
        </p:spPr>
        <p:txBody>
          <a:bodyPr anchor="b">
            <a:normAutofit fontScale="90000"/>
          </a:bodyPr>
          <a:lstStyle/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hu-HU" sz="1800" b="1" dirty="0">
                <a:ea typeface="+mj-lt"/>
                <a:cs typeface="+mj-lt"/>
              </a:rPr>
              <a:t>Informatikai osztály (ICT):</a:t>
            </a:r>
            <a:r>
              <a:rPr lang="hu-HU" sz="1800" dirty="0">
                <a:ea typeface="+mj-lt"/>
                <a:cs typeface="+mj-lt"/>
              </a:rPr>
              <a:t> Operatív felügyelet és fejlesztés.</a:t>
            </a:r>
            <a:br>
              <a:rPr lang="hu-HU" sz="1800" dirty="0">
                <a:ea typeface="+mj-lt"/>
                <a:cs typeface="+mj-lt"/>
              </a:rPr>
            </a:br>
            <a:endParaRPr lang="hu-HU" sz="1800">
              <a:ea typeface="Calibri Light"/>
              <a:cs typeface="Calibri Light"/>
            </a:endParaRPr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hu-HU" sz="1800" b="1" dirty="0">
                <a:ea typeface="+mj-lt"/>
                <a:cs typeface="+mj-lt"/>
              </a:rPr>
              <a:t>Belső hálózati szolgáltatások (Server-SW):</a:t>
            </a:r>
            <a:endParaRPr lang="hu-HU" sz="1800" dirty="0">
              <a:ea typeface="Calibri Light"/>
              <a:cs typeface="Calibri Light"/>
            </a:endParaRPr>
          </a:p>
          <a:p>
            <a:pPr marL="285750" lvl="1" indent="-285750">
              <a:lnSpc>
                <a:spcPct val="90000"/>
              </a:lnSpc>
              <a:buFont typeface="Arial"/>
              <a:buChar char="•"/>
            </a:pPr>
            <a:r>
              <a:rPr lang="hu-HU" b="1" dirty="0">
                <a:latin typeface="+mj-lt"/>
                <a:ea typeface="+mj-lt"/>
                <a:cs typeface="+mj-lt"/>
              </a:rPr>
              <a:t>DHCP Szerver:</a:t>
            </a:r>
            <a:r>
              <a:rPr lang="hu-HU" dirty="0">
                <a:latin typeface="+mj-lt"/>
                <a:ea typeface="+mj-lt"/>
                <a:cs typeface="+mj-lt"/>
              </a:rPr>
              <a:t> Automatikus IP-cím kiosztás a klienseknek.</a:t>
            </a:r>
            <a:endParaRPr lang="hu-HU" dirty="0"/>
          </a:p>
          <a:p>
            <a:pPr marL="285750" lvl="1" indent="-285750">
              <a:lnSpc>
                <a:spcPct val="90000"/>
              </a:lnSpc>
              <a:buFont typeface="Arial"/>
              <a:buChar char="•"/>
            </a:pPr>
            <a:r>
              <a:rPr lang="hu-HU" b="1" dirty="0">
                <a:latin typeface="+mj-lt"/>
                <a:ea typeface="+mj-lt"/>
                <a:cs typeface="+mj-lt"/>
              </a:rPr>
              <a:t>DNS Szerver:</a:t>
            </a:r>
            <a:r>
              <a:rPr lang="hu-HU" dirty="0">
                <a:latin typeface="+mj-lt"/>
                <a:ea typeface="+mj-lt"/>
                <a:cs typeface="+mj-lt"/>
              </a:rPr>
              <a:t> Belső és külső névfeloldás.</a:t>
            </a:r>
            <a:endParaRPr lang="hu-HU" dirty="0"/>
          </a:p>
          <a:p>
            <a:pPr marL="285750" lvl="1" indent="-285750">
              <a:lnSpc>
                <a:spcPct val="90000"/>
              </a:lnSpc>
              <a:buFont typeface="Arial"/>
              <a:buChar char="•"/>
            </a:pPr>
            <a:r>
              <a:rPr lang="hu-HU" b="1" dirty="0">
                <a:latin typeface="+mj-lt"/>
                <a:ea typeface="+mj-lt"/>
                <a:cs typeface="+mj-lt"/>
              </a:rPr>
              <a:t>RADIUS Szerver:</a:t>
            </a:r>
            <a:r>
              <a:rPr lang="hu-HU" dirty="0">
                <a:latin typeface="+mj-lt"/>
                <a:ea typeface="+mj-lt"/>
                <a:cs typeface="+mj-lt"/>
              </a:rPr>
              <a:t> Felhasználói hitelesítés és hálózati biztonság (AAA</a:t>
            </a:r>
            <a:r>
              <a:rPr lang="hu-HU" sz="1050" dirty="0">
                <a:latin typeface="+mj-lt"/>
                <a:ea typeface="+mj-lt"/>
                <a:cs typeface="+mj-lt"/>
              </a:rPr>
              <a:t>).</a:t>
            </a:r>
            <a:endParaRPr lang="hu-HU" sz="1050" dirty="0"/>
          </a:p>
          <a:p>
            <a:pPr>
              <a:lnSpc>
                <a:spcPct val="90000"/>
              </a:lnSpc>
            </a:pPr>
            <a:endParaRPr lang="hu-HU" sz="1000">
              <a:ea typeface="Calibri Light"/>
              <a:cs typeface="Calibri Light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7CE0F6E-BD88-5480-9A0F-F1347CCA7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205491" y="-472511"/>
            <a:ext cx="11791326" cy="27813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hu-HU" sz="2000" b="1" dirty="0">
                <a:latin typeface="Times New Roman"/>
                <a:ea typeface="+mn-lt"/>
                <a:cs typeface="Times New Roman"/>
              </a:rPr>
              <a:t>Harmadik emelet és IT központ       </a:t>
            </a:r>
            <a:r>
              <a:rPr lang="hu-HU" sz="2000" b="1" u="sng" dirty="0">
                <a:latin typeface="Times New Roman"/>
                <a:ea typeface="+mn-lt"/>
                <a:cs typeface="Times New Roman"/>
              </a:rPr>
              <a:t>(</a:t>
            </a:r>
            <a:r>
              <a:rPr lang="hu-HU" sz="2000" dirty="0">
                <a:ea typeface="+mn-lt"/>
                <a:cs typeface="+mn-lt"/>
              </a:rPr>
              <a:t>Informatikai Osztály és Belső Szerverek)</a:t>
            </a:r>
            <a:endParaRPr lang="hu-HU" sz="2000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Kép 3" descr="A képen szöveg, képernyőkép, diagram, Grafikus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2F494ED0-D9ED-01E6-E65D-D9CCF1227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015" y="2127555"/>
            <a:ext cx="5861904" cy="4831530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586195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8A886A89-8225-D4CB-F56F-DC9D1D0B4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120" y="1744"/>
            <a:ext cx="4711700" cy="593513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hu-HU" sz="3200" b="1" dirty="0"/>
              <a:t>Menedzsment Hálózat (Zöld zóna)</a:t>
            </a:r>
            <a:endParaRPr lang="hu-HU" sz="32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90000"/>
              </a:lnSpc>
              <a:buNone/>
            </a:pPr>
            <a:endParaRPr lang="hu-HU" b="1" dirty="0"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hu-HU" b="1" dirty="0">
                <a:ea typeface="+mn-lt"/>
                <a:cs typeface="+mn-lt"/>
              </a:rPr>
              <a:t>NET-SEC-PC (</a:t>
            </a:r>
            <a:r>
              <a:rPr lang="hu-HU" b="1" dirty="0">
                <a:latin typeface="Consolas"/>
              </a:rPr>
              <a:t>10.20.0.10</a:t>
            </a:r>
            <a:r>
              <a:rPr lang="hu-HU" b="1" dirty="0">
                <a:ea typeface="+mn-lt"/>
                <a:cs typeface="+mn-lt"/>
              </a:rPr>
              <a:t>):</a:t>
            </a:r>
            <a:r>
              <a:rPr lang="hu-HU" dirty="0">
                <a:ea typeface="+mn-lt"/>
                <a:cs typeface="+mn-lt"/>
              </a:rPr>
              <a:t> Központi adminisztrációs munkaállomás a hálózat felügyeletéhez.</a:t>
            </a:r>
            <a:endParaRPr lang="hu-HU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90000"/>
              </a:lnSpc>
              <a:buNone/>
            </a:pPr>
            <a:endParaRPr lang="hu-HU" dirty="0"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hu-HU" b="1" dirty="0">
                <a:ea typeface="+mn-lt"/>
                <a:cs typeface="+mn-lt"/>
              </a:rPr>
              <a:t>WLC-2504:</a:t>
            </a:r>
            <a:r>
              <a:rPr lang="hu-HU" dirty="0">
                <a:ea typeface="+mn-lt"/>
                <a:cs typeface="+mn-lt"/>
              </a:rPr>
              <a:t> Cisco </a:t>
            </a:r>
            <a:r>
              <a:rPr lang="hu-HU" err="1">
                <a:ea typeface="+mn-lt"/>
                <a:cs typeface="+mn-lt"/>
              </a:rPr>
              <a:t>Wireless</a:t>
            </a:r>
            <a:r>
              <a:rPr lang="hu-HU" dirty="0">
                <a:ea typeface="+mn-lt"/>
                <a:cs typeface="+mn-lt"/>
              </a:rPr>
              <a:t> LAN </a:t>
            </a:r>
            <a:r>
              <a:rPr lang="hu-HU" err="1">
                <a:ea typeface="+mn-lt"/>
                <a:cs typeface="+mn-lt"/>
              </a:rPr>
              <a:t>Controller</a:t>
            </a:r>
            <a:r>
              <a:rPr lang="hu-HU" dirty="0">
                <a:ea typeface="+mn-lt"/>
                <a:cs typeface="+mn-lt"/>
              </a:rPr>
              <a:t> a vállalati </a:t>
            </a:r>
            <a:r>
              <a:rPr lang="hu-HU" err="1">
                <a:ea typeface="+mn-lt"/>
                <a:cs typeface="+mn-lt"/>
              </a:rPr>
              <a:t>Wi</a:t>
            </a:r>
            <a:r>
              <a:rPr lang="hu-HU" dirty="0">
                <a:ea typeface="+mn-lt"/>
                <a:cs typeface="+mn-lt"/>
              </a:rPr>
              <a:t>-Fi hálózat és az AP-k központi vezérléséhez.</a:t>
            </a:r>
            <a:endParaRPr lang="hu-HU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90000"/>
              </a:lnSpc>
              <a:buNone/>
            </a:pPr>
            <a:endParaRPr lang="hu-HU" dirty="0"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hu-HU" b="1" dirty="0">
                <a:ea typeface="+mn-lt"/>
                <a:cs typeface="+mn-lt"/>
              </a:rPr>
              <a:t>2811 </a:t>
            </a:r>
            <a:r>
              <a:rPr lang="hu-HU" b="1" err="1">
                <a:ea typeface="+mn-lt"/>
                <a:cs typeface="+mn-lt"/>
              </a:rPr>
              <a:t>Voice</a:t>
            </a:r>
            <a:r>
              <a:rPr lang="hu-HU" b="1" dirty="0">
                <a:ea typeface="+mn-lt"/>
                <a:cs typeface="+mn-lt"/>
              </a:rPr>
              <a:t> </a:t>
            </a:r>
            <a:r>
              <a:rPr lang="hu-HU" b="1" err="1">
                <a:ea typeface="+mn-lt"/>
                <a:cs typeface="+mn-lt"/>
              </a:rPr>
              <a:t>Gateway</a:t>
            </a:r>
            <a:r>
              <a:rPr lang="hu-HU" b="1" dirty="0">
                <a:ea typeface="+mn-lt"/>
                <a:cs typeface="+mn-lt"/>
              </a:rPr>
              <a:t>:</a:t>
            </a:r>
            <a:r>
              <a:rPr lang="hu-HU" dirty="0">
                <a:ea typeface="+mn-lt"/>
                <a:cs typeface="+mn-lt"/>
              </a:rPr>
              <a:t> Cisco router a hangalapú (</a:t>
            </a:r>
            <a:r>
              <a:rPr lang="hu-HU" err="1">
                <a:ea typeface="+mn-lt"/>
                <a:cs typeface="+mn-lt"/>
              </a:rPr>
              <a:t>VoIP</a:t>
            </a:r>
            <a:r>
              <a:rPr lang="hu-HU" dirty="0">
                <a:ea typeface="+mn-lt"/>
                <a:cs typeface="+mn-lt"/>
              </a:rPr>
              <a:t>) forgalom és a telefonközpont kiszolgálására.</a:t>
            </a:r>
            <a:endParaRPr lang="hu-HU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90000"/>
              </a:lnSpc>
              <a:buNone/>
            </a:pPr>
            <a:endParaRPr lang="hu-HU" dirty="0"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hu-HU" dirty="0">
                <a:ea typeface="+mn-lt"/>
                <a:cs typeface="+mn-lt"/>
              </a:rPr>
              <a:t> Ez a zóna biztosítja a DMZ-</a:t>
            </a:r>
            <a:r>
              <a:rPr lang="hu-HU" err="1">
                <a:ea typeface="+mn-lt"/>
                <a:cs typeface="+mn-lt"/>
              </a:rPr>
              <a:t>től</a:t>
            </a:r>
            <a:r>
              <a:rPr lang="hu-HU" dirty="0">
                <a:ea typeface="+mn-lt"/>
                <a:cs typeface="+mn-lt"/>
              </a:rPr>
              <a:t> és a belső hálótól elszeparált, védett elérést a hálózati infrastruktúra (WLAN, </a:t>
            </a:r>
            <a:r>
              <a:rPr lang="hu-HU" err="1">
                <a:ea typeface="+mn-lt"/>
                <a:cs typeface="+mn-lt"/>
              </a:rPr>
              <a:t>Voice</a:t>
            </a:r>
            <a:r>
              <a:rPr lang="hu-HU" dirty="0">
                <a:ea typeface="+mn-lt"/>
                <a:cs typeface="+mn-lt"/>
              </a:rPr>
              <a:t>, Biztonság) konfigurálásáho</a:t>
            </a:r>
            <a:r>
              <a:rPr lang="hu-HU" sz="1300" dirty="0">
                <a:ea typeface="+mn-lt"/>
                <a:cs typeface="+mn-lt"/>
              </a:rPr>
              <a:t>z.</a:t>
            </a:r>
            <a:endParaRPr lang="hu-HU" sz="13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hu-HU" sz="1100">
              <a:ea typeface="Calibri"/>
              <a:cs typeface="Calibri"/>
            </a:endParaRPr>
          </a:p>
        </p:txBody>
      </p:sp>
      <p:pic>
        <p:nvPicPr>
          <p:cNvPr id="4" name="Kép 3" descr="A képen diagram, szöveg, kör, Grafika látható&#10;&#10;Lehet, hogy az AI által létrehozott tartalom helytelen.">
            <a:extLst>
              <a:ext uri="{FF2B5EF4-FFF2-40B4-BE49-F238E27FC236}">
                <a16:creationId xmlns:a16="http://schemas.microsoft.com/office/drawing/2014/main" id="{4571D455-9C13-2C13-E6A3-64FA408D2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6790" y="4443"/>
            <a:ext cx="4993549" cy="3097383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87049526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3BB3B83-F2EE-2D4F-1FCB-F9A4562AA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8779" y="144667"/>
            <a:ext cx="9232800" cy="9871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dirty="0">
                <a:latin typeface="Times New Roman"/>
                <a:ea typeface="+mj-lt"/>
                <a:cs typeface="Times New Roman"/>
              </a:rPr>
              <a:t>Külső Kapcsolat és Internet (INTERNET/CLOUD)</a:t>
            </a:r>
            <a:endParaRPr lang="hu-HU" dirty="0">
              <a:latin typeface="Times New Roman"/>
              <a:cs typeface="Times New Roman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D15119F-2732-8F89-3A03-D071365E3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151" y="1131867"/>
            <a:ext cx="8076225" cy="363793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hu-HU" sz="1600" b="1" dirty="0">
                <a:latin typeface="Times New Roman"/>
                <a:ea typeface="+mn-lt"/>
                <a:cs typeface="Times New Roman"/>
              </a:rPr>
              <a:t>Központi Felhő:</a:t>
            </a:r>
            <a:r>
              <a:rPr lang="hu-HU" sz="1600" dirty="0">
                <a:latin typeface="Times New Roman"/>
                <a:ea typeface="+mn-lt"/>
                <a:cs typeface="Times New Roman"/>
              </a:rPr>
              <a:t> A hálózat az </a:t>
            </a:r>
            <a:r>
              <a:rPr lang="hu-HU" sz="1600" dirty="0">
                <a:latin typeface="Times New Roman"/>
                <a:cs typeface="Times New Roman"/>
              </a:rPr>
              <a:t>8.0.0.0/8</a:t>
            </a:r>
            <a:r>
              <a:rPr lang="hu-HU" sz="1600" dirty="0">
                <a:latin typeface="Times New Roman"/>
                <a:ea typeface="+mn-lt"/>
                <a:cs typeface="Times New Roman"/>
              </a:rPr>
              <a:t> tartományon keresztül kapcsolódik a külvilághoz.</a:t>
            </a:r>
            <a:endParaRPr lang="hu-HU" sz="1600" dirty="0">
              <a:latin typeface="Times New Roman"/>
              <a:ea typeface="Calibri" panose="020F0502020204030204"/>
              <a:cs typeface="Times New Roman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hu-HU" sz="1600" b="1" dirty="0">
                <a:latin typeface="Times New Roman"/>
                <a:ea typeface="+mn-lt"/>
                <a:cs typeface="Times New Roman"/>
              </a:rPr>
              <a:t>USA-INTERNET-USER (</a:t>
            </a:r>
            <a:r>
              <a:rPr lang="hu-HU" sz="1600" b="1" dirty="0">
                <a:latin typeface="Times New Roman"/>
                <a:cs typeface="Times New Roman"/>
              </a:rPr>
              <a:t>8.0.0.10</a:t>
            </a:r>
            <a:r>
              <a:rPr lang="hu-HU" sz="1600" b="1" dirty="0">
                <a:latin typeface="Times New Roman"/>
                <a:ea typeface="+mn-lt"/>
                <a:cs typeface="Times New Roman"/>
              </a:rPr>
              <a:t>):</a:t>
            </a:r>
            <a:r>
              <a:rPr lang="hu-HU" sz="1600" dirty="0">
                <a:latin typeface="Times New Roman"/>
                <a:ea typeface="+mn-lt"/>
                <a:cs typeface="Times New Roman"/>
              </a:rPr>
              <a:t> Távoli, amerikai kliens elérése.</a:t>
            </a:r>
            <a:endParaRPr lang="hu-HU" sz="160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hu-HU" sz="1600" b="1" dirty="0">
                <a:latin typeface="Times New Roman"/>
                <a:ea typeface="+mn-lt"/>
                <a:cs typeface="Times New Roman"/>
              </a:rPr>
              <a:t>CHINA-INTERNETUSER (</a:t>
            </a:r>
            <a:r>
              <a:rPr lang="hu-HU" sz="1600" b="1" dirty="0">
                <a:latin typeface="Times New Roman"/>
                <a:cs typeface="Times New Roman"/>
              </a:rPr>
              <a:t>8.0.0.20</a:t>
            </a:r>
            <a:r>
              <a:rPr lang="hu-HU" sz="1600" b="1" dirty="0">
                <a:latin typeface="Times New Roman"/>
                <a:ea typeface="+mn-lt"/>
                <a:cs typeface="Times New Roman"/>
              </a:rPr>
              <a:t>):</a:t>
            </a:r>
            <a:r>
              <a:rPr lang="hu-HU" sz="1600" dirty="0">
                <a:latin typeface="Times New Roman"/>
                <a:ea typeface="+mn-lt"/>
                <a:cs typeface="Times New Roman"/>
              </a:rPr>
              <a:t> Távoli, kínai kliens elérése.</a:t>
            </a:r>
            <a:endParaRPr lang="hu-HU" sz="160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hu-HU" sz="1600" b="1" dirty="0">
                <a:latin typeface="Times New Roman"/>
                <a:ea typeface="+mn-lt"/>
                <a:cs typeface="Times New Roman"/>
              </a:rPr>
              <a:t>Összeköttetések:</a:t>
            </a:r>
            <a:r>
              <a:rPr lang="hu-HU" sz="1600" dirty="0">
                <a:latin typeface="Times New Roman"/>
                <a:ea typeface="+mn-lt"/>
                <a:cs typeface="Times New Roman"/>
              </a:rPr>
              <a:t> A központi routerek (például </a:t>
            </a:r>
            <a:r>
              <a:rPr lang="hu-HU" sz="1600" dirty="0">
                <a:latin typeface="Times New Roman"/>
                <a:cs typeface="Times New Roman"/>
              </a:rPr>
              <a:t>20.20.20.0/30</a:t>
            </a:r>
            <a:r>
              <a:rPr lang="hu-HU" sz="1600" dirty="0">
                <a:latin typeface="Times New Roman"/>
                <a:ea typeface="+mn-lt"/>
                <a:cs typeface="Times New Roman"/>
              </a:rPr>
              <a:t> és </a:t>
            </a:r>
            <a:r>
              <a:rPr lang="hu-HU" sz="1600" dirty="0">
                <a:latin typeface="Times New Roman"/>
                <a:cs typeface="Times New Roman"/>
              </a:rPr>
              <a:t>30.30.30.0/30</a:t>
            </a:r>
            <a:r>
              <a:rPr lang="hu-HU" sz="1600" dirty="0">
                <a:latin typeface="Times New Roman"/>
                <a:ea typeface="+mn-lt"/>
                <a:cs typeface="Times New Roman"/>
              </a:rPr>
              <a:t> alhálózatokon keresztül) biztosítják a forgalomirányítást a telephelyek és az internet között.</a:t>
            </a:r>
            <a:endParaRPr lang="hu-HU" sz="160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hu-HU" sz="1400" dirty="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5" name="Kép 4" descr="A képen diagram, szöveg látható&#10;&#10;Lehet, hogy az AI által létrehozott tartalom helytelen.">
            <a:extLst>
              <a:ext uri="{FF2B5EF4-FFF2-40B4-BE49-F238E27FC236}">
                <a16:creationId xmlns:a16="http://schemas.microsoft.com/office/drawing/2014/main" id="{C2DB5455-6A17-9187-08C6-B6E03C0BAF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31" t="14198" r="13043" b="-1852"/>
          <a:stretch>
            <a:fillRect/>
          </a:stretch>
        </p:blipFill>
        <p:spPr>
          <a:xfrm>
            <a:off x="0" y="4340857"/>
            <a:ext cx="9140233" cy="12652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901003366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1D37F73-D801-7F8F-0825-896A1B78C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022" y="713"/>
            <a:ext cx="7772400" cy="1456267"/>
          </a:xfrm>
        </p:spPr>
        <p:txBody>
          <a:bodyPr/>
          <a:lstStyle/>
          <a:p>
            <a:pPr algn="ctr"/>
            <a:r>
              <a:rPr lang="hu-HU" dirty="0">
                <a:ea typeface="+mj-lt"/>
                <a:cs typeface="+mj-lt"/>
              </a:rPr>
              <a:t>A Maghálózat (A "hálózat szíve")</a:t>
            </a:r>
            <a:endParaRPr lang="hu-HU" dirty="0"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97860B5-45CB-5BF3-363A-EF83E361B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209" y="1084526"/>
            <a:ext cx="7772400" cy="3649133"/>
          </a:xfrm>
        </p:spPr>
        <p:txBody>
          <a:bodyPr/>
          <a:lstStyle/>
          <a:p>
            <a:pPr algn="ctr"/>
            <a:r>
              <a:rPr lang="hu-HU" sz="2000">
                <a:ea typeface="+mn-lt"/>
                <a:cs typeface="+mn-lt"/>
              </a:rPr>
              <a:t>A két nagy </a:t>
            </a:r>
            <a:r>
              <a:rPr lang="hu-HU" sz="2000" err="1">
                <a:ea typeface="+mn-lt"/>
                <a:cs typeface="+mn-lt"/>
              </a:rPr>
              <a:t>switch</a:t>
            </a:r>
            <a:r>
              <a:rPr lang="hu-HU" sz="2000">
                <a:ea typeface="+mn-lt"/>
                <a:cs typeface="+mn-lt"/>
              </a:rPr>
              <a:t> (CORE-SW1 és CORE-SW2) végzi a munka nehezét.</a:t>
            </a:r>
            <a:endParaRPr lang="hu-HU" sz="2000">
              <a:ea typeface="Calibri" panose="020F0502020204030204"/>
              <a:cs typeface="Calibri" panose="020F0502020204030204"/>
            </a:endParaRPr>
          </a:p>
          <a:p>
            <a:pPr algn="ctr">
              <a:buClr>
                <a:srgbClr val="FFFFFF"/>
              </a:buClr>
            </a:pPr>
            <a:r>
              <a:rPr lang="hu-HU" sz="2000" b="1">
                <a:ea typeface="+mn-lt"/>
                <a:cs typeface="+mn-lt"/>
              </a:rPr>
              <a:t>HSRP (Kettőzés):</a:t>
            </a:r>
            <a:r>
              <a:rPr lang="hu-HU" sz="2000">
                <a:ea typeface="+mn-lt"/>
                <a:cs typeface="+mn-lt"/>
              </a:rPr>
              <a:t> Olyan, mint egy pótkerék. Ha az egyik </a:t>
            </a:r>
            <a:r>
              <a:rPr lang="hu-HU" sz="2000" err="1">
                <a:ea typeface="+mn-lt"/>
                <a:cs typeface="+mn-lt"/>
              </a:rPr>
              <a:t>switch</a:t>
            </a:r>
            <a:r>
              <a:rPr lang="hu-HU" sz="2000">
                <a:ea typeface="+mn-lt"/>
                <a:cs typeface="+mn-lt"/>
              </a:rPr>
              <a:t> elromlik, a másik azonnal átveszi a helyét, és a dolgozók </a:t>
            </a:r>
            <a:r>
              <a:rPr lang="hu-HU" sz="2000" err="1">
                <a:ea typeface="+mn-lt"/>
                <a:cs typeface="+mn-lt"/>
              </a:rPr>
              <a:t>észre</a:t>
            </a:r>
            <a:r>
              <a:rPr lang="hu-HU" sz="2000">
                <a:ea typeface="+mn-lt"/>
                <a:cs typeface="+mn-lt"/>
              </a:rPr>
              <a:t> sem veszik a leállást.</a:t>
            </a:r>
            <a:endParaRPr lang="hu-HU" sz="2000">
              <a:ea typeface="Calibri" panose="020F0502020204030204"/>
              <a:cs typeface="Calibri" panose="020F0502020204030204"/>
            </a:endParaRPr>
          </a:p>
          <a:p>
            <a:pPr algn="ctr">
              <a:buClr>
                <a:srgbClr val="FFFFFF"/>
              </a:buClr>
            </a:pPr>
            <a:r>
              <a:rPr lang="hu-HU" sz="2000" b="1">
                <a:ea typeface="+mn-lt"/>
                <a:cs typeface="+mn-lt"/>
              </a:rPr>
              <a:t>LACP (Összefogás):</a:t>
            </a:r>
            <a:r>
              <a:rPr lang="hu-HU" sz="2000">
                <a:ea typeface="+mn-lt"/>
                <a:cs typeface="+mn-lt"/>
              </a:rPr>
              <a:t> Több kábelt kötnek össze a </a:t>
            </a:r>
            <a:r>
              <a:rPr lang="hu-HU" sz="2000" err="1">
                <a:ea typeface="+mn-lt"/>
                <a:cs typeface="+mn-lt"/>
              </a:rPr>
              <a:t>switchek</a:t>
            </a:r>
            <a:r>
              <a:rPr lang="hu-HU" sz="2000">
                <a:ea typeface="+mn-lt"/>
                <a:cs typeface="+mn-lt"/>
              </a:rPr>
              <a:t> között, hogy gyorsabb legyen az adatforgalom, és ha egy kábel elszakad, maradjon másik út az adatoknak.</a:t>
            </a:r>
            <a:endParaRPr lang="hu-HU" sz="2000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endParaRPr lang="hu-HU" sz="2000">
              <a:ea typeface="Calibri"/>
              <a:cs typeface="Calibri"/>
            </a:endParaRPr>
          </a:p>
        </p:txBody>
      </p:sp>
      <p:pic>
        <p:nvPicPr>
          <p:cNvPr id="4" name="Kép 3" descr="A képen diagram, képernyőkép, sor, kör látható&#10;&#10;Lehet, hogy az AI által létrehozott tartalom helytelen.">
            <a:extLst>
              <a:ext uri="{FF2B5EF4-FFF2-40B4-BE49-F238E27FC236}">
                <a16:creationId xmlns:a16="http://schemas.microsoft.com/office/drawing/2014/main" id="{B9E18D4D-11CC-3159-017A-703AA802A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9" y="5411581"/>
            <a:ext cx="9128688" cy="145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00580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5CD2430-6131-9004-3C05-DEE21E011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611" y="1560320"/>
            <a:ext cx="7772400" cy="3357706"/>
          </a:xfrm>
        </p:spPr>
        <p:txBody>
          <a:bodyPr/>
          <a:lstStyle/>
          <a:p>
            <a:pPr algn="ctr"/>
            <a:r>
              <a:rPr lang="hu-HU" dirty="0">
                <a:latin typeface="Times New Roman"/>
                <a:ea typeface="Calibri Light"/>
                <a:cs typeface="Times New Roman"/>
              </a:rPr>
              <a:t>Hálózati virtuális gépeket készítettünk az </a:t>
            </a:r>
            <a:r>
              <a:rPr lang="hu-HU" err="1">
                <a:latin typeface="Times New Roman"/>
                <a:ea typeface="Calibri Light"/>
                <a:cs typeface="Times New Roman"/>
              </a:rPr>
              <a:t>oracle</a:t>
            </a:r>
            <a:r>
              <a:rPr lang="hu-HU" dirty="0">
                <a:latin typeface="Times New Roman"/>
                <a:ea typeface="Calibri Light"/>
                <a:cs typeface="Times New Roman"/>
              </a:rPr>
              <a:t> </a:t>
            </a:r>
            <a:r>
              <a:rPr lang="hu-HU" err="1">
                <a:latin typeface="Times New Roman"/>
                <a:ea typeface="Calibri Light"/>
                <a:cs typeface="Times New Roman"/>
              </a:rPr>
              <a:t>virtualbox</a:t>
            </a:r>
            <a:r>
              <a:rPr lang="hu-HU" dirty="0">
                <a:latin typeface="Times New Roman"/>
                <a:ea typeface="Calibri Light"/>
                <a:cs typeface="Times New Roman"/>
              </a:rPr>
              <a:t> nevű program segítségével</a:t>
            </a:r>
          </a:p>
        </p:txBody>
      </p:sp>
    </p:spTree>
    <p:extLst>
      <p:ext uri="{BB962C8B-B14F-4D97-AF65-F5344CB8AC3E}">
        <p14:creationId xmlns:p14="http://schemas.microsoft.com/office/powerpoint/2010/main" val="553699992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E2DF932-CB35-4287-7E31-523E91265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7" y="6886"/>
            <a:ext cx="5323815" cy="1549504"/>
          </a:xfrm>
        </p:spPr>
        <p:txBody>
          <a:bodyPr>
            <a:normAutofit/>
          </a:bodyPr>
          <a:lstStyle/>
          <a:p>
            <a:r>
              <a:rPr lang="hu-HU" dirty="0">
                <a:latin typeface="Times New Roman"/>
                <a:ea typeface="Calibri Light"/>
                <a:cs typeface="Times New Roman"/>
              </a:rPr>
              <a:t>Használt virtuális gépek</a:t>
            </a:r>
            <a:endParaRPr lang="hu-HU" dirty="0">
              <a:latin typeface="Times New Roman"/>
              <a:cs typeface="Times New Roman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58DA050-1F3C-5130-42AA-AB4FFDB14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21" y="2261420"/>
            <a:ext cx="3589013" cy="5165495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>
              <a:buNone/>
            </a:pPr>
            <a:r>
              <a:rPr lang="hu-HU" b="1" dirty="0">
                <a:latin typeface="Times"/>
                <a:ea typeface="Calibri"/>
                <a:cs typeface="Times"/>
              </a:rPr>
              <a:t>Windows Server 2019</a:t>
            </a:r>
          </a:p>
          <a:p>
            <a:pPr algn="ctr">
              <a:buClr>
                <a:srgbClr val="FFFFFF"/>
              </a:buClr>
            </a:pPr>
            <a:r>
              <a:rPr lang="hu-HU" b="1" dirty="0">
                <a:latin typeface="Times"/>
                <a:ea typeface="+mn-lt"/>
                <a:cs typeface="Times"/>
              </a:rPr>
              <a:t>Rendszer:</a:t>
            </a:r>
            <a:r>
              <a:rPr lang="hu-HU" dirty="0">
                <a:latin typeface="Times"/>
                <a:ea typeface="+mn-lt"/>
                <a:cs typeface="Times"/>
              </a:rPr>
              <a:t> Windows Server alapú környezet grafikus felülettel.</a:t>
            </a:r>
            <a:endParaRPr lang="hu-HU" dirty="0">
              <a:latin typeface="Times"/>
              <a:ea typeface="Calibri" panose="020F0502020204030204"/>
              <a:cs typeface="Times"/>
            </a:endParaRPr>
          </a:p>
          <a:p>
            <a:pPr algn="ctr">
              <a:buClr>
                <a:srgbClr val="FFFFFF"/>
              </a:buClr>
            </a:pPr>
            <a:r>
              <a:rPr lang="hu-HU" b="1" dirty="0">
                <a:latin typeface="Times"/>
                <a:ea typeface="+mn-lt"/>
                <a:cs typeface="Times"/>
              </a:rPr>
              <a:t>Hálózati beállítás:</a:t>
            </a:r>
            <a:r>
              <a:rPr lang="hu-HU" dirty="0">
                <a:latin typeface="Times"/>
                <a:ea typeface="+mn-lt"/>
                <a:cs typeface="Times"/>
              </a:rPr>
              <a:t> Statikus IP-cím a megbízható elérhetőség érdekében.</a:t>
            </a:r>
            <a:endParaRPr lang="hu-HU" dirty="0">
              <a:latin typeface="Times"/>
              <a:ea typeface="Calibri" panose="020F0502020204030204"/>
              <a:cs typeface="Times"/>
            </a:endParaRPr>
          </a:p>
          <a:p>
            <a:pPr marL="0" indent="0" algn="ctr">
              <a:buNone/>
            </a:pPr>
            <a:r>
              <a:rPr lang="hu-HU" b="1" dirty="0">
                <a:latin typeface="Times"/>
                <a:ea typeface="Calibri"/>
                <a:cs typeface="Times"/>
              </a:rPr>
              <a:t>Debian</a:t>
            </a:r>
          </a:p>
          <a:p>
            <a:pPr algn="ctr">
              <a:buClr>
                <a:srgbClr val="FFFFFF"/>
              </a:buClr>
            </a:pPr>
            <a:r>
              <a:rPr lang="hu-HU" b="1" dirty="0">
                <a:latin typeface="Times"/>
                <a:ea typeface="+mn-lt"/>
                <a:cs typeface="Times"/>
              </a:rPr>
              <a:t>Rendszer:</a:t>
            </a:r>
            <a:r>
              <a:rPr lang="hu-HU" dirty="0">
                <a:latin typeface="Times"/>
                <a:ea typeface="+mn-lt"/>
                <a:cs typeface="Times"/>
              </a:rPr>
              <a:t> Debian Linux alapú szerver telepítése egyedi felhasználói fiókkal.</a:t>
            </a:r>
            <a:endParaRPr lang="hu-HU" dirty="0">
              <a:latin typeface="Times"/>
              <a:ea typeface="Calibri" panose="020F0502020204030204"/>
              <a:cs typeface="Times"/>
            </a:endParaRPr>
          </a:p>
          <a:p>
            <a:pPr algn="ctr">
              <a:buClr>
                <a:srgbClr val="FFFFFF"/>
              </a:buClr>
            </a:pPr>
            <a:r>
              <a:rPr lang="hu-HU" b="1" dirty="0">
                <a:latin typeface="Times"/>
                <a:ea typeface="+mn-lt"/>
                <a:cs typeface="Times"/>
              </a:rPr>
              <a:t>Hálózati beállítás:</a:t>
            </a:r>
            <a:r>
              <a:rPr lang="hu-HU" dirty="0">
                <a:latin typeface="Times"/>
                <a:ea typeface="+mn-lt"/>
                <a:cs typeface="Times"/>
              </a:rPr>
              <a:t> Statikus IP-cím konfigurálása a megbízható elérhetőség érdekében.</a:t>
            </a:r>
            <a:endParaRPr lang="hu-HU" dirty="0">
              <a:latin typeface="Times"/>
              <a:ea typeface="Calibri"/>
              <a:cs typeface="Times"/>
            </a:endParaRPr>
          </a:p>
          <a:p>
            <a:pPr marL="0" indent="0">
              <a:buNone/>
            </a:pPr>
            <a:endParaRPr lang="hu-HU" dirty="0">
              <a:latin typeface="Times"/>
              <a:ea typeface="Calibri"/>
              <a:cs typeface="Times"/>
            </a:endParaRPr>
          </a:p>
        </p:txBody>
      </p:sp>
      <p:pic>
        <p:nvPicPr>
          <p:cNvPr id="4" name="Kép 3" descr="A képen szöveg, képernyőkép, szoftver, Multimédiás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9AE558BA-1295-CBF5-899D-E8875C02E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4118" y="1714512"/>
            <a:ext cx="5415591" cy="3640622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3674633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C65BE17-4C22-87AB-6368-36092FC6E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b="1" dirty="0">
                <a:latin typeface="Times New Roman"/>
                <a:ea typeface="Calibri"/>
                <a:cs typeface="Times New Roman"/>
              </a:rPr>
              <a:t>Aktív szolgáltatások:</a:t>
            </a:r>
            <a:endParaRPr lang="hu-HU" dirty="0">
              <a:latin typeface="Times New Roman"/>
              <a:cs typeface="Times New Roman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F2F6F16-25AF-C391-B8D0-4A2242EB3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hu-HU" sz="2400" b="1" dirty="0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</a:pPr>
            <a:r>
              <a:rPr lang="hu-HU" sz="2400" b="1" dirty="0">
                <a:latin typeface="Times New Roman"/>
                <a:ea typeface="+mn-lt"/>
                <a:cs typeface="Times New Roman"/>
              </a:rPr>
              <a:t>Webszerver:</a:t>
            </a:r>
            <a:r>
              <a:rPr lang="hu-HU" sz="2400" dirty="0">
                <a:latin typeface="Times New Roman"/>
                <a:ea typeface="+mn-lt"/>
                <a:cs typeface="Times New Roman"/>
              </a:rPr>
              <a:t> </a:t>
            </a:r>
            <a:r>
              <a:rPr lang="hu-HU" sz="2400" err="1">
                <a:latin typeface="Times New Roman"/>
                <a:ea typeface="+mn-lt"/>
                <a:cs typeface="Times New Roman"/>
              </a:rPr>
              <a:t>Apache</a:t>
            </a:r>
            <a:r>
              <a:rPr lang="hu-HU" sz="2400" dirty="0">
                <a:latin typeface="Times New Roman"/>
                <a:ea typeface="+mn-lt"/>
                <a:cs typeface="Times New Roman"/>
              </a:rPr>
              <a:t> telepítése HTTP(</a:t>
            </a:r>
            <a:r>
              <a:rPr lang="hu-HU" sz="2400" err="1">
                <a:latin typeface="Times New Roman"/>
                <a:ea typeface="+mn-lt"/>
                <a:cs typeface="Times New Roman"/>
              </a:rPr>
              <a:t>titkosítatlan</a:t>
            </a:r>
            <a:r>
              <a:rPr lang="hu-HU" sz="2400" dirty="0">
                <a:latin typeface="Times New Roman"/>
                <a:ea typeface="+mn-lt"/>
                <a:cs typeface="Times New Roman"/>
              </a:rPr>
              <a:t>) és biztonságos HTTPS (titkosított) protokollok támogatásával.</a:t>
            </a:r>
            <a:endParaRPr lang="hu-HU" sz="2400">
              <a:latin typeface="Times New Roman"/>
              <a:ea typeface="Calibri"/>
              <a:cs typeface="Times New Roman"/>
            </a:endParaRPr>
          </a:p>
          <a:p>
            <a:pPr>
              <a:buClr>
                <a:srgbClr val="FFFFFF"/>
              </a:buClr>
            </a:pPr>
            <a:r>
              <a:rPr lang="hu-HU" sz="2400" b="1" dirty="0">
                <a:latin typeface="Times New Roman"/>
                <a:ea typeface="+mn-lt"/>
                <a:cs typeface="Times New Roman"/>
              </a:rPr>
              <a:t>Fájlmegosztás:</a:t>
            </a:r>
            <a:r>
              <a:rPr lang="hu-HU" sz="2400" dirty="0">
                <a:latin typeface="Times New Roman"/>
                <a:ea typeface="+mn-lt"/>
                <a:cs typeface="Times New Roman"/>
              </a:rPr>
              <a:t> Samba szolgáltatás konfigurálása a platformfüggetlen adathozzáféréshez.</a:t>
            </a:r>
            <a:endParaRPr lang="hu-HU" sz="2400">
              <a:latin typeface="Times New Roman"/>
              <a:ea typeface="Calibri"/>
              <a:cs typeface="Times New Roman"/>
            </a:endParaRPr>
          </a:p>
          <a:p>
            <a:pPr>
              <a:buClr>
                <a:srgbClr val="FFFFFF"/>
              </a:buClr>
            </a:pPr>
            <a:r>
              <a:rPr lang="hu-HU" sz="2400" b="1" dirty="0">
                <a:latin typeface="Times New Roman"/>
                <a:ea typeface="+mn-lt"/>
                <a:cs typeface="Times New Roman"/>
              </a:rPr>
              <a:t>Adatvédelem:</a:t>
            </a:r>
            <a:r>
              <a:rPr lang="hu-HU" sz="2400" dirty="0">
                <a:latin typeface="Times New Roman"/>
                <a:ea typeface="+mn-lt"/>
                <a:cs typeface="Times New Roman"/>
              </a:rPr>
              <a:t> Automatizált rendszermentés beállítása </a:t>
            </a:r>
            <a:r>
              <a:rPr lang="hu-HU" sz="2400" b="1" err="1">
                <a:latin typeface="Times New Roman"/>
                <a:ea typeface="+mn-lt"/>
                <a:cs typeface="Times New Roman"/>
              </a:rPr>
              <a:t>cron</a:t>
            </a:r>
            <a:r>
              <a:rPr lang="hu-HU" sz="2400" dirty="0">
                <a:latin typeface="Times New Roman"/>
                <a:ea typeface="+mn-lt"/>
                <a:cs typeface="Times New Roman"/>
              </a:rPr>
              <a:t> időzítő segítségével.</a:t>
            </a:r>
            <a:endParaRPr lang="hu-HU" sz="2400">
              <a:latin typeface="Times New Roman"/>
              <a:cs typeface="Times New Roman"/>
            </a:endParaRPr>
          </a:p>
          <a:p>
            <a:pPr>
              <a:buClr>
                <a:srgbClr val="FFFFFF"/>
              </a:buClr>
            </a:pPr>
            <a:endParaRPr lang="hu-HU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6564636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1709A45-C6F3-4CEE-AA0F-887FAC5CA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BE2C6AD-5E34-B428-0835-6E48C6877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1" y="124982"/>
            <a:ext cx="8115300" cy="882819"/>
          </a:xfrm>
        </p:spPr>
        <p:txBody>
          <a:bodyPr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hu-HU">
                <a:latin typeface="Times New Roman"/>
                <a:ea typeface="+mj-lt"/>
                <a:cs typeface="Times New Roman"/>
              </a:rPr>
              <a:t>Windows Server 2019 Infrastruktúra</a:t>
            </a:r>
            <a:endParaRPr lang="hu-HU">
              <a:latin typeface="Times New Roman"/>
              <a:cs typeface="Times New Roman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6E963D7-0A73-484A-B8A2-DDBFEA123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84222" y="2244808"/>
            <a:ext cx="37555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5E7C0CC-41C4-38D8-DF20-47F89A228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1" y="2540169"/>
            <a:ext cx="8115300" cy="266048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 sz="2800" b="1" dirty="0">
                <a:latin typeface="Times New Roman"/>
                <a:ea typeface="+mn-lt"/>
                <a:cs typeface="Times New Roman"/>
              </a:rPr>
              <a:t>Telepítés:</a:t>
            </a:r>
            <a:r>
              <a:rPr lang="hu-HU" sz="2800" dirty="0">
                <a:latin typeface="Times New Roman"/>
                <a:ea typeface="+mn-lt"/>
                <a:cs typeface="Times New Roman"/>
              </a:rPr>
              <a:t> Adminisztrátori környezet és IPv4 beállítása.</a:t>
            </a:r>
            <a:endParaRPr lang="hu-HU" sz="2800" dirty="0">
              <a:latin typeface="Times New Roman"/>
              <a:ea typeface="Calibri" panose="020F0502020204030204"/>
              <a:cs typeface="Times New Roman"/>
            </a:endParaRPr>
          </a:p>
          <a:p>
            <a:pPr>
              <a:buClr>
                <a:srgbClr val="000000"/>
              </a:buClr>
            </a:pPr>
            <a:r>
              <a:rPr lang="hu-HU" sz="2800" b="1" dirty="0">
                <a:latin typeface="Times New Roman"/>
                <a:ea typeface="+mn-lt"/>
                <a:cs typeface="Times New Roman"/>
              </a:rPr>
              <a:t>Címtár:</a:t>
            </a:r>
            <a:r>
              <a:rPr lang="hu-HU" sz="2800" dirty="0">
                <a:latin typeface="Times New Roman"/>
                <a:ea typeface="+mn-lt"/>
                <a:cs typeface="Times New Roman"/>
              </a:rPr>
              <a:t> </a:t>
            </a:r>
            <a:r>
              <a:rPr lang="hu-HU" sz="2800" err="1">
                <a:latin typeface="Times New Roman"/>
                <a:ea typeface="+mn-lt"/>
                <a:cs typeface="Times New Roman"/>
              </a:rPr>
              <a:t>Active</a:t>
            </a:r>
            <a:r>
              <a:rPr lang="hu-HU" sz="2800" dirty="0">
                <a:latin typeface="Times New Roman"/>
                <a:ea typeface="+mn-lt"/>
                <a:cs typeface="Times New Roman"/>
              </a:rPr>
              <a:t> </a:t>
            </a:r>
            <a:r>
              <a:rPr lang="hu-HU" sz="2800" err="1">
                <a:latin typeface="Times New Roman"/>
                <a:ea typeface="+mn-lt"/>
                <a:cs typeface="Times New Roman"/>
              </a:rPr>
              <a:t>Directory</a:t>
            </a:r>
            <a:r>
              <a:rPr lang="hu-HU" sz="2800" dirty="0">
                <a:latin typeface="Times New Roman"/>
                <a:ea typeface="+mn-lt"/>
                <a:cs typeface="Times New Roman"/>
              </a:rPr>
              <a:t> és DNS szerviz telepítése.</a:t>
            </a:r>
            <a:endParaRPr lang="hu-HU" sz="2800">
              <a:latin typeface="Times New Roman"/>
              <a:ea typeface="Calibri"/>
              <a:cs typeface="Times New Roman"/>
            </a:endParaRPr>
          </a:p>
          <a:p>
            <a:pPr>
              <a:buClr>
                <a:srgbClr val="000000"/>
              </a:buClr>
            </a:pPr>
            <a:r>
              <a:rPr lang="hu-HU" sz="2800" b="1" dirty="0">
                <a:latin typeface="Times New Roman"/>
                <a:ea typeface="+mn-lt"/>
                <a:cs typeface="Times New Roman"/>
              </a:rPr>
              <a:t>DHCP:</a:t>
            </a:r>
            <a:r>
              <a:rPr lang="hu-HU" sz="2800" dirty="0">
                <a:latin typeface="Times New Roman"/>
                <a:ea typeface="+mn-lt"/>
                <a:cs typeface="Times New Roman"/>
              </a:rPr>
              <a:t> Automatikus IP-cím kiosztás a klienseknek.</a:t>
            </a:r>
            <a:endParaRPr lang="hu-HU" sz="2800">
              <a:latin typeface="Times New Roman"/>
              <a:ea typeface="Calibri"/>
              <a:cs typeface="Times New Roman"/>
            </a:endParaRPr>
          </a:p>
          <a:p>
            <a:pPr>
              <a:buClr>
                <a:srgbClr val="000000"/>
              </a:buClr>
            </a:pPr>
            <a:r>
              <a:rPr lang="hu-HU" sz="2800" b="1" dirty="0">
                <a:latin typeface="Times New Roman"/>
                <a:ea typeface="+mn-lt"/>
                <a:cs typeface="Times New Roman"/>
              </a:rPr>
              <a:t>Erőforrások:</a:t>
            </a:r>
            <a:r>
              <a:rPr lang="hu-HU" sz="2800" dirty="0">
                <a:latin typeface="Times New Roman"/>
                <a:ea typeface="+mn-lt"/>
                <a:cs typeface="Times New Roman"/>
              </a:rPr>
              <a:t> Központi fájl- és nyomtatómegosztás.</a:t>
            </a:r>
            <a:endParaRPr lang="hu-HU" sz="2800">
              <a:latin typeface="Times New Roman"/>
              <a:ea typeface="Calibri"/>
              <a:cs typeface="Times New Roman"/>
            </a:endParaRPr>
          </a:p>
          <a:p>
            <a:pPr>
              <a:buClr>
                <a:srgbClr val="000000"/>
              </a:buClr>
            </a:pPr>
            <a:r>
              <a:rPr lang="hu-HU" sz="2800" b="1" dirty="0">
                <a:latin typeface="Times New Roman"/>
                <a:ea typeface="+mn-lt"/>
                <a:cs typeface="Times New Roman"/>
              </a:rPr>
              <a:t>Biztonság:</a:t>
            </a:r>
            <a:r>
              <a:rPr lang="hu-HU" sz="2800" dirty="0">
                <a:latin typeface="Times New Roman"/>
                <a:ea typeface="+mn-lt"/>
                <a:cs typeface="Times New Roman"/>
              </a:rPr>
              <a:t> Ütemezett mentés (Backup Schedule) beállítása.</a:t>
            </a:r>
            <a:endParaRPr lang="hu-HU" sz="2800">
              <a:latin typeface="Times New Roman"/>
              <a:ea typeface="Calibri"/>
              <a:cs typeface="Times New Roman"/>
            </a:endParaRPr>
          </a:p>
          <a:p>
            <a:pPr>
              <a:buClr>
                <a:srgbClr val="000000"/>
              </a:buClr>
            </a:pPr>
            <a:endParaRPr lang="hu-HU" sz="1500">
              <a:latin typeface="Times New Roman"/>
              <a:ea typeface="Calibri"/>
              <a:cs typeface="Times New Roman"/>
            </a:endParaRPr>
          </a:p>
          <a:p>
            <a:pPr>
              <a:buClr>
                <a:srgbClr val="FFFFFF"/>
              </a:buClr>
            </a:pPr>
            <a:endParaRPr lang="hu-HU" sz="15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8226506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4E5BC1C-8669-9B63-F31D-9ADAD1327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5815354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hu-HU" sz="2000" b="1" dirty="0">
                <a:latin typeface="Times New Roman"/>
                <a:cs typeface="Times New Roman"/>
              </a:rPr>
              <a:t>Debian/Linux Szerver </a:t>
            </a:r>
            <a:br>
              <a:rPr lang="hu-HU" sz="2000" b="1" dirty="0">
                <a:ea typeface="Calibri Light"/>
                <a:cs typeface="Calibri Light"/>
              </a:rPr>
            </a:br>
            <a:br>
              <a:rPr lang="hu-HU" sz="2000" b="1" dirty="0"/>
            </a:br>
            <a:endParaRPr lang="hu-HU" sz="2000" dirty="0">
              <a:ea typeface="Calibri Light"/>
              <a:cs typeface="Calibri Light"/>
            </a:endParaRPr>
          </a:p>
          <a:p>
            <a:pPr marL="285750" indent="-285750">
              <a:buFont typeface="Arial"/>
              <a:buChar char="•"/>
            </a:pPr>
            <a:r>
              <a:rPr lang="hu-HU" sz="2000" b="1" dirty="0">
                <a:latin typeface="Times New Roman"/>
                <a:ea typeface="+mj-lt"/>
                <a:cs typeface="Times New Roman"/>
              </a:rPr>
              <a:t>Rendszerkörnyezet:</a:t>
            </a:r>
            <a:r>
              <a:rPr lang="hu-HU" sz="2000" dirty="0">
                <a:latin typeface="Times New Roman"/>
                <a:ea typeface="+mj-lt"/>
                <a:cs typeface="Times New Roman"/>
              </a:rPr>
              <a:t> Debian OS telepítése egyedi felhasználói fiókkal és NAT hálózati integrációval.</a:t>
            </a:r>
            <a:br>
              <a:rPr lang="hu-HU" sz="2000" dirty="0">
                <a:latin typeface="Times New Roman"/>
                <a:ea typeface="+mj-lt"/>
                <a:cs typeface="Times New Roman"/>
              </a:rPr>
            </a:br>
            <a:endParaRPr lang="hu-HU" sz="2000">
              <a:latin typeface="Times New Roman"/>
              <a:ea typeface="Calibri Ligh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hu-HU" sz="2000" b="1" dirty="0">
                <a:latin typeface="Times New Roman"/>
                <a:ea typeface="+mj-lt"/>
                <a:cs typeface="Times New Roman"/>
              </a:rPr>
              <a:t>Hálózati Alapok:</a:t>
            </a:r>
            <a:r>
              <a:rPr lang="hu-HU" sz="2000" dirty="0">
                <a:latin typeface="Times New Roman"/>
                <a:ea typeface="+mj-lt"/>
                <a:cs typeface="Times New Roman"/>
              </a:rPr>
              <a:t> Statikus IPv4 címkonfiguráció a szolgáltatások fix és megbízható eléréséhez.</a:t>
            </a:r>
            <a:br>
              <a:rPr lang="hu-HU" sz="2000" dirty="0">
                <a:latin typeface="Times New Roman"/>
                <a:ea typeface="+mj-lt"/>
                <a:cs typeface="Times New Roman"/>
              </a:rPr>
            </a:br>
            <a:endParaRPr lang="hu-HU" sz="2000">
              <a:latin typeface="Times New Roman"/>
              <a:ea typeface="Calibri Ligh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hu-HU" sz="2000" b="1" dirty="0">
                <a:latin typeface="Times New Roman"/>
                <a:ea typeface="+mj-lt"/>
                <a:cs typeface="Times New Roman"/>
              </a:rPr>
              <a:t>Webszolgáltatás:</a:t>
            </a:r>
            <a:r>
              <a:rPr lang="hu-HU" sz="2000" dirty="0">
                <a:latin typeface="Times New Roman"/>
                <a:ea typeface="+mj-lt"/>
                <a:cs typeface="Times New Roman"/>
              </a:rPr>
              <a:t> </a:t>
            </a:r>
            <a:r>
              <a:rPr lang="hu-HU" sz="2000" err="1">
                <a:latin typeface="Times New Roman"/>
                <a:ea typeface="+mj-lt"/>
                <a:cs typeface="Times New Roman"/>
              </a:rPr>
              <a:t>Apache</a:t>
            </a:r>
            <a:r>
              <a:rPr lang="hu-HU" sz="2000" dirty="0">
                <a:latin typeface="Times New Roman"/>
                <a:ea typeface="+mj-lt"/>
                <a:cs typeface="Times New Roman"/>
              </a:rPr>
              <a:t> webszerver implementálása HTTP és biztonságos HTTPS protokollok támogatásával.</a:t>
            </a:r>
            <a:br>
              <a:rPr lang="hu-HU" sz="2000" dirty="0">
                <a:latin typeface="Times New Roman"/>
                <a:ea typeface="+mj-lt"/>
                <a:cs typeface="Times New Roman"/>
              </a:rPr>
            </a:br>
            <a:endParaRPr lang="hu-HU" sz="2000">
              <a:latin typeface="Times New Roman"/>
              <a:ea typeface="Calibri Ligh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hu-HU" sz="2000" b="1" dirty="0">
                <a:latin typeface="Times New Roman"/>
                <a:ea typeface="+mj-lt"/>
                <a:cs typeface="Times New Roman"/>
              </a:rPr>
              <a:t>Fájlkezelés:</a:t>
            </a:r>
            <a:r>
              <a:rPr lang="hu-HU" sz="2000" dirty="0">
                <a:latin typeface="Times New Roman"/>
                <a:ea typeface="+mj-lt"/>
                <a:cs typeface="Times New Roman"/>
              </a:rPr>
              <a:t> Samba szolgáltatás telepítése a Linux és Windows platformok közötti zökkenőmentes adatcseréhez.</a:t>
            </a:r>
            <a:br>
              <a:rPr lang="hu-HU" sz="2000" dirty="0">
                <a:latin typeface="Times New Roman"/>
                <a:ea typeface="+mj-lt"/>
                <a:cs typeface="Times New Roman"/>
              </a:rPr>
            </a:br>
            <a:endParaRPr lang="hu-HU" sz="2000">
              <a:latin typeface="Times New Roman"/>
              <a:ea typeface="Calibri Ligh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hu-HU" sz="2000" b="1" dirty="0">
                <a:latin typeface="Times New Roman"/>
                <a:ea typeface="+mj-lt"/>
                <a:cs typeface="Times New Roman"/>
              </a:rPr>
              <a:t>Rendszerbiztonság:</a:t>
            </a:r>
            <a:r>
              <a:rPr lang="hu-HU" sz="2000" dirty="0">
                <a:latin typeface="Times New Roman"/>
                <a:ea typeface="+mj-lt"/>
                <a:cs typeface="Times New Roman"/>
              </a:rPr>
              <a:t> Automatizált adatmentési folyamat kialakítása </a:t>
            </a:r>
            <a:r>
              <a:rPr lang="hu-HU" sz="2000" b="1" err="1">
                <a:latin typeface="Times New Roman"/>
                <a:ea typeface="+mj-lt"/>
                <a:cs typeface="Times New Roman"/>
              </a:rPr>
              <a:t>cron</a:t>
            </a:r>
            <a:r>
              <a:rPr lang="hu-HU" sz="2000" dirty="0">
                <a:latin typeface="Times New Roman"/>
                <a:ea typeface="+mj-lt"/>
                <a:cs typeface="Times New Roman"/>
              </a:rPr>
              <a:t> feladatütemező segítségével.</a:t>
            </a:r>
            <a:endParaRPr lang="hu-HU" sz="2000">
              <a:latin typeface="Times New Roman"/>
              <a:ea typeface="Calibri Light"/>
              <a:cs typeface="Times New Roman"/>
            </a:endParaRPr>
          </a:p>
          <a:p>
            <a:endParaRPr lang="hu-HU" sz="2000" dirty="0">
              <a:latin typeface="Times New Roman"/>
              <a:ea typeface="Calibri Ligh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28288014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3543A10-04EE-49E0-A9DE-22E1FAB9A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pic>
        <p:nvPicPr>
          <p:cNvPr id="3" name="Kép 2" descr="A képen szöveg, képernyőkép, szoftver, Multimédiás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8F82EB5A-E71D-0BBB-74D2-BE0E71CA6B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910" r="-1" b="-1"/>
          <a:stretch>
            <a:fillRect/>
          </a:stretch>
        </p:blipFill>
        <p:spPr>
          <a:xfrm>
            <a:off x="2915061" y="3865595"/>
            <a:ext cx="6227039" cy="2996101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Kép 3" descr="A képen szöveg, képernyőkép, Multimédiás szoftver, Grafikai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9B7B42C7-36B4-8986-1C25-76E60AD33A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91" y="806779"/>
            <a:ext cx="6056123" cy="3059196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Cím 5">
            <a:extLst>
              <a:ext uri="{FF2B5EF4-FFF2-40B4-BE49-F238E27FC236}">
                <a16:creationId xmlns:a16="http://schemas.microsoft.com/office/drawing/2014/main" id="{280D3F47-CAB9-E389-E4AA-3E3B59CCA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36" y="-309072"/>
            <a:ext cx="7772400" cy="1456267"/>
          </a:xfrm>
        </p:spPr>
        <p:txBody>
          <a:bodyPr/>
          <a:lstStyle/>
          <a:p>
            <a:r>
              <a:rPr lang="hu-HU" dirty="0">
                <a:ea typeface="Calibri Light"/>
                <a:cs typeface="Calibri Light"/>
              </a:rPr>
              <a:t>Hálózati Virtuális gépek működés közbe</a:t>
            </a:r>
            <a:endParaRPr lang="hu-HU" dirty="0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A3D5142D-4B15-1C7F-0A0F-3E52A6FE5FD3}"/>
              </a:ext>
            </a:extLst>
          </p:cNvPr>
          <p:cNvSpPr txBox="1"/>
          <p:nvPr/>
        </p:nvSpPr>
        <p:spPr>
          <a:xfrm>
            <a:off x="6719131" y="1858710"/>
            <a:ext cx="4572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windows</a:t>
            </a:r>
          </a:p>
          <a:p>
            <a:pPr algn="ctr"/>
            <a:endParaRPr lang="hu-HU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3B394FB6-788C-0E66-571D-7C93A824AD23}"/>
              </a:ext>
            </a:extLst>
          </p:cNvPr>
          <p:cNvSpPr txBox="1"/>
          <p:nvPr/>
        </p:nvSpPr>
        <p:spPr>
          <a:xfrm>
            <a:off x="854579" y="5031336"/>
            <a:ext cx="4572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Debian</a:t>
            </a:r>
          </a:p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61866946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54309F57-B331-41A7-9154-15EC2AF45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857250"/>
            <a:ext cx="6633872" cy="5143500"/>
          </a:xfrm>
          <a:custGeom>
            <a:avLst/>
            <a:gdLst>
              <a:gd name="connsiteX0" fmla="*/ 0 w 8845162"/>
              <a:gd name="connsiteY0" fmla="*/ 0 h 6858000"/>
              <a:gd name="connsiteX1" fmla="*/ 6265248 w 8845162"/>
              <a:gd name="connsiteY1" fmla="*/ 0 h 6858000"/>
              <a:gd name="connsiteX2" fmla="*/ 7537703 w 8845162"/>
              <a:gd name="connsiteY2" fmla="*/ 0 h 6858000"/>
              <a:gd name="connsiteX3" fmla="*/ 8845162 w 8845162"/>
              <a:gd name="connsiteY3" fmla="*/ 0 h 6858000"/>
              <a:gd name="connsiteX4" fmla="*/ 8845162 w 8845162"/>
              <a:gd name="connsiteY4" fmla="*/ 6858000 h 6858000"/>
              <a:gd name="connsiteX5" fmla="*/ 7537703 w 8845162"/>
              <a:gd name="connsiteY5" fmla="*/ 6858000 h 6858000"/>
              <a:gd name="connsiteX6" fmla="*/ 6265248 w 8845162"/>
              <a:gd name="connsiteY6" fmla="*/ 6858000 h 6858000"/>
              <a:gd name="connsiteX7" fmla="*/ 20957 w 8845162"/>
              <a:gd name="connsiteY7" fmla="*/ 6858000 h 6858000"/>
              <a:gd name="connsiteX8" fmla="*/ 46002 w 8845162"/>
              <a:gd name="connsiteY8" fmla="*/ 6702325 h 6858000"/>
              <a:gd name="connsiteX9" fmla="*/ 69870 w 8845162"/>
              <a:gd name="connsiteY9" fmla="*/ 6547334 h 6858000"/>
              <a:gd name="connsiteX10" fmla="*/ 93234 w 8845162"/>
              <a:gd name="connsiteY10" fmla="*/ 6391658 h 6858000"/>
              <a:gd name="connsiteX11" fmla="*/ 113237 w 8845162"/>
              <a:gd name="connsiteY11" fmla="*/ 6235295 h 6858000"/>
              <a:gd name="connsiteX12" fmla="*/ 133409 w 8845162"/>
              <a:gd name="connsiteY12" fmla="*/ 6079619 h 6858000"/>
              <a:gd name="connsiteX13" fmla="*/ 152234 w 8845162"/>
              <a:gd name="connsiteY13" fmla="*/ 5923256 h 6858000"/>
              <a:gd name="connsiteX14" fmla="*/ 168370 w 8845162"/>
              <a:gd name="connsiteY14" fmla="*/ 5768951 h 6858000"/>
              <a:gd name="connsiteX15" fmla="*/ 183667 w 8845162"/>
              <a:gd name="connsiteY15" fmla="*/ 5612589 h 6858000"/>
              <a:gd name="connsiteX16" fmla="*/ 197619 w 8845162"/>
              <a:gd name="connsiteY16" fmla="*/ 5456912 h 6858000"/>
              <a:gd name="connsiteX17" fmla="*/ 209720 w 8845162"/>
              <a:gd name="connsiteY17" fmla="*/ 5303979 h 6858000"/>
              <a:gd name="connsiteX18" fmla="*/ 221823 w 8845162"/>
              <a:gd name="connsiteY18" fmla="*/ 5148988 h 6858000"/>
              <a:gd name="connsiteX19" fmla="*/ 231908 w 8845162"/>
              <a:gd name="connsiteY19" fmla="*/ 4996055 h 6858000"/>
              <a:gd name="connsiteX20" fmla="*/ 239808 w 8845162"/>
              <a:gd name="connsiteY20" fmla="*/ 4843121 h 6858000"/>
              <a:gd name="connsiteX21" fmla="*/ 248045 w 8845162"/>
              <a:gd name="connsiteY21" fmla="*/ 4690874 h 6858000"/>
              <a:gd name="connsiteX22" fmla="*/ 254936 w 8845162"/>
              <a:gd name="connsiteY22" fmla="*/ 4539998 h 6858000"/>
              <a:gd name="connsiteX23" fmla="*/ 259811 w 8845162"/>
              <a:gd name="connsiteY23" fmla="*/ 4390493 h 6858000"/>
              <a:gd name="connsiteX24" fmla="*/ 264014 w 8845162"/>
              <a:gd name="connsiteY24" fmla="*/ 4240989 h 6858000"/>
              <a:gd name="connsiteX25" fmla="*/ 268047 w 8845162"/>
              <a:gd name="connsiteY25" fmla="*/ 4092856 h 6858000"/>
              <a:gd name="connsiteX26" fmla="*/ 269897 w 8845162"/>
              <a:gd name="connsiteY26" fmla="*/ 3946781 h 6858000"/>
              <a:gd name="connsiteX27" fmla="*/ 271913 w 8845162"/>
              <a:gd name="connsiteY27" fmla="*/ 3800705 h 6858000"/>
              <a:gd name="connsiteX28" fmla="*/ 272922 w 8845162"/>
              <a:gd name="connsiteY28" fmla="*/ 3656687 h 6858000"/>
              <a:gd name="connsiteX29" fmla="*/ 271913 w 8845162"/>
              <a:gd name="connsiteY29" fmla="*/ 3514041 h 6858000"/>
              <a:gd name="connsiteX30" fmla="*/ 271913 w 8845162"/>
              <a:gd name="connsiteY30" fmla="*/ 3372766 h 6858000"/>
              <a:gd name="connsiteX31" fmla="*/ 269897 w 8845162"/>
              <a:gd name="connsiteY31" fmla="*/ 3232863 h 6858000"/>
              <a:gd name="connsiteX32" fmla="*/ 266871 w 8845162"/>
              <a:gd name="connsiteY32" fmla="*/ 3095703 h 6858000"/>
              <a:gd name="connsiteX33" fmla="*/ 264014 w 8845162"/>
              <a:gd name="connsiteY33" fmla="*/ 2959915 h 6858000"/>
              <a:gd name="connsiteX34" fmla="*/ 260820 w 8845162"/>
              <a:gd name="connsiteY34" fmla="*/ 2826869 h 6858000"/>
              <a:gd name="connsiteX35" fmla="*/ 255946 w 8845162"/>
              <a:gd name="connsiteY35" fmla="*/ 2694510 h 6858000"/>
              <a:gd name="connsiteX36" fmla="*/ 250734 w 8845162"/>
              <a:gd name="connsiteY36" fmla="*/ 2564209 h 6858000"/>
              <a:gd name="connsiteX37" fmla="*/ 246028 w 8845162"/>
              <a:gd name="connsiteY37" fmla="*/ 2436650 h 6858000"/>
              <a:gd name="connsiteX38" fmla="*/ 232749 w 8845162"/>
              <a:gd name="connsiteY38" fmla="*/ 2187704 h 6858000"/>
              <a:gd name="connsiteX39" fmla="*/ 218630 w 8845162"/>
              <a:gd name="connsiteY39" fmla="*/ 1949046 h 6858000"/>
              <a:gd name="connsiteX40" fmla="*/ 203837 w 8845162"/>
              <a:gd name="connsiteY40" fmla="*/ 1719989 h 6858000"/>
              <a:gd name="connsiteX41" fmla="*/ 187532 w 8845162"/>
              <a:gd name="connsiteY41" fmla="*/ 1503276 h 6858000"/>
              <a:gd name="connsiteX42" fmla="*/ 170555 w 8845162"/>
              <a:gd name="connsiteY42" fmla="*/ 1296164 h 6858000"/>
              <a:gd name="connsiteX43" fmla="*/ 152234 w 8845162"/>
              <a:gd name="connsiteY43" fmla="*/ 1104140 h 6858000"/>
              <a:gd name="connsiteX44" fmla="*/ 134248 w 8845162"/>
              <a:gd name="connsiteY44" fmla="*/ 923775 h 6858000"/>
              <a:gd name="connsiteX45" fmla="*/ 116263 w 8845162"/>
              <a:gd name="connsiteY45" fmla="*/ 757811 h 6858000"/>
              <a:gd name="connsiteX46" fmla="*/ 99286 w 8845162"/>
              <a:gd name="connsiteY46" fmla="*/ 605564 h 6858000"/>
              <a:gd name="connsiteX47" fmla="*/ 83149 w 8845162"/>
              <a:gd name="connsiteY47" fmla="*/ 470461 h 6858000"/>
              <a:gd name="connsiteX48" fmla="*/ 67853 w 8845162"/>
              <a:gd name="connsiteY48" fmla="*/ 348389 h 6858000"/>
              <a:gd name="connsiteX49" fmla="*/ 55078 w 8845162"/>
              <a:gd name="connsiteY49" fmla="*/ 245519 h 6858000"/>
              <a:gd name="connsiteX50" fmla="*/ 42976 w 8845162"/>
              <a:gd name="connsiteY50" fmla="*/ 159108 h 6858000"/>
              <a:gd name="connsiteX51" fmla="*/ 25662 w 8845162"/>
              <a:gd name="connsiteY51" fmla="*/ 40464 h 6858000"/>
              <a:gd name="connsiteX52" fmla="*/ 19779 w 8845162"/>
              <a:gd name="connsiteY52" fmla="*/ 2 h 6858000"/>
              <a:gd name="connsiteX53" fmla="*/ 26532 w 8845162"/>
              <a:gd name="connsiteY53" fmla="*/ 2 h 6858000"/>
              <a:gd name="connsiteX54" fmla="*/ 26532 w 8845162"/>
              <a:gd name="connsiteY54" fmla="*/ 1 h 6858000"/>
              <a:gd name="connsiteX55" fmla="*/ 0 w 8845162"/>
              <a:gd name="connsiteY5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8845162" h="6858000">
                <a:moveTo>
                  <a:pt x="0" y="0"/>
                </a:moveTo>
                <a:lnTo>
                  <a:pt x="6265248" y="0"/>
                </a:lnTo>
                <a:lnTo>
                  <a:pt x="7537703" y="0"/>
                </a:lnTo>
                <a:lnTo>
                  <a:pt x="8845162" y="0"/>
                </a:lnTo>
                <a:lnTo>
                  <a:pt x="8845162" y="6858000"/>
                </a:lnTo>
                <a:lnTo>
                  <a:pt x="7537703" y="6858000"/>
                </a:lnTo>
                <a:lnTo>
                  <a:pt x="6265248" y="6858000"/>
                </a:lnTo>
                <a:lnTo>
                  <a:pt x="20957" y="6858000"/>
                </a:lnTo>
                <a:lnTo>
                  <a:pt x="46002" y="6702325"/>
                </a:lnTo>
                <a:lnTo>
                  <a:pt x="69870" y="6547334"/>
                </a:lnTo>
                <a:lnTo>
                  <a:pt x="93234" y="6391658"/>
                </a:lnTo>
                <a:lnTo>
                  <a:pt x="113237" y="6235295"/>
                </a:lnTo>
                <a:lnTo>
                  <a:pt x="133409" y="6079619"/>
                </a:lnTo>
                <a:lnTo>
                  <a:pt x="152234" y="5923256"/>
                </a:lnTo>
                <a:lnTo>
                  <a:pt x="168370" y="5768951"/>
                </a:lnTo>
                <a:lnTo>
                  <a:pt x="183667" y="5612589"/>
                </a:lnTo>
                <a:lnTo>
                  <a:pt x="197619" y="5456912"/>
                </a:lnTo>
                <a:lnTo>
                  <a:pt x="209720" y="5303979"/>
                </a:lnTo>
                <a:lnTo>
                  <a:pt x="221823" y="5148988"/>
                </a:lnTo>
                <a:lnTo>
                  <a:pt x="231908" y="4996055"/>
                </a:lnTo>
                <a:lnTo>
                  <a:pt x="239808" y="4843121"/>
                </a:lnTo>
                <a:lnTo>
                  <a:pt x="248045" y="4690874"/>
                </a:lnTo>
                <a:lnTo>
                  <a:pt x="254936" y="4539998"/>
                </a:lnTo>
                <a:lnTo>
                  <a:pt x="259811" y="4390493"/>
                </a:lnTo>
                <a:lnTo>
                  <a:pt x="264014" y="4240989"/>
                </a:lnTo>
                <a:lnTo>
                  <a:pt x="268047" y="4092856"/>
                </a:lnTo>
                <a:lnTo>
                  <a:pt x="269897" y="3946781"/>
                </a:lnTo>
                <a:lnTo>
                  <a:pt x="271913" y="3800705"/>
                </a:lnTo>
                <a:lnTo>
                  <a:pt x="272922" y="3656687"/>
                </a:lnTo>
                <a:lnTo>
                  <a:pt x="271913" y="3514041"/>
                </a:lnTo>
                <a:lnTo>
                  <a:pt x="271913" y="3372766"/>
                </a:lnTo>
                <a:lnTo>
                  <a:pt x="269897" y="3232863"/>
                </a:lnTo>
                <a:lnTo>
                  <a:pt x="266871" y="3095703"/>
                </a:lnTo>
                <a:lnTo>
                  <a:pt x="264014" y="2959915"/>
                </a:lnTo>
                <a:lnTo>
                  <a:pt x="260820" y="2826869"/>
                </a:lnTo>
                <a:lnTo>
                  <a:pt x="255946" y="2694510"/>
                </a:lnTo>
                <a:lnTo>
                  <a:pt x="250734" y="2564209"/>
                </a:lnTo>
                <a:lnTo>
                  <a:pt x="246028" y="2436650"/>
                </a:lnTo>
                <a:lnTo>
                  <a:pt x="232749" y="2187704"/>
                </a:lnTo>
                <a:lnTo>
                  <a:pt x="218630" y="1949046"/>
                </a:lnTo>
                <a:lnTo>
                  <a:pt x="203837" y="1719989"/>
                </a:lnTo>
                <a:lnTo>
                  <a:pt x="187532" y="1503276"/>
                </a:lnTo>
                <a:lnTo>
                  <a:pt x="170555" y="1296164"/>
                </a:lnTo>
                <a:lnTo>
                  <a:pt x="152234" y="1104140"/>
                </a:lnTo>
                <a:lnTo>
                  <a:pt x="134248" y="923775"/>
                </a:lnTo>
                <a:lnTo>
                  <a:pt x="116263" y="757811"/>
                </a:lnTo>
                <a:lnTo>
                  <a:pt x="99286" y="605564"/>
                </a:lnTo>
                <a:lnTo>
                  <a:pt x="83149" y="470461"/>
                </a:lnTo>
                <a:lnTo>
                  <a:pt x="67853" y="348389"/>
                </a:lnTo>
                <a:lnTo>
                  <a:pt x="55078" y="245519"/>
                </a:lnTo>
                <a:lnTo>
                  <a:pt x="42976" y="159108"/>
                </a:lnTo>
                <a:lnTo>
                  <a:pt x="25662" y="40464"/>
                </a:lnTo>
                <a:lnTo>
                  <a:pt x="19779" y="2"/>
                </a:lnTo>
                <a:lnTo>
                  <a:pt x="26532" y="2"/>
                </a:lnTo>
                <a:lnTo>
                  <a:pt x="26532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032D116-5676-9A6B-2951-3635EE517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1" y="1232807"/>
            <a:ext cx="5551714" cy="10205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GIT – </a:t>
            </a:r>
            <a:r>
              <a:rPr lang="en-US" b="1" err="1">
                <a:latin typeface="Times New Roman"/>
                <a:cs typeface="Times New Roman"/>
              </a:rPr>
              <a:t>Verziókezelés</a:t>
            </a:r>
            <a:endParaRPr lang="en-US" err="1">
              <a:latin typeface="Times New Roman"/>
              <a:cs typeface="Times New Roman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BA9C4BB3-44C3-9E0D-79FD-4B8AE57B15C9}"/>
              </a:ext>
            </a:extLst>
          </p:cNvPr>
          <p:cNvSpPr txBox="1"/>
          <p:nvPr/>
        </p:nvSpPr>
        <p:spPr>
          <a:xfrm>
            <a:off x="514351" y="2253343"/>
            <a:ext cx="5551714" cy="461643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Mi </a:t>
            </a:r>
            <a:r>
              <a:rPr lang="en-US" sz="2000" b="1" err="1">
                <a:latin typeface="Times New Roman"/>
                <a:cs typeface="Times New Roman"/>
              </a:rPr>
              <a:t>ez</a:t>
            </a:r>
            <a:r>
              <a:rPr lang="en-US" sz="2000" b="1" dirty="0">
                <a:latin typeface="Times New Roman"/>
                <a:cs typeface="Times New Roman"/>
              </a:rPr>
              <a:t>?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Szoftver</a:t>
            </a:r>
            <a:r>
              <a:rPr lang="en-US" sz="2000" dirty="0">
                <a:latin typeface="Times New Roman"/>
                <a:cs typeface="Times New Roman"/>
              </a:rPr>
              <a:t>, </a:t>
            </a:r>
            <a:r>
              <a:rPr lang="en-US" sz="2000" err="1">
                <a:latin typeface="Times New Roman"/>
                <a:cs typeface="Times New Roman"/>
              </a:rPr>
              <a:t>ami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menti</a:t>
            </a:r>
            <a:r>
              <a:rPr lang="en-US" sz="2000" dirty="0">
                <a:latin typeface="Times New Roman"/>
                <a:cs typeface="Times New Roman"/>
              </a:rPr>
              <a:t> a </a:t>
            </a:r>
            <a:r>
              <a:rPr lang="en-US" sz="2000" err="1">
                <a:latin typeface="Times New Roman"/>
                <a:cs typeface="Times New Roman"/>
              </a:rPr>
              <a:t>fájlok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különböző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állapotait</a:t>
            </a:r>
            <a:r>
              <a:rPr lang="en-US" sz="2000" dirty="0">
                <a:latin typeface="Times New Roman"/>
                <a:cs typeface="Times New Roman"/>
              </a:rPr>
              <a:t>.</a:t>
            </a:r>
          </a:p>
          <a:p>
            <a:pPr marL="285750" indent="-28575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Mire </a:t>
            </a:r>
            <a:r>
              <a:rPr lang="en-US" sz="2000" b="1" err="1">
                <a:latin typeface="Times New Roman"/>
                <a:cs typeface="Times New Roman"/>
              </a:rPr>
              <a:t>jó</a:t>
            </a:r>
            <a:r>
              <a:rPr lang="en-US" sz="2000" b="1" dirty="0">
                <a:latin typeface="Times New Roman"/>
                <a:cs typeface="Times New Roman"/>
              </a:rPr>
              <a:t>?:</a:t>
            </a:r>
            <a:endParaRPr lang="en-US" sz="20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2000" b="1" err="1">
                <a:latin typeface="Times New Roman"/>
                <a:cs typeface="Times New Roman"/>
              </a:rPr>
              <a:t>Visszakövethetőség</a:t>
            </a:r>
            <a:r>
              <a:rPr lang="en-US" sz="2000" b="1" dirty="0">
                <a:latin typeface="Times New Roman"/>
                <a:cs typeface="Times New Roman"/>
              </a:rPr>
              <a:t>:</a:t>
            </a:r>
            <a:r>
              <a:rPr lang="en-US" sz="2000" dirty="0">
                <a:latin typeface="Times New Roman"/>
                <a:cs typeface="Times New Roman"/>
              </a:rPr>
              <a:t> Minden </a:t>
            </a:r>
            <a:r>
              <a:rPr lang="en-US" sz="2000" err="1">
                <a:latin typeface="Times New Roman"/>
                <a:cs typeface="Times New Roman"/>
              </a:rPr>
              <a:t>változtatás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és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felelős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naplózva</a:t>
            </a:r>
            <a:r>
              <a:rPr lang="en-US" sz="2000" dirty="0">
                <a:latin typeface="Times New Roman"/>
                <a:cs typeface="Times New Roman"/>
              </a:rPr>
              <a:t> van.</a:t>
            </a:r>
          </a:p>
          <a:p>
            <a:pPr marL="285750" indent="-28575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2000" b="1" err="1">
                <a:latin typeface="Times New Roman"/>
                <a:cs typeface="Times New Roman"/>
              </a:rPr>
              <a:t>Visszaállítás</a:t>
            </a:r>
            <a:r>
              <a:rPr lang="en-US" sz="2000" b="1" dirty="0">
                <a:latin typeface="Times New Roman"/>
                <a:cs typeface="Times New Roman"/>
              </a:rPr>
              <a:t> (Rollback):</a:t>
            </a:r>
            <a:r>
              <a:rPr lang="en-US" sz="2000" dirty="0">
                <a:latin typeface="Times New Roman"/>
                <a:cs typeface="Times New Roman"/>
              </a:rPr>
              <a:t> Hiba </a:t>
            </a:r>
            <a:r>
              <a:rPr lang="en-US" sz="2000" err="1">
                <a:latin typeface="Times New Roman"/>
                <a:cs typeface="Times New Roman"/>
              </a:rPr>
              <a:t>esetén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bármikor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visszatérhetsz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egy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korábbi</a:t>
            </a:r>
            <a:r>
              <a:rPr lang="en-US" sz="2000" dirty="0">
                <a:latin typeface="Times New Roman"/>
                <a:cs typeface="Times New Roman"/>
              </a:rPr>
              <a:t>, </a:t>
            </a:r>
            <a:r>
              <a:rPr lang="en-US" sz="2000" err="1">
                <a:latin typeface="Times New Roman"/>
                <a:cs typeface="Times New Roman"/>
              </a:rPr>
              <a:t>működő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verzióhoz</a:t>
            </a:r>
            <a:r>
              <a:rPr lang="en-US" sz="2000" dirty="0">
                <a:latin typeface="Times New Roman"/>
                <a:cs typeface="Times New Roman"/>
              </a:rPr>
              <a:t>.</a:t>
            </a:r>
          </a:p>
          <a:p>
            <a:pPr marL="285750" indent="-28575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2000" b="1" err="1">
                <a:latin typeface="Times New Roman"/>
                <a:cs typeface="Times New Roman"/>
              </a:rPr>
              <a:t>Csapatmunka</a:t>
            </a:r>
            <a:r>
              <a:rPr lang="en-US" sz="2000" b="1" dirty="0">
                <a:latin typeface="Times New Roman"/>
                <a:cs typeface="Times New Roman"/>
              </a:rPr>
              <a:t>: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Többen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dolgozhatnak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ugyanazon</a:t>
            </a:r>
            <a:r>
              <a:rPr lang="en-US" sz="2000" dirty="0">
                <a:latin typeface="Times New Roman"/>
                <a:cs typeface="Times New Roman"/>
              </a:rPr>
              <a:t> a </a:t>
            </a:r>
            <a:r>
              <a:rPr lang="en-US" sz="2000" err="1">
                <a:latin typeface="Times New Roman"/>
                <a:cs typeface="Times New Roman"/>
              </a:rPr>
              <a:t>projekten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anélkül</a:t>
            </a:r>
            <a:r>
              <a:rPr lang="en-US" sz="2000" dirty="0">
                <a:latin typeface="Times New Roman"/>
                <a:cs typeface="Times New Roman"/>
              </a:rPr>
              <a:t>, </a:t>
            </a:r>
            <a:r>
              <a:rPr lang="en-US" sz="2000" err="1">
                <a:latin typeface="Times New Roman"/>
                <a:cs typeface="Times New Roman"/>
              </a:rPr>
              <a:t>hogy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felülírnák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egymás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munkáját</a:t>
            </a:r>
            <a:r>
              <a:rPr lang="en-US" sz="2000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</a:pPr>
            <a:endParaRPr lang="en-US" sz="1500" b="1"/>
          </a:p>
          <a:p>
            <a:pPr marL="285750" indent="-28575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40175048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F46219B-4C55-FE80-6F68-6D94F9ECE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80" y="90251"/>
            <a:ext cx="4079090" cy="10996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u-HU" sz="2200" b="1" u="sng">
                <a:ea typeface="+mj-lt"/>
                <a:cs typeface="+mj-lt"/>
              </a:rPr>
              <a:t>JIRA – Projektmenedzsment és Hibajegy-kezelés</a:t>
            </a:r>
            <a:endParaRPr lang="hu-HU" sz="2200" b="1">
              <a:ea typeface="Calibri Light"/>
              <a:cs typeface="Calibri Light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CC01899-79CA-E1F3-BFDD-04813A920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689" y="2142067"/>
            <a:ext cx="4079090" cy="364913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hu-HU" b="1" dirty="0">
                <a:latin typeface="Times New Roman"/>
                <a:ea typeface="+mn-lt"/>
                <a:cs typeface="Times New Roman"/>
              </a:rPr>
              <a:t>Mi ez?</a:t>
            </a:r>
            <a:r>
              <a:rPr lang="hu-HU" dirty="0">
                <a:latin typeface="Times New Roman"/>
                <a:ea typeface="+mn-lt"/>
                <a:cs typeface="Times New Roman"/>
              </a:rPr>
              <a:t> Feladatkezelő és folyamatkövető keretrendszer.</a:t>
            </a:r>
            <a:endParaRPr lang="hu-HU" dirty="0">
              <a:latin typeface="Times New Roman"/>
              <a:ea typeface="Calibri" panose="020F0502020204030204"/>
              <a:cs typeface="Times New Roman"/>
            </a:endParaRPr>
          </a:p>
          <a:p>
            <a:pPr>
              <a:lnSpc>
                <a:spcPct val="90000"/>
              </a:lnSpc>
              <a:buClr>
                <a:srgbClr val="000000"/>
              </a:buClr>
            </a:pPr>
            <a:r>
              <a:rPr lang="hu-HU" b="1" dirty="0">
                <a:latin typeface="Times New Roman"/>
                <a:ea typeface="+mn-lt"/>
                <a:cs typeface="Times New Roman"/>
              </a:rPr>
              <a:t>Mire használtuk?</a:t>
            </a:r>
            <a:endParaRPr lang="hu-HU" dirty="0">
              <a:latin typeface="Times New Roman"/>
              <a:ea typeface="+mn-lt"/>
              <a:cs typeface="Times New Roman"/>
            </a:endParaRPr>
          </a:p>
          <a:p>
            <a:pPr>
              <a:lnSpc>
                <a:spcPct val="90000"/>
              </a:lnSpc>
              <a:buClr>
                <a:srgbClr val="000000"/>
              </a:buClr>
            </a:pPr>
            <a:r>
              <a:rPr lang="hu-HU" b="1" dirty="0">
                <a:latin typeface="Times New Roman"/>
                <a:ea typeface="+mn-lt"/>
                <a:cs typeface="Times New Roman"/>
              </a:rPr>
              <a:t>Feladatok kiosztása:</a:t>
            </a:r>
            <a:r>
              <a:rPr lang="hu-HU" dirty="0">
                <a:latin typeface="Times New Roman"/>
                <a:ea typeface="+mn-lt"/>
                <a:cs typeface="Times New Roman"/>
              </a:rPr>
              <a:t> Munkák (pl. kábelezés, beszerzés, telepítés) ütemezése.</a:t>
            </a:r>
          </a:p>
          <a:p>
            <a:pPr>
              <a:lnSpc>
                <a:spcPct val="90000"/>
              </a:lnSpc>
              <a:buClr>
                <a:srgbClr val="000000"/>
              </a:buClr>
            </a:pPr>
            <a:r>
              <a:rPr lang="hu-HU" b="1" dirty="0">
                <a:latin typeface="Times New Roman"/>
                <a:ea typeface="+mn-lt"/>
                <a:cs typeface="Times New Roman"/>
              </a:rPr>
              <a:t>Hibajegyek (</a:t>
            </a:r>
            <a:r>
              <a:rPr lang="hu-HU" b="1" err="1">
                <a:latin typeface="Times New Roman"/>
                <a:ea typeface="+mn-lt"/>
                <a:cs typeface="Times New Roman"/>
              </a:rPr>
              <a:t>Tickets</a:t>
            </a:r>
            <a:r>
              <a:rPr lang="hu-HU" b="1" dirty="0">
                <a:latin typeface="Times New Roman"/>
                <a:ea typeface="+mn-lt"/>
                <a:cs typeface="Times New Roman"/>
              </a:rPr>
              <a:t>):</a:t>
            </a:r>
            <a:r>
              <a:rPr lang="hu-HU" dirty="0">
                <a:latin typeface="Times New Roman"/>
                <a:ea typeface="+mn-lt"/>
                <a:cs typeface="Times New Roman"/>
              </a:rPr>
              <a:t> A kivitelezés során felmerülő problémák rögzítése és kezelése.</a:t>
            </a:r>
          </a:p>
          <a:p>
            <a:pPr>
              <a:lnSpc>
                <a:spcPct val="90000"/>
              </a:lnSpc>
              <a:buClr>
                <a:srgbClr val="000000"/>
              </a:buClr>
            </a:pPr>
            <a:r>
              <a:rPr lang="hu-HU" b="1" dirty="0">
                <a:latin typeface="Times New Roman"/>
                <a:ea typeface="+mn-lt"/>
                <a:cs typeface="Times New Roman"/>
              </a:rPr>
              <a:t>Státuszkövetés:</a:t>
            </a:r>
            <a:r>
              <a:rPr lang="hu-HU" dirty="0">
                <a:latin typeface="Times New Roman"/>
                <a:ea typeface="+mn-lt"/>
                <a:cs typeface="Times New Roman"/>
              </a:rPr>
              <a:t> A haladás figyelése "Teendő", "Folyamatban" és "Kész" oszlopok segítségével.</a:t>
            </a:r>
          </a:p>
          <a:p>
            <a:pPr>
              <a:lnSpc>
                <a:spcPct val="90000"/>
              </a:lnSpc>
              <a:buClr>
                <a:srgbClr val="000000"/>
              </a:buClr>
            </a:pPr>
            <a:r>
              <a:rPr lang="hu-HU" b="1" dirty="0">
                <a:latin typeface="Times New Roman"/>
                <a:ea typeface="+mn-lt"/>
                <a:cs typeface="Times New Roman"/>
              </a:rPr>
              <a:t>Határidők:</a:t>
            </a:r>
            <a:r>
              <a:rPr lang="hu-HU" dirty="0">
                <a:latin typeface="Times New Roman"/>
                <a:ea typeface="+mn-lt"/>
                <a:cs typeface="Times New Roman"/>
              </a:rPr>
              <a:t> A mérföldkövek és az átadási időpontok betartása.</a:t>
            </a:r>
          </a:p>
          <a:p>
            <a:pPr marL="0" indent="0">
              <a:lnSpc>
                <a:spcPct val="90000"/>
              </a:lnSpc>
              <a:buClr>
                <a:srgbClr val="000000"/>
              </a:buClr>
              <a:buNone/>
            </a:pPr>
            <a:endParaRPr lang="hu-HU" sz="140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hu-HU" sz="1400">
              <a:ea typeface="Calibri"/>
              <a:cs typeface="Calibri"/>
            </a:endParaRPr>
          </a:p>
        </p:txBody>
      </p:sp>
      <p:pic>
        <p:nvPicPr>
          <p:cNvPr id="5" name="Kép 4" descr="A képen szöveg, képernyőkép, diagram,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6F16367E-82CA-8376-97F1-4E1B7430D0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2" t="6377" r="52793" b="-389"/>
          <a:stretch>
            <a:fillRect/>
          </a:stretch>
        </p:blipFill>
        <p:spPr>
          <a:xfrm>
            <a:off x="4797091" y="639098"/>
            <a:ext cx="3582949" cy="2692424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Kép 5" descr="A képen szöveg, képernyőkép, diagram,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4412AF1A-99AC-CABE-166C-D91C8BD3E3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288" r="145" b="-392"/>
          <a:stretch>
            <a:fillRect/>
          </a:stretch>
        </p:blipFill>
        <p:spPr>
          <a:xfrm>
            <a:off x="4673072" y="3522111"/>
            <a:ext cx="3830987" cy="2692424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09585800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BECFFDC-94DB-4DA3-94FE-22FEDDA8F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66F1100F-8EAA-2D7A-3B0D-D5D74C33F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41553" y="126367"/>
            <a:ext cx="7595394" cy="9313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500"/>
              <a:t>Tesztelés</a:t>
            </a:r>
          </a:p>
        </p:txBody>
      </p:sp>
      <p:pic>
        <p:nvPicPr>
          <p:cNvPr id="4" name="Tartalom helye 3" descr="A képen szöveg, képernyőkép, diagram, Téglalap látható&#10;&#10;Lehet, hogy az AI által létrehozott tartalom helytelen.">
            <a:extLst>
              <a:ext uri="{FF2B5EF4-FFF2-40B4-BE49-F238E27FC236}">
                <a16:creationId xmlns:a16="http://schemas.microsoft.com/office/drawing/2014/main" id="{EAC75BC3-2861-8E5F-ECD2-0F5F49F3BB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90" r="7985" b="2"/>
          <a:stretch>
            <a:fillRect/>
          </a:stretch>
        </p:blipFill>
        <p:spPr>
          <a:xfrm>
            <a:off x="692149" y="1927385"/>
            <a:ext cx="7759699" cy="373816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34148001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D94887-6A10-4F62-8EE1-B2BCFA1F3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-1786"/>
            <a:ext cx="9141618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D512BA-228A-4979-9312-ACD246E10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" y="893"/>
            <a:ext cx="9141618" cy="685621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0724" y="1501132"/>
            <a:ext cx="7598569" cy="364913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hu-HU" sz="5400" b="1" err="1">
                <a:latin typeface="Times New Roman"/>
                <a:cs typeface="Times New Roman"/>
              </a:rPr>
              <a:t>Köszönjük</a:t>
            </a:r>
            <a:r>
              <a:rPr lang="hu-HU" sz="5400" b="1">
                <a:latin typeface="Times New Roman"/>
                <a:cs typeface="Times New Roman"/>
              </a:rPr>
              <a:t> a </a:t>
            </a:r>
            <a:r>
              <a:rPr lang="hu-HU" sz="5400" b="1" err="1">
                <a:latin typeface="Times New Roman"/>
                <a:cs typeface="Times New Roman"/>
              </a:rPr>
              <a:t>figyelmet</a:t>
            </a:r>
            <a:r>
              <a:rPr lang="hu-HU" sz="5400" b="1">
                <a:latin typeface="Times New Roman"/>
                <a:cs typeface="Times New Roman"/>
              </a:rPr>
              <a:t>!</a:t>
            </a:r>
            <a:endParaRPr lang="hu-HU" sz="5400">
              <a:latin typeface="Times New Roman"/>
              <a:ea typeface="Calibri" panose="020F0502020204030204"/>
              <a:cs typeface="Times New Roman"/>
            </a:endParaRPr>
          </a:p>
          <a:p>
            <a:pPr marL="0" indent="0">
              <a:buNone/>
            </a:pPr>
            <a:endParaRPr>
              <a:ea typeface="Calibri"/>
              <a:cs typeface="Calibri"/>
            </a:endParaRPr>
          </a:p>
        </p:txBody>
      </p:sp>
    </p:spTree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1033</Words>
  <Application>Microsoft Office PowerPoint</Application>
  <PresentationFormat>Diavetítés a képernyőre (4:3 oldalarány)</PresentationFormat>
  <Paragraphs>117</Paragraphs>
  <Slides>22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22</vt:i4>
      </vt:variant>
    </vt:vector>
  </HeadingPairs>
  <TitlesOfParts>
    <vt:vector size="23" baseType="lpstr">
      <vt:lpstr>Celestial</vt:lpstr>
      <vt:lpstr>InfraWorks KFT</vt:lpstr>
      <vt:lpstr>A Projekt Vízió</vt:lpstr>
      <vt:lpstr>A Projekt teljes váza</vt:lpstr>
      <vt:lpstr>2. DMZ (Demilitarizált Zóna)</vt:lpstr>
      <vt:lpstr>  WEB: Honlap (HTTP/S)  EMAIL: Levelezés (SMTP/IMAP)  FTP: Fájlküldés (SFTP)  APP: Üzleti appok (API)  NAS-STORAGE: Központi tároló (NFS/SMB)  Biztonság: VLAN alapú szegmentálás + Tűzfalas tiltás a belső háló felé.  </vt:lpstr>
      <vt:lpstr>A hálózat "Agya" avagy Maghálózati redundancia és vezérlés</vt:lpstr>
      <vt:lpstr>Első emelet (Kék &amp; Zöld blokk) Értékesítés, HR és Logisztika</vt:lpstr>
      <vt:lpstr>      Részlegek:  Pénzügy &amp; Számvitel, Admin &amp; Kapcsolatok.  Felépítés:   Az első emelettel megegyező struktúra (standardizált kiépítés).  Hálózat:   VLAN-alapú szegmentálás      az adatok védelmében.  Eszközök:   Saját Access Switch-ek (FIN-   SW, ADM-SW) biztosítják a kapcsolatot a Core felé.</vt:lpstr>
      <vt:lpstr>Informatikai osztály (ICT): Operatív felügyelet és fejlesztés.  Belső hálózati szolgáltatások (Server-SW): DHCP Szerver: Automatikus IP-cím kiosztás a klienseknek. DNS Szerver: Belső és külső névfeloldás. RADIUS Szerver: Felhasználói hitelesítés és hálózati biztonság (AAA). </vt:lpstr>
      <vt:lpstr>PowerPoint-bemutató</vt:lpstr>
      <vt:lpstr>Külső Kapcsolat és Internet (INTERNET/CLOUD)</vt:lpstr>
      <vt:lpstr>A Maghálózat (A "hálózat szíve")</vt:lpstr>
      <vt:lpstr>Hálózati virtuális gépeket készítettünk az oracle virtualbox nevű program segítségével</vt:lpstr>
      <vt:lpstr>Használt virtuális gépek</vt:lpstr>
      <vt:lpstr>Aktív szolgáltatások:</vt:lpstr>
      <vt:lpstr>Windows Server 2019 Infrastruktúra</vt:lpstr>
      <vt:lpstr>Debian/Linux Szerver    Rendszerkörnyezet: Debian OS telepítése egyedi felhasználói fiókkal és NAT hálózati integrációval.  Hálózati Alapok: Statikus IPv4 címkonfiguráció a szolgáltatások fix és megbízható eléréséhez.  Webszolgáltatás: Apache webszerver implementálása HTTP és biztonságos HTTPS protokollok támogatásával.  Fájlkezelés: Samba szolgáltatás telepítése a Linux és Windows platformok közötti zökkenőmentes adatcseréhez.  Rendszerbiztonság: Automatizált adatmentési folyamat kialakítása cron feladatütemező segítségével. </vt:lpstr>
      <vt:lpstr>Hálózati Virtuális gépek működés közbe</vt:lpstr>
      <vt:lpstr>GIT – Verziókezelés</vt:lpstr>
      <vt:lpstr>JIRA – Projektmenedzsment és Hibajegy-kezelés</vt:lpstr>
      <vt:lpstr>Tesztelés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InfraWorks KFT</dc:title>
  <dc:subject/>
  <dc:creator>Tóth Richárd</dc:creator>
  <cp:keywords/>
  <dc:description>generated using python-pptx</dc:description>
  <cp:lastModifiedBy>Tóth Richárd</cp:lastModifiedBy>
  <cp:revision>426</cp:revision>
  <dcterms:created xsi:type="dcterms:W3CDTF">2013-01-27T09:14:16Z</dcterms:created>
  <dcterms:modified xsi:type="dcterms:W3CDTF">2026-02-27T21:20:31Z</dcterms:modified>
  <cp:category/>
</cp:coreProperties>
</file>