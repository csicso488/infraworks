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CAC6atjopTfEYp6ICXhw7vKFG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1 – TITLE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"Good afternoon. My name is Richard Tóth, and joining me is my partner, Kristóf Schäfer. Allow us to introduce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InfraWorks Ltd.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project. We have designed and implemented a complete network infrastructure from scratch for a fictional corporation, utilizing Cisco Packet Tracer and VirtualBox. Today, we will demonstrate our design principles, the chosen technologies, and the overall stability of the system."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2 – PROJECT OVERVIEW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"Our work began with a completely blank canvas. Our objective was to simulate a complex corporate environment featuring three floors, six departments, and remote offices located in the USA and China. I would like to highlight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DMZ (Demilitarized Zone)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isolates public-facing servers from the internal network, providing an extra layer of security. Here you can see our initial hand-drawn sketch: before any software implementation, we laid down the logical foundations of the network on paper."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3 – TOPOLOGY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"In designing our network architecture, we followed the industry-standard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three-tier hierarchy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ensure maximum operational reliability.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Internet Connectivity: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We utilize two independent Service Providers. Should one fail, traffic is automatically rerouted to the other, ensuring the company never loses connectivity.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Firewall Protection: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Two Cisco ASA devices operate in Active-Standby mode. This redundancy guarantees that security filtering remains uninterrupted even in the event of a hardware failure.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Core Network: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backbone of the system consists of two central switches interconnected via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EtherChannel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technology. This aggregates multiple physical cables into a single high-speed logical channel.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Remote Access: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Connectivity between international offices is maintained through WAN technologies."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4 – FLOOR DETAILS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"This slide illustrates the internal distribution of the floors. Each department has its own segment, while the hardware remains standardized. IP address assignment is handled automatically by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DHCP protocol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greatly simplifies the connection of new devices. However, in the server room, we use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static IP addresses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ensure that server availability remains constant and reliable for all users."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5 – VLANs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"We used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VLANs (Virtual Local Area Networks)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logically separate the departments. This ensures that even though devices share the same physical cabling, the data streams remain isolated: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separated IT management, office workstations, and Wi-Fi traffic.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Voice over IP (VoIP)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was given high priority (Quality of Service) to ensure call quality does not degrade even under heavy network load.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For security purposes, all unused ports have been disabled to prevent unauthorized physical access to the network."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6 – REDUNDANCY (Joint)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"We have made our system 'bulletproof' through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redundancy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meaning there are no single points of failure. Continuity is ensured across six different levels: If a cable is cut or a device fails, backup systems—such as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HSRP protocol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—take over instantly, within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2.1 seconds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Users perceive nothing of this transition; their workflow continues without interruption."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7 – SECURITY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"Our security strategy is built on the principle of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'Defense in Depth'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firewall strictly partitions the network into zones, inspecting every incoming data packet.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Access to network devices is permitted exclusively via encrypted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SSH connections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ensuring that passwords cannot be intercepted.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have restricted the number of authorized devices at every connection point, preventing unauthorized hardware from entering the network."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SLIDE 8 — SERVERS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(Richard)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Within the virtual environment, we also operate a functional server infrastructure: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run web and file sharing services on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Debian Linux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with automated backups performed every night.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Permissions and centralized printing are managed within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Windows Server 2019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environment.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two systems communicate through a shared, protected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NAT network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ensuring both flexibility and security."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9 – TESTING (Kristóf)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reliability of the network was verified through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97 unique test cases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We simulated device failures, cable breaks, and network congestion.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Although 9 bugs were identified in the first round, these were fully resolved and documented.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Consequently, we can confidently state that our system is production-ready and stable under real-world conditions."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10 – PROJECT MANAGEMENT (Richard)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"We employed professional methodologies throughout the project. Tasks were managed in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JIRA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environment using two-week cycles (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Sprints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), while technical configurations were version-controlled on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This allowed us to track every change and guarantee code integrity. A total of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140 man-hours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were invested into the implementation."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11 – FUTURE PLANS (Joint)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"The InfraWorks infrastructure is future-proof. Our roadmap includes a full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IPv6 migration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the integration of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AI-based threat detection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and the implementation of a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Zero Trust model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where every access request is subject to individual authentication."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SLIDE 12 – SUMMARY (Joint)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"In summary: we have created a modern, international-standard network that is stable, secure, and highly scalable.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Thank you for your kind attention,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we look forward to any questions you may have."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c8e10b7d6_2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cc8e10b7d6_2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425" name="Google Shape;425;g3cc8e10b7d6_2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5750"/>
            <a:ext cx="9144000" cy="5052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906900" y="896085"/>
            <a:ext cx="5029200" cy="549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906900" y="950975"/>
            <a:ext cx="5029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InfraWorks Kft.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906900" y="1828897"/>
            <a:ext cx="502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Network Design &amp; 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084775" y="2526630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084713" y="2503818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Cisco Packet Tracer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462215" y="2526630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462153" y="2503793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VLAN + OSPF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084775" y="2965542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084775" y="2965542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HSRP + LACP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462215" y="2965542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62215" y="2965542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ASA Firewall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084775" y="3404454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084775" y="3404454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VPN + NAT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462215" y="3404454"/>
            <a:ext cx="2240400" cy="347400"/>
          </a:xfrm>
          <a:prstGeom prst="rect">
            <a:avLst/>
          </a:prstGeom>
          <a:solidFill>
            <a:srgbClr val="1B2A4A"/>
          </a:solidFill>
          <a:ln cap="flat" cmpd="sng" w="152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462215" y="3404454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Debian + Windows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352675" y="4160650"/>
            <a:ext cx="253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Tóth Richárd  |  Schäfer Kristóf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884550" y="4434848"/>
            <a:ext cx="50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Apáczai Csere János Technikum és Kollégium  |  Dombóvár  |  2026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" y="914400"/>
            <a:ext cx="4206240" cy="128016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0040" y="914400"/>
            <a:ext cx="420624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9692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353312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InfraWorks Kft. needed a complete, secure, enterprise-grade network from scratch — covering 3 floors, 6 departments, remote offices, and server infrastructure.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2286000"/>
            <a:ext cx="4206240" cy="18288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2286000"/>
            <a:ext cx="420624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23408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27249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Scalable 3-tier hierarchical architecture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27523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29535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Full VLAN segmentation per department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29809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31821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Dual ISP + no single point of failure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32095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34107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ASA Firewall, ACL, SSH-only management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34381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36393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IPv4 + IPv6 dual-stack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57200" y="36667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3867912"/>
            <a:ext cx="39319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Linux + Windows Server infrastructure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3895344"/>
            <a:ext cx="54864" cy="137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54880" y="914400"/>
            <a:ext cx="4069080" cy="32004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54880" y="914400"/>
            <a:ext cx="406908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92040" y="96926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Early Design Sketch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4535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Tóth Richárd — PM, Network Build, Video, Servers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663440" y="4535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Schäfer Kristóf — Network Design, Testing, Bug Reports, Documentation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526280" y="4279392"/>
            <a:ext cx="45720" cy="594360"/>
          </a:xfrm>
          <a:prstGeom prst="rect">
            <a:avLst/>
          </a:prstGeom>
          <a:solidFill>
            <a:srgbClr val="00BCD4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2" title="Kezdett.png"/>
          <p:cNvPicPr preferRelativeResize="0"/>
          <p:nvPr/>
        </p:nvPicPr>
        <p:blipFill rotWithShape="1">
          <a:blip r:embed="rId3">
            <a:alphaModFix/>
          </a:blip>
          <a:srcRect b="12603" l="3342" r="13931" t="0"/>
          <a:stretch/>
        </p:blipFill>
        <p:spPr>
          <a:xfrm>
            <a:off x="4754875" y="1527050"/>
            <a:ext cx="4114801" cy="25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Topology — Cisco Packet Tracer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1E88E5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675" y="849163"/>
            <a:ext cx="5303526" cy="430014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</p:pic>
      <p:sp>
        <p:nvSpPr>
          <p:cNvPr id="82" name="Google Shape;82;p3"/>
          <p:cNvSpPr/>
          <p:nvPr/>
        </p:nvSpPr>
        <p:spPr>
          <a:xfrm>
            <a:off x="320040" y="914400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20040" y="914400"/>
            <a:ext cx="73152" cy="685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2920" y="9692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Internet + 2 ISPs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02920" y="12618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SEACOM + SAFARICOM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" y="1719072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1719072"/>
            <a:ext cx="73152" cy="685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" y="177393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Perimeter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02920" y="206654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2x ASA 5506-X Firewall (Active/Standby)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20040" y="2523744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20040" y="2523744"/>
            <a:ext cx="73152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02920" y="25786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Core Switches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02920" y="287121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CORE-SW1 + CORE-SW2 (HSRP + LACP)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0040" y="3328416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0040" y="3328416"/>
            <a:ext cx="73152" cy="685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02920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Departments (3 floors)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02920" y="367588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departments + server room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0040" y="4133088"/>
            <a:ext cx="3383280" cy="68580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20040" y="4133088"/>
            <a:ext cx="73152" cy="685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02920" y="41879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Remote Offices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02920" y="448056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USA (8.8.0.0) + China (8.9.0.20)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Layout — 3 Floors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C85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4343400"/>
            <a:ext cx="73152" cy="5669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8580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1st floor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85800" y="4581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Sales &amp; Marketing | HR &amp; Logistics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383280" y="4343400"/>
            <a:ext cx="73152" cy="5669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52044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2nd floor</a:t>
            </a:r>
            <a:endParaRPr b="0" i="0" sz="16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520440" y="4581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 | Admin &amp; Relations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17920" y="4343400"/>
            <a:ext cx="73152" cy="5669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55080" y="4352544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3rd floor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355080" y="45811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Dept. | Server Room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-906" r="-896" t="0"/>
          <a:stretch/>
        </p:blipFill>
        <p:spPr>
          <a:xfrm>
            <a:off x="271650" y="862575"/>
            <a:ext cx="8552299" cy="32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Segmentation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1565C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11480" y="93268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VLAN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51560" y="93268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103120" y="932688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IPv4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520440" y="93268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IPv6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892040" y="9326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315200" y="932688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b="1" i="0" lang="en-US" sz="135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0040" y="1298448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" y="1298448"/>
            <a:ext cx="73152" cy="5669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29768" y="1408176"/>
            <a:ext cx="502920" cy="347472"/>
          </a:xfrm>
          <a:prstGeom prst="rect">
            <a:avLst/>
          </a:prstGeom>
          <a:solidFill>
            <a:srgbClr val="1E88E5">
              <a:alpha val="74901"/>
            </a:srgbClr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29768" y="140817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51560" y="141732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103120" y="141732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192.168.10.0/24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429000" y="1389949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2001:db8:10::/64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892040" y="14173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Switch/router admin — only IT dept.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360920" y="1463040"/>
            <a:ext cx="228600" cy="22860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20040" y="1911096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" y="1911096"/>
            <a:ext cx="7315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29768" y="2020824"/>
            <a:ext cx="502920" cy="347472"/>
          </a:xfrm>
          <a:prstGeom prst="rect">
            <a:avLst/>
          </a:prstGeom>
          <a:solidFill>
            <a:srgbClr val="2E7D32">
              <a:alpha val="74901"/>
            </a:srgbClr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29768" y="202082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051560" y="2029968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 (Wired)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103120" y="2029968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172.16.0.0/16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384900" y="2002524"/>
            <a:ext cx="1415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2001:db8:20::/64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892040" y="202996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All wired workstations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360920" y="2075688"/>
            <a:ext cx="228600" cy="2286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40" y="2523744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20040" y="2523744"/>
            <a:ext cx="73152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29768" y="2633472"/>
            <a:ext cx="502920" cy="347472"/>
          </a:xfrm>
          <a:prstGeom prst="rect">
            <a:avLst/>
          </a:prstGeom>
          <a:solidFill>
            <a:srgbClr val="F57C00">
              <a:alpha val="74901"/>
            </a:srgbClr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29768" y="263347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051560" y="2642616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WLAN (WiFi)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103120" y="2642616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10.20.0.0/16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520440" y="264261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92040" y="2642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Wireless devices (WLC managed)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360920" y="2688336"/>
            <a:ext cx="228600" cy="228600"/>
          </a:xfrm>
          <a:prstGeom prst="rect">
            <a:avLst/>
          </a:prstGeom>
          <a:solidFill>
            <a:srgbClr val="F57C0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0040" y="3136392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0040" y="3136392"/>
            <a:ext cx="73152" cy="56692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29768" y="3246120"/>
            <a:ext cx="502920" cy="347472"/>
          </a:xfrm>
          <a:prstGeom prst="rect">
            <a:avLst/>
          </a:prstGeom>
          <a:solidFill>
            <a:srgbClr val="7B1FA2">
              <a:alpha val="74901"/>
            </a:srgbClr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29768" y="324612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51560" y="3255264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103120" y="3255264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172.30.0.0/16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520440" y="325526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892040" y="325526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Cisco 7900 IP phones — QoS priority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360920" y="3300984"/>
            <a:ext cx="228600" cy="228600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0040" y="3749040"/>
            <a:ext cx="8503920" cy="56692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20040" y="3749040"/>
            <a:ext cx="73152" cy="5669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29768" y="3858768"/>
            <a:ext cx="502920" cy="347472"/>
          </a:xfrm>
          <a:prstGeom prst="rect">
            <a:avLst/>
          </a:prstGeom>
          <a:solidFill>
            <a:srgbClr val="E53935">
              <a:alpha val="74901"/>
            </a:srgbClr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29768" y="385876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051560" y="3867912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103120" y="3867912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10.11.11.32/27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384850" y="3867925"/>
            <a:ext cx="1415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2001:db8:90::/64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892040" y="38679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Internal servers — static IP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360920" y="3913632"/>
            <a:ext cx="228600" cy="22860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20040" y="4361688"/>
            <a:ext cx="8503920" cy="56692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20040" y="4361688"/>
            <a:ext cx="73152" cy="56692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29768" y="4471416"/>
            <a:ext cx="502920" cy="347472"/>
          </a:xfrm>
          <a:prstGeom prst="rect">
            <a:avLst/>
          </a:prstGeom>
          <a:solidFill>
            <a:srgbClr val="546E7A">
              <a:alpha val="74901"/>
            </a:srgbClr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29768" y="447141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051560" y="448056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Blackhole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103120" y="448056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520440" y="44805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0A4AE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892040" y="44805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Unused ports — security isolation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360920" y="4526280"/>
            <a:ext cx="228600" cy="228600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20040" y="4965192"/>
            <a:ext cx="8503920" cy="274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Redundancy &amp; High Availability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7B1FA2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6 independent layers — if any single component fails, the network keeps running without interruption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048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04800" y="939800"/>
            <a:ext cx="2743200" cy="889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10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Dual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SEACOM + SAFARICOM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Two independent internet providers. If one fails, automatic failover to the other.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2004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200400" y="939800"/>
            <a:ext cx="2743200" cy="88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2766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HSRP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Priority 110 /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CORE-SW1 active, CORE-SW2 standby. Failover tested: 2.1 seconds, 2 packets lost.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096000" y="9398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096000" y="939800"/>
            <a:ext cx="2743200" cy="889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172200" y="10477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EtherChannel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LACP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Core switches bonded with multiple links — more bandwidth and link redundancy.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048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04800" y="2921000"/>
            <a:ext cx="2743200" cy="889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810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Firewall 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ASA Active/Standby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Two Cisco ASA 5506-X. If active fails, standby takes over instantly — no dropped connections.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2004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200400" y="2921000"/>
            <a:ext cx="2743200" cy="889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2766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WiFi Redundancy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Dual AP + WLC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Every department has 2 APs managed by WLC. Auto load balancing and failover.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096000" y="2921000"/>
            <a:ext cx="2743200" cy="18288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096000" y="2921000"/>
            <a:ext cx="2743200" cy="889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172200" y="3028950"/>
            <a:ext cx="2590800" cy="171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9F0AE"/>
                </a:solidFill>
                <a:latin typeface="Calibri"/>
                <a:ea typeface="Calibri"/>
                <a:cs typeface="Calibri"/>
                <a:sym typeface="Calibri"/>
              </a:rPr>
              <a:t>STP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Prevents Layer 2 loops. PVST+ per VLAN. Rapid convergence enabled.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B71C1C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Defense in depth — 6 independent security layers. An attacker must break through all of them to reach internal resources.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04800" y="95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04800" y="952500"/>
            <a:ext cx="76200" cy="1219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31800" y="99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ASA Firewall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Perimeter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Internet / DMZ / Internal zones. Stateful packet inspection. Zone-based rules.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04800" y="222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04800" y="2222500"/>
            <a:ext cx="76200" cy="1219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31800" y="226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ACL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Access Control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VTY management: only 192.168.10.0/24. ACL 100/101 on border interfaces. All else denied.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04800" y="349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04800" y="3492500"/>
            <a:ext cx="76200" cy="1219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31800" y="353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SSH v2 Only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No Telnet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Telnet completely disabled. RSA 1024-bit key. Username + encrypted password required everywhere.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724400" y="95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724400" y="952500"/>
            <a:ext cx="76200" cy="1219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851400" y="99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DMZ Zone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Public Servers Isolated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Web, FTP, DNS, Email in DMZ. No direct path: DMZ to internal 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724400" y="222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A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724400" y="2222500"/>
            <a:ext cx="76200" cy="12192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851400" y="226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Password Policy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service password-encryption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Enable secret (MD5) on every device. Banner MOTD: NO UNAUTHORISED ACCESS. Console + VTY protected.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724400" y="3492500"/>
            <a:ext cx="4191000" cy="121920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724400" y="3492500"/>
            <a:ext cx="76200" cy="1219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851400" y="3530600"/>
            <a:ext cx="40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VLAN 199 Blackhole</a:t>
            </a: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 —  Port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unused switch ports assigned to VLAN 199. MAC limit: max 2 per port. Violation: shutdown.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Infrastructure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BCD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20040" y="914400"/>
            <a:ext cx="4114800" cy="4005072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20040" y="914400"/>
            <a:ext cx="4114800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57200" y="9692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Debian Linux 12 (Bookworm)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57200" y="13350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IP: 10.0.2.10  |  VirtualBox NAT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13" y="1631825"/>
            <a:ext cx="2011699" cy="1299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8"/>
          <p:cNvPicPr preferRelativeResize="0"/>
          <p:nvPr/>
        </p:nvPicPr>
        <p:blipFill rotWithShape="1">
          <a:blip r:embed="rId4">
            <a:alphaModFix/>
          </a:blip>
          <a:srcRect b="9999" l="2006" r="1997" t="0"/>
          <a:stretch/>
        </p:blipFill>
        <p:spPr>
          <a:xfrm>
            <a:off x="2391150" y="1588625"/>
            <a:ext cx="2011700" cy="14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/>
          <p:nvPr/>
        </p:nvSpPr>
        <p:spPr>
          <a:xfrm>
            <a:off x="457200" y="315468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21792" y="3182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Apache Web Server — HTTP (80) + HTTPS (443)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200" y="356616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21792" y="3593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Samba File Share (Linux to Windows)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57200" y="397764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21792" y="4005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Cron auto-backup — daily 02:00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7200" y="4389120"/>
            <a:ext cx="73152" cy="2926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621792" y="4416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Static IP, UFW firewall, SSH remote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663440" y="914400"/>
            <a:ext cx="4114800" cy="4005072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800600" y="9692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8E5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88E5"/>
                </a:solidFill>
                <a:latin typeface="Calibri"/>
                <a:ea typeface="Calibri"/>
                <a:cs typeface="Calibri"/>
                <a:sym typeface="Calibri"/>
              </a:rPr>
              <a:t>Windows Server 2019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800600" y="13350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IP: 10.0.2.20  |  infraworks.local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1645920"/>
            <a:ext cx="2011680" cy="141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1645920"/>
            <a:ext cx="182880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4800600" y="315468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965192" y="31821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Active Directory Domain Services (infraworks.local)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00600" y="356616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965192" y="35935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DNS + DHCP (pool: 10.0.2.100–200)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00600" y="397764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965192" y="40050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File Shares: HR / FIN / ICT / Public_Share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800600" y="4389120"/>
            <a:ext cx="73152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965192" y="4416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Print Server + daily Windows Server Backup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20040" y="4965192"/>
            <a:ext cx="8503920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/>
          <p:nvPr/>
        </p:nvSpPr>
        <p:spPr>
          <a:xfrm>
            <a:off x="0" y="-114825"/>
            <a:ext cx="9144000" cy="5258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Bug Reports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F57C0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20040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20040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40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496312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2496312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496312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672584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672584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672584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Bugs Found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848856" y="914400"/>
            <a:ext cx="1993392" cy="868680"/>
          </a:xfrm>
          <a:prstGeom prst="rect">
            <a:avLst/>
          </a:prstGeom>
          <a:solidFill>
            <a:srgbClr val="111C2B"/>
          </a:solidFill>
          <a:ln cap="flat" cmpd="sng" w="15225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848856" y="950976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848856" y="1463040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Bugs Fixed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9"/>
          <p:cNvPicPr preferRelativeResize="0"/>
          <p:nvPr/>
        </p:nvPicPr>
        <p:blipFill rotWithShape="1">
          <a:blip r:embed="rId3">
            <a:alphaModFix/>
          </a:blip>
          <a:srcRect b="4604" l="803" r="0" t="4038"/>
          <a:stretch/>
        </p:blipFill>
        <p:spPr>
          <a:xfrm>
            <a:off x="0" y="2368525"/>
            <a:ext cx="5520724" cy="24917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5577840" y="18745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Selected Bug Reports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577840" y="22860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650992" y="23225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492240" y="23225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BGP session failed — peer unconfigured. Fixed: corrected BGP + ACL config.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577840" y="27432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5650992" y="27797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492240" y="27797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Fa0/8 port DOWN — cable fault. Fixed: cable replaced.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577840" y="32004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650992" y="32369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492240" y="32369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DHCP timeout — pool 95% full. Fixed: expanded address range.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577840" y="36576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650992" y="36941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492240" y="36941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HSRP VLAN 30 — both priority 100. Fixed: set to 110/100.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577840" y="4114800"/>
            <a:ext cx="3291840" cy="384048"/>
          </a:xfrm>
          <a:prstGeom prst="rect">
            <a:avLst/>
          </a:prstGeom>
          <a:solidFill>
            <a:srgbClr val="111C2B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650992" y="41513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492240" y="41513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BGP peer stuck Active — firewall blocked TCP 179. Fixed: ACL updated.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577840" y="4572000"/>
            <a:ext cx="3291840" cy="384048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650992" y="460857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850"/>
              <a:buFont typeface="Consolas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onsolas"/>
                <a:ea typeface="Consolas"/>
                <a:cs typeface="Consolas"/>
                <a:sym typeface="Consolas"/>
              </a:rPr>
              <a:t>BUG #009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492240" y="46085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NAT pool error — ACL reference missing. Fixed: added access-list 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84048" y="1280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&amp; Jira — Project Management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84048" y="731520"/>
            <a:ext cx="8412480" cy="27432"/>
          </a:xfrm>
          <a:prstGeom prst="rect">
            <a:avLst/>
          </a:prstGeom>
          <a:solidFill>
            <a:srgbClr val="00C85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20040" y="914400"/>
            <a:ext cx="301752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57200" y="96926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Jira Scrum 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80160"/>
            <a:ext cx="288036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/>
          <p:nvPr/>
        </p:nvSpPr>
        <p:spPr>
          <a:xfrm>
            <a:off x="3474720" y="914400"/>
            <a:ext cx="233172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00C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584448" y="9692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Workload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0"/>
          <p:cNvPicPr preferRelativeResize="0"/>
          <p:nvPr/>
        </p:nvPicPr>
        <p:blipFill rotWithShape="1">
          <a:blip r:embed="rId4">
            <a:alphaModFix/>
          </a:blip>
          <a:srcRect b="0" l="0" r="51134" t="0"/>
          <a:stretch/>
        </p:blipFill>
        <p:spPr>
          <a:xfrm>
            <a:off x="3493000" y="1390076"/>
            <a:ext cx="1151814" cy="12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3584448" y="28803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Richárd Tóth: 70h (50%)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3584448" y="312724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Schäfer Kristóf: 70h (50%)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584448" y="337413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Total: 3 weeks 2 days 5 hours 10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943600" y="914400"/>
            <a:ext cx="2880360" cy="2743200"/>
          </a:xfrm>
          <a:prstGeom prst="rect">
            <a:avLst/>
          </a:prstGeom>
          <a:solidFill>
            <a:srgbClr val="111C2B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080760" y="96926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9320" y="1280160"/>
            <a:ext cx="278892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/>
          <p:nvPr/>
        </p:nvSpPr>
        <p:spPr>
          <a:xfrm>
            <a:off x="6080760" y="3456432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19 commits  |  4 branches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20040" y="3767328"/>
            <a:ext cx="8503920" cy="11704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How we used these tools: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57200" y="4133088"/>
            <a:ext cx="73152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21792" y="413308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JIRA: Sprint-based workflow (2-week sprints). Every task tracked from To Do to Done. Bug reports linked to test case IDs (IW-NET-xxx).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57200" y="4517136"/>
            <a:ext cx="73152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21792" y="4517136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GIT: Every switch/router config committed after completing. Branching per feature. 19 commits total. Full rollback capability if a change breaks something.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0"/>
          <p:cNvPicPr preferRelativeResize="0"/>
          <p:nvPr/>
        </p:nvPicPr>
        <p:blipFill rotWithShape="1">
          <a:blip r:embed="rId4">
            <a:alphaModFix/>
          </a:blip>
          <a:srcRect b="0" l="47515" r="0" t="0"/>
          <a:stretch/>
        </p:blipFill>
        <p:spPr>
          <a:xfrm>
            <a:off x="4644825" y="1449325"/>
            <a:ext cx="1151824" cy="117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304800" y="91440"/>
            <a:ext cx="853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Development Plans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304800" y="609600"/>
            <a:ext cx="8534400" cy="38100"/>
          </a:xfrm>
          <a:prstGeom prst="rect">
            <a:avLst/>
          </a:prstGeom>
          <a:solidFill>
            <a:srgbClr val="00897B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04800" y="6600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The network is built to scale — 7 planned upgrade directions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304800" y="952500"/>
            <a:ext cx="4114800" cy="2667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NEAR-TERM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04800" y="12573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04800" y="1257300"/>
            <a:ext cx="4114800" cy="5715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81000" y="13237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Wi-Fi 6 / 5G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Upgrade wireless infrastructure for higher device density and faster speeds.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304800" y="19047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04800" y="1904700"/>
            <a:ext cx="4114800" cy="5715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81000" y="19711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Full IPv6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Replace remaining IPv4 addresses with IPv6 across all VLANs. Dual-stack already running.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04800" y="25521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304800" y="2552100"/>
            <a:ext cx="4114800" cy="5715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81000" y="26185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A726"/>
                </a:solidFill>
                <a:latin typeface="Calibri"/>
                <a:ea typeface="Calibri"/>
                <a:cs typeface="Calibri"/>
                <a:sym typeface="Calibri"/>
              </a:rPr>
              <a:t>SNMP 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Nagios or Zabbix dashboard for real-time network health monitoring.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04800" y="31995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04800" y="3199500"/>
            <a:ext cx="4114800" cy="5715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81000" y="32659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DD0E1"/>
                </a:solidFill>
                <a:latin typeface="Calibri"/>
                <a:ea typeface="Calibri"/>
                <a:cs typeface="Calibri"/>
                <a:sym typeface="Calibri"/>
              </a:rPr>
              <a:t>Dynamic NAT/PAT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Replace static NAT with dynamic PAT — more scalable as client count grows.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724400" y="952500"/>
            <a:ext cx="4114800" cy="2667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724400" y="12573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724400" y="1257300"/>
            <a:ext cx="4114800" cy="571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800600" y="13237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AI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Automated threat detection and incident response using machine learning.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724400" y="19047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724400" y="1904700"/>
            <a:ext cx="4114800" cy="5715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800600" y="19711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Zero Trust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Identity-based access model — verify every user and device before granting access.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24400" y="2552100"/>
            <a:ext cx="4114800" cy="6096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724400" y="2552100"/>
            <a:ext cx="41148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800600" y="261855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IoT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Smart sensors, automated lighting, industrial process automation network integration.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304800" y="3998500"/>
            <a:ext cx="8534400" cy="8382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81000" y="4064950"/>
            <a:ext cx="8382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Foundation already supports this:</a:t>
            </a:r>
            <a:r>
              <a:rPr b="0" i="0" lang="en-US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  Dual-stack IPv4+IPv6 running, modular 3-tier hierarchy, VLAN segmentation, and Git version control all make future upgrades straightforward.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8" name="Google Shape;398;p13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4114800" y="178308"/>
            <a:ext cx="484632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3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b="1" i="0" lang="en-US" sz="30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57200" y="9601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40080" y="9692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3-site enterprise network — Cisco Packet Tracer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57200" y="13030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40080" y="13121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VLANs + OSPF / OSPFv3 routing (IPv4 + IPv6)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57200" y="16459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640080" y="16550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 ISP + HSRP + EtherChannel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457200" y="19888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640080" y="19979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ASA 5506-X Firewall HA + DMZ server farm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57200" y="23317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40080" y="23408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VPN + NAT/PAT (Static + Dynamic + PAT overload)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57200" y="26746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640080" y="26837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Cisco WLC — centralized WiFi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57200" y="30175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640080" y="30266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Debian Linux 12: Apache, Samba, cron backup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57200" y="33604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640080" y="33695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Server 2019: AD, DNS, DHCP, shares, 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57200" y="37033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640080" y="37124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 test cases — 9 bugs found and fixed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57200" y="4046220"/>
            <a:ext cx="64008" cy="24688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40080" y="405536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version control + Jira Scrum (2-week sprints)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57200" y="4681728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57200" y="441655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Tóth Richárd  |  Schäfer Kristóf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c8e10b7d6_2_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E8EAED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THANK YOU FOR YOUR ATTENTION!</a:t>
            </a:r>
            <a:endParaRPr b="0" i="0" sz="2800" u="none" cap="none" strike="noStrike">
              <a:solidFill>
                <a:srgbClr val="E8EAED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2026-03-03T09:53:30Z</dcterms:created>
  <dc:creator>Schäfer Kristóf, Tóth Richárd</dc:creator>
</cp:coreProperties>
</file>