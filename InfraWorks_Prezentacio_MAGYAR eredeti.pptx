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Bemutató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1100">
                <a:latin typeface="Arial"/>
                <a:ea typeface="Arial"/>
                <a:cs typeface="Arial"/>
                <a:sym typeface="Arial"/>
              </a:rPr>
              <a:t>(Richárd)</a:t>
            </a:r>
            <a:endParaRPr i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"Jó napot kívánok!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Tóth Richárd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vagyok, a társam pedig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Schäfer Kristóf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. Engedjék meg, hogy bemutassuk az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InfraWorks Kft.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projektet. Egy fiktív vállalat számára terveztünk és építettünk fel egy teljes hálózati infrastruktúrát a nulláról, Cisco Packet Tracer és VirtualBox segítségével. A mai alkalommal szemléltetjük a tervezési elveinket, a választott technológiákat és a rendszer stabilitását." 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2. DIA — A PROJEKT ÁTTEKINTÉSE (Kristóf)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"A munka során egy teljesen üres lapról indultunk. A célunk egy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komplex vállalati környezet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szimulálása volt: három emelettel, hat részleggel, valamint USA-beli és kínai távoli irodákkal. Külön kiemelném a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DMZ zónát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, amely elszigeteli a nyilvános szervereket a belső hálózattól, így nyújtva extra védelmet. Itt láthatják az első “kézi” vázlatunkat: mielőtt bármilyen szoftveres munkához láttunk volna, a paint segítségével fektettük le a hálózat logikai alapjait."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3. DIA – TOPOLÓGIA (Richard)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"Hálózatunk felépítésénél az iparági szabványnak megfelelő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háromszintű hierarchiát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követtük a maximális üzembiztonság érdekében.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Internetkapcsolat: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Két független szolgáltatót alkalmazunk. Amennyiben az egyiknél hiba lépne fel, a forgalom automatikusan átirányítódik a másikra, így a cég sosem marad internet nélkül.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Tűzfalvédelem: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Két Cisco ASA 5506-x eszköz dolgozik aktív-készenléti módban. Ez a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dupla védelem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garantálja, hogy hardverhiba esetén is zavartalan maradjon a biztonsági szűrés.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Maghálózat: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A rendszer gerincét két központi switch alkotja, melyeket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EtherChannel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technológiával kötöttünk össze. Ez több fizikai kábelt von össze egyetlen nagy sebességű csatornává.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Távoli elérés: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Az irodák közötti kapcsolatot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WAN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technológiával biztosítottuk."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marR="38100" rtl="0" algn="l">
              <a:lnSpc>
                <a:spcPct val="12857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00">
              <a:solidFill>
                <a:srgbClr val="E8EAED"/>
              </a:solidFill>
              <a:highlight>
                <a:srgbClr val="303134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 i="1"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SLIDE 4 — FLOOR DETAIL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1100">
                <a:latin typeface="Arial"/>
                <a:ea typeface="Arial"/>
                <a:cs typeface="Arial"/>
                <a:sym typeface="Arial"/>
              </a:rPr>
              <a:t>(Kristóf)</a:t>
            </a:r>
            <a:endParaRPr i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"Ezen a dián az emeletek belső elosztása látható. Minden részleg saját szegmenst kapott, de az eszközpark egységes maradt. Az IP-címek kiosztását a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DHCP protokoll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végzi automatikusan – ez nagyban megkönnyíti az új eszközök csatlakoztatását. A szerverteremben azonban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statikus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, azaz fix címeket használunk, hogy a szerverek elérhetősége állandó és megbízható legyen minden felhasználó számára."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A képen látható bekötések a szimuláció korlátai miatt helyenként eltérnek a megszokottól, ezek a működés szemléltetését szolgálják. Kérjük, a diát működési térképként értelmezzék – a valós kivitelezés természetesen szabványos kábelezés szerint történik. 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5. DIA – VLAN-ok (Richard) </a:t>
            </a:r>
            <a:endParaRPr i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VLAN-ok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, vagyis virtuális hálózatok segítségével logikailag választottuk szét a részlegeket. Ez azt jelenti, hogy bár az eszközök közös kábeleken osztoznak, az adatok nem keverednek: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Elkülönítettük az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IT-menedzsment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, az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irodai munkaállomások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és a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WiFi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forgalmát.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hangalapú telefonálás (VoIP)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kiemelt prioritást kapott, hogy a hívások minősége terhelés alatt se romoljon.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A biztonság érdekében a használaton kívüli csatlakozókat lezártuk, így illetéktelenek nem tudnak hozzáférni a hálózathoz."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6. DIA – REDUNDANCIA (Közös)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"Rendszerünket úgynevezett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redundanciával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tettük golyóállóvá, ami azt jelenti, hogy nincsenek kritikus hibapontok. Hat különböző szinten biztosítottuk a folyamatosságot: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Ha egy kábel elszakad vagy egy eszköz meghibásodik, a tartalék rendszerek (mint a HSRP protokoll) azonnal,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2,1 másodpercen belül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átveszik az irányítást.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A felhasználók ebből a váltásból semmit sem érzékelnek, a munka zavartalanul folytatódhat."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7. DIA – BIZTONSÁG (Kristóf)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"A biztonsági stratégiánk a 'mélységi védelem' elvére épül: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A tűzfal szigorú zónákra osztja a hálózatot, ellenőrizve minden bejövő adatcsomagot.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A hálózati eszközök eléréséhez kizárólag titkosított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SSH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kapcsolatot engedélyezünk, így a jelszavak nem lophatók el a hálózatról.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Minden csatlakozási ponton korlátoztuk az engedélyezett eszközök számát, megelőzve az idegen gépek belépését."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8.DIA – SZERVEREK (Kristóf)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"A virtuális térben valódi szerver-infrastruktúrát is működtetünk: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Debian Linux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alatt futtatjuk a webszervert és a fájlmegosztást, melyekről minden éjjel automatikus biztonsági mentés készül.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Windows Server 2019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környezetben kezeljük a jogosultságokat és a központi nyomtatást. A két rendszer egy közös, védett NAT-hálózaton keresztül kommunikál, biztosítva a rugalmasságot és a biztonságot."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9. DIA – TESZTELÉS (Kristóf)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"A hálózat megbízhatóságát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97 egyedi tesztesettel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igazoltuk. Szimuláltunk eszközhibákat, kábelszakadásokat és hálózati túlterhelést is. Bár az első körben 9 hibát regisztráltunk, ezeket maradéktalanul javítottuk és dokumentáltuk. Így kijelenthetjük, hogy a rendszerünk éles körülmények között is megállja a helyét."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10. DIA – PROJEKTMANAGEMENT (Richard)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"A projekt során professzionális módszertanokat alkalmaztunk. A feladatokat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JIRA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környezetben, két-hetes ciklusokban (sprintekben) menedzseltük, a technikai beállításokat pedig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GitHub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-on verzióztuk. Ez lehetővé tette számunkra, hogy bármikor visszakövethessük a változtatásokat és garantáljuk a kód integritását. Összesen 140 munkaórát fektettünk a megvalósításba."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11. DIA — JÖVŐBELI TERVEK (Közös)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„Az InfraWorks infrastruktúrája jövőbiztos. Terveink között szerepel a teljes IPv6 migráció, az AI-alapú fenyegetésészlelés integrálása, valamint a Zero Trust modell bevezetése. Ehhez jelenleg stratégiai partnereket és kezdőtőkét keresünk, hogy a rendszert piacképes szolgáltatássá fejlesszük és skálázhatóan bevezessük.”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12. DIA — ÖSSZEFOGLALÁS (Közös)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"Összegzésként elmondhatjuk: egy olyan modern, nemzetközi szabványoknak megfelelő hálózatot hoztunk létre, amely stabil, biztonságos és kiválóan skálázható. Köszönjük megtisztelő figyelmüket, 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4" name="Google Shape;424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5" name="Google Shape;425;p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9.jpg"/><Relationship Id="rId5" Type="http://schemas.openxmlformats.org/officeDocument/2006/relationships/image" Target="../media/image5.jpg"/><Relationship Id="rId6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jpg"/><Relationship Id="rId4" Type="http://schemas.openxmlformats.org/officeDocument/2006/relationships/image" Target="../media/image3.jpg"/><Relationship Id="rId5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45750"/>
            <a:ext cx="9144000" cy="5052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1906900" y="896085"/>
            <a:ext cx="5029200" cy="549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1906900" y="950975"/>
            <a:ext cx="50292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5600"/>
              <a:buFont typeface="Calibri"/>
              <a:buNone/>
            </a:pPr>
            <a:r>
              <a:rPr b="1" i="0" lang="en-US" sz="5600" u="none" cap="none" strike="noStrike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InfraWorks Kft.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1906900" y="1828897"/>
            <a:ext cx="50292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Vállalati Hálózattervezés és Megvalósítás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2084775" y="2526630"/>
            <a:ext cx="2240400" cy="347400"/>
          </a:xfrm>
          <a:prstGeom prst="rect">
            <a:avLst/>
          </a:prstGeom>
          <a:solidFill>
            <a:srgbClr val="1B2A4A"/>
          </a:solidFill>
          <a:ln cap="flat" cmpd="sng" w="15225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2084713" y="2503818"/>
            <a:ext cx="2240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Cisco Packet Tracer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4462215" y="2526630"/>
            <a:ext cx="2240400" cy="347400"/>
          </a:xfrm>
          <a:prstGeom prst="rect">
            <a:avLst/>
          </a:prstGeom>
          <a:solidFill>
            <a:srgbClr val="1B2A4A"/>
          </a:solidFill>
          <a:ln cap="flat" cmpd="sng" w="15225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4462153" y="2503793"/>
            <a:ext cx="2240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VLAN + OSPF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2084775" y="2965542"/>
            <a:ext cx="2240400" cy="347400"/>
          </a:xfrm>
          <a:prstGeom prst="rect">
            <a:avLst/>
          </a:prstGeom>
          <a:solidFill>
            <a:srgbClr val="1B2A4A"/>
          </a:solidFill>
          <a:ln cap="flat" cmpd="sng" w="15225">
            <a:solidFill>
              <a:srgbClr val="1E8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2084775" y="2965542"/>
            <a:ext cx="2240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88E5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88E5"/>
                </a:solidFill>
                <a:latin typeface="Calibri"/>
                <a:ea typeface="Calibri"/>
                <a:cs typeface="Calibri"/>
                <a:sym typeface="Calibri"/>
              </a:rPr>
              <a:t>HSRP + LACP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4462215" y="2965542"/>
            <a:ext cx="2240400" cy="347400"/>
          </a:xfrm>
          <a:prstGeom prst="rect">
            <a:avLst/>
          </a:prstGeom>
          <a:solidFill>
            <a:srgbClr val="1B2A4A"/>
          </a:solidFill>
          <a:ln cap="flat" cmpd="sng" w="15225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4462215" y="2965542"/>
            <a:ext cx="2240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3935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53935"/>
                </a:solidFill>
                <a:latin typeface="Calibri"/>
                <a:ea typeface="Calibri"/>
                <a:cs typeface="Calibri"/>
                <a:sym typeface="Calibri"/>
              </a:rPr>
              <a:t>ASA Firewall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2084775" y="3404454"/>
            <a:ext cx="2240400" cy="347400"/>
          </a:xfrm>
          <a:prstGeom prst="rect">
            <a:avLst/>
          </a:prstGeom>
          <a:solidFill>
            <a:srgbClr val="1B2A4A"/>
          </a:solidFill>
          <a:ln cap="flat" cmpd="sng" w="15225">
            <a:solidFill>
              <a:srgbClr val="F57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2084775" y="3404454"/>
            <a:ext cx="2240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57C00"/>
                </a:solidFill>
                <a:latin typeface="Calibri"/>
                <a:ea typeface="Calibri"/>
                <a:cs typeface="Calibri"/>
                <a:sym typeface="Calibri"/>
              </a:rPr>
              <a:t>VPN + NAT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4462215" y="3404454"/>
            <a:ext cx="2240400" cy="347400"/>
          </a:xfrm>
          <a:prstGeom prst="rect">
            <a:avLst/>
          </a:prstGeom>
          <a:solidFill>
            <a:srgbClr val="1B2A4A"/>
          </a:solidFill>
          <a:ln cap="flat" cmpd="sng" w="15225">
            <a:solidFill>
              <a:srgbClr val="7B1F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4462215" y="3404454"/>
            <a:ext cx="2240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1FA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7B1FA2"/>
                </a:solidFill>
                <a:latin typeface="Calibri"/>
                <a:ea typeface="Calibri"/>
                <a:cs typeface="Calibri"/>
                <a:sym typeface="Calibri"/>
              </a:rPr>
              <a:t>Debian + Windows Server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3352675" y="4160650"/>
            <a:ext cx="2538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300"/>
              <a:buFont typeface="Calibri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Tóth Richárd  |  Schäfer Kristóf</a:t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1884550" y="4434848"/>
            <a:ext cx="507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50"/>
              <a:buFont typeface="Calibri"/>
              <a:buNone/>
            </a:pPr>
            <a:r>
              <a:rPr b="0" i="0" lang="en-US" sz="14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Apáczai Csere János Technikum és Kollégium  |  Dombóvár  |  2026</a:t>
            </a:r>
            <a:endParaRPr b="0" i="0" sz="14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384048" y="128016"/>
            <a:ext cx="8503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Projektáttekintés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384048" y="731520"/>
            <a:ext cx="8412480" cy="27432"/>
          </a:xfrm>
          <a:prstGeom prst="rect">
            <a:avLst/>
          </a:prstGeom>
          <a:solidFill>
            <a:srgbClr val="00BCD4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320040" y="914400"/>
            <a:ext cx="4206240" cy="1280160"/>
          </a:xfrm>
          <a:prstGeom prst="rect">
            <a:avLst/>
          </a:prstGeom>
          <a:solidFill>
            <a:srgbClr val="111C2B"/>
          </a:solidFill>
          <a:ln cap="flat" cmpd="sng" w="12700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320040" y="914400"/>
            <a:ext cx="4206240" cy="54864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457200" y="969264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3935"/>
              </a:buClr>
              <a:buSzPts val="1400"/>
              <a:buFont typeface="Calibri"/>
              <a:buNone/>
            </a:pPr>
            <a:r>
              <a:rPr b="1" i="0" lang="en-US" sz="1600" u="none" cap="none" strike="noStrike">
                <a:solidFill>
                  <a:srgbClr val="E53935"/>
                </a:solidFill>
                <a:latin typeface="Calibri"/>
                <a:ea typeface="Calibri"/>
                <a:cs typeface="Calibri"/>
                <a:sym typeface="Calibri"/>
              </a:rPr>
              <a:t>A Probléma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457200" y="1353312"/>
            <a:ext cx="3931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50"/>
              <a:buFont typeface="Calibri"/>
              <a:buNone/>
            </a:pPr>
            <a:r>
              <a:rPr b="0" i="0" lang="en-US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Az InfraWorks Kft.-nek teljes, biztonságos, vállalati szintű hálózatot kellett kiépíteni a nulláról — 3 emeletet, 6 részleget, távoli irodákat és szerverinfrastruktúrát lefedve.</a:t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320040" y="2286000"/>
            <a:ext cx="4206240" cy="1828800"/>
          </a:xfrm>
          <a:prstGeom prst="rect">
            <a:avLst/>
          </a:prstGeom>
          <a:solidFill>
            <a:srgbClr val="111C2B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320040" y="2286000"/>
            <a:ext cx="4206240" cy="548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457200" y="2340864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88E5"/>
              </a:buClr>
              <a:buSzPts val="1400"/>
              <a:buFont typeface="Calibri"/>
              <a:buNone/>
            </a:pPr>
            <a:r>
              <a:rPr b="1" i="0" lang="en-US" sz="1600" u="none" cap="none" strike="noStrike">
                <a:solidFill>
                  <a:srgbClr val="1E88E5"/>
                </a:solidFill>
                <a:latin typeface="Calibri"/>
                <a:ea typeface="Calibri"/>
                <a:cs typeface="Calibri"/>
                <a:sym typeface="Calibri"/>
              </a:rPr>
              <a:t>Célok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457200" y="2724912"/>
            <a:ext cx="39319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-US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Skálázható 3 szintű hierarchikus architektúra</a:t>
            </a:r>
            <a:endParaRPr b="0" i="0" sz="12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457200" y="2752344"/>
            <a:ext cx="54864" cy="13716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457200" y="2953512"/>
            <a:ext cx="39319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-US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Teljes VLAN szegmentálás részlegenként</a:t>
            </a:r>
            <a:endParaRPr b="0" i="0" sz="12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457200" y="2980944"/>
            <a:ext cx="54864" cy="13716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457200" y="3182112"/>
            <a:ext cx="39319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-US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Kettős ISP + nincs egyetlen meghibásodási pont</a:t>
            </a:r>
            <a:endParaRPr b="0" i="0" sz="12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457200" y="3209544"/>
            <a:ext cx="54864" cy="13716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457200" y="3410712"/>
            <a:ext cx="39319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-US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ASA Tűzfal, ACL, csak SSH-s kezelés</a:t>
            </a:r>
            <a:endParaRPr b="0" i="0" sz="12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457200" y="3438144"/>
            <a:ext cx="54864" cy="13716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457200" y="3639312"/>
            <a:ext cx="39319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-US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IPv4 + IPv6 kettős verem</a:t>
            </a:r>
            <a:endParaRPr b="0" i="0" sz="12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457200" y="3666744"/>
            <a:ext cx="54864" cy="13716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457200" y="3867912"/>
            <a:ext cx="39319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-US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Linux + Windows Server infrastruktúra</a:t>
            </a:r>
            <a:endParaRPr b="0" i="0" sz="12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457200" y="3895344"/>
            <a:ext cx="54864" cy="13716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4754880" y="914400"/>
            <a:ext cx="4069080" cy="3200400"/>
          </a:xfrm>
          <a:prstGeom prst="rect">
            <a:avLst/>
          </a:prstGeom>
          <a:solidFill>
            <a:srgbClr val="111C2B"/>
          </a:solidFill>
          <a:ln cap="flat" cmpd="sng" w="12700">
            <a:solidFill>
              <a:srgbClr val="F57C0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4754880" y="914400"/>
            <a:ext cx="4069080" cy="54864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4892040" y="978512"/>
            <a:ext cx="3749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1300"/>
              <a:buFont typeface="Calibri"/>
              <a:buNone/>
            </a:pPr>
            <a:r>
              <a:rPr b="1" i="0" lang="en-US" sz="1600" u="none" cap="none" strike="noStrike">
                <a:solidFill>
                  <a:srgbClr val="F57C00"/>
                </a:solidFill>
                <a:latin typeface="Calibri"/>
                <a:ea typeface="Calibri"/>
                <a:cs typeface="Calibri"/>
                <a:sym typeface="Calibri"/>
              </a:rPr>
              <a:t>Korai Tervezési Vázlat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320040" y="4206240"/>
            <a:ext cx="8503920" cy="713232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457200" y="425196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100"/>
              <a:buFont typeface="Calibri"/>
              <a:buNone/>
            </a:pPr>
            <a:r>
              <a:rPr b="1" i="0" lang="en-US" sz="1600" u="none" cap="none" strike="noStrike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Csapat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457200" y="4535424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-US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Tóth Richárd — PM, Hálózatépítés, Videó, Szerverek</a:t>
            </a:r>
            <a:endParaRPr b="0" i="0" sz="12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4663440" y="4535424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-US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Schäfer Kristóf — Hálózattervezés, Tesztelés, Hibajelentések, Dokumentáció</a:t>
            </a:r>
            <a:endParaRPr b="0" i="0" sz="12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4526280" y="4279392"/>
            <a:ext cx="45720" cy="594360"/>
          </a:xfrm>
          <a:prstGeom prst="rect">
            <a:avLst/>
          </a:prstGeom>
          <a:solidFill>
            <a:srgbClr val="00BCD4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" name="Google Shape;71;p4" title="Kezdett.png"/>
          <p:cNvPicPr preferRelativeResize="0"/>
          <p:nvPr/>
        </p:nvPicPr>
        <p:blipFill rotWithShape="1">
          <a:blip r:embed="rId3">
            <a:alphaModFix/>
          </a:blip>
          <a:srcRect b="7184" l="0" r="10137" t="0"/>
          <a:stretch/>
        </p:blipFill>
        <p:spPr>
          <a:xfrm>
            <a:off x="4754875" y="1446313"/>
            <a:ext cx="4069074" cy="2630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384048" y="128016"/>
            <a:ext cx="8503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Hálózati Topológia — Cisco Packet Tracer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384048" y="731520"/>
            <a:ext cx="8412480" cy="27432"/>
          </a:xfrm>
          <a:prstGeom prst="rect">
            <a:avLst/>
          </a:prstGeom>
          <a:solidFill>
            <a:srgbClr val="1E88E5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1" name="Google Shape;8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80675" y="849163"/>
            <a:ext cx="5303526" cy="4300141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1540000" dist="19050">
              <a:srgbClr val="000000"/>
            </a:outerShdw>
          </a:effectLst>
        </p:spPr>
      </p:pic>
      <p:sp>
        <p:nvSpPr>
          <p:cNvPr id="82" name="Google Shape;82;p5"/>
          <p:cNvSpPr/>
          <p:nvPr/>
        </p:nvSpPr>
        <p:spPr>
          <a:xfrm>
            <a:off x="320040" y="914400"/>
            <a:ext cx="3383280" cy="685800"/>
          </a:xfrm>
          <a:prstGeom prst="rect">
            <a:avLst/>
          </a:prstGeom>
          <a:solidFill>
            <a:srgbClr val="111C2B"/>
          </a:solidFill>
          <a:ln cap="flat" cmpd="sng" w="15225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320040" y="914400"/>
            <a:ext cx="73152" cy="6858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502920" y="969264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200"/>
              <a:buFont typeface="Calibri"/>
              <a:buNone/>
            </a:pPr>
            <a:r>
              <a:rPr b="1" i="0" lang="en-US" sz="1600" u="none" cap="none" strike="noStrike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Internet + 2 ISP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502920" y="1261872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-US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SEACOM + SAFARICOM</a:t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320040" y="1719072"/>
            <a:ext cx="3383280" cy="685800"/>
          </a:xfrm>
          <a:prstGeom prst="rect">
            <a:avLst/>
          </a:prstGeom>
          <a:solidFill>
            <a:srgbClr val="111C2B"/>
          </a:solidFill>
          <a:ln cap="flat" cmpd="sng" w="15225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320040" y="1719072"/>
            <a:ext cx="73152" cy="6858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502920" y="1773936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3935"/>
              </a:buClr>
              <a:buSzPts val="1200"/>
              <a:buFont typeface="Calibri"/>
              <a:buNone/>
            </a:pPr>
            <a:r>
              <a:rPr b="1" i="0" lang="en-US" sz="1600" u="none" cap="none" strike="noStrike">
                <a:solidFill>
                  <a:srgbClr val="E53935"/>
                </a:solidFill>
                <a:latin typeface="Calibri"/>
                <a:ea typeface="Calibri"/>
                <a:cs typeface="Calibri"/>
                <a:sym typeface="Calibri"/>
              </a:rPr>
              <a:t>Perimeter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502920" y="2066544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-US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2x ASA 5506-X Tűzfal (Aktív/Készenléti)</a:t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320040" y="2523744"/>
            <a:ext cx="3383280" cy="685800"/>
          </a:xfrm>
          <a:prstGeom prst="rect">
            <a:avLst/>
          </a:prstGeom>
          <a:solidFill>
            <a:srgbClr val="111C2B"/>
          </a:solidFill>
          <a:ln cap="flat" cmpd="sng" w="15225">
            <a:solidFill>
              <a:srgbClr val="7B1F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320040" y="2523744"/>
            <a:ext cx="73152" cy="68580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502920" y="2578608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1FA2"/>
              </a:buClr>
              <a:buSzPts val="1200"/>
              <a:buFont typeface="Calibri"/>
              <a:buNone/>
            </a:pPr>
            <a:r>
              <a:rPr b="1" i="0" lang="en-US" sz="1600" u="none" cap="none" strike="noStrike">
                <a:solidFill>
                  <a:srgbClr val="7B1FA2"/>
                </a:solidFill>
                <a:latin typeface="Calibri"/>
                <a:ea typeface="Calibri"/>
                <a:cs typeface="Calibri"/>
                <a:sym typeface="Calibri"/>
              </a:rPr>
              <a:t>Mag-kapcsolók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502920" y="2871216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-US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CORE-SW1 + CORE-SW2 (HSRP + LACP)</a:t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320040" y="3328416"/>
            <a:ext cx="3383280" cy="685800"/>
          </a:xfrm>
          <a:prstGeom prst="rect">
            <a:avLst/>
          </a:prstGeom>
          <a:solidFill>
            <a:srgbClr val="111C2B"/>
          </a:solidFill>
          <a:ln cap="flat" cmpd="sng" w="15225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320040" y="3328416"/>
            <a:ext cx="73152" cy="6858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502920" y="338328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1200"/>
              <a:buFont typeface="Calibri"/>
              <a:buNone/>
            </a:pPr>
            <a:r>
              <a:rPr b="1" i="0" lang="en-US" sz="1600" u="none" cap="none" strike="noStrik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Részlegek (3 emelet)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502920" y="3675888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-US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 részleg + szerverterem</a:t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320040" y="4133088"/>
            <a:ext cx="3383280" cy="685800"/>
          </a:xfrm>
          <a:prstGeom prst="rect">
            <a:avLst/>
          </a:prstGeom>
          <a:solidFill>
            <a:srgbClr val="111C2B"/>
          </a:solidFill>
          <a:ln cap="flat" cmpd="sng" w="15225">
            <a:solidFill>
              <a:srgbClr val="F57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320040" y="4133088"/>
            <a:ext cx="73152" cy="6858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502920" y="4187952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1200"/>
              <a:buFont typeface="Calibri"/>
              <a:buNone/>
            </a:pPr>
            <a:r>
              <a:rPr b="1" i="0" lang="en-US" sz="1600" u="none" cap="none" strike="noStrike">
                <a:solidFill>
                  <a:srgbClr val="F57C00"/>
                </a:solidFill>
                <a:latin typeface="Calibri"/>
                <a:ea typeface="Calibri"/>
                <a:cs typeface="Calibri"/>
                <a:sym typeface="Calibri"/>
              </a:rPr>
              <a:t>Távoli Irodák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502920" y="4480560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-US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USA (8.8.0.0) + Kína (8.9.0.20)</a:t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384048" y="128016"/>
            <a:ext cx="8503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Részleg Elrendezés — 3 Emelet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384048" y="731520"/>
            <a:ext cx="8412480" cy="27432"/>
          </a:xfrm>
          <a:prstGeom prst="rect">
            <a:avLst/>
          </a:prstGeom>
          <a:solidFill>
            <a:srgbClr val="00C853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320040" y="4315968"/>
            <a:ext cx="8503920" cy="658368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548640" y="4343400"/>
            <a:ext cx="73152" cy="56692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685800" y="4352544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000"/>
              <a:buFont typeface="Calibri"/>
              <a:buNone/>
            </a:pPr>
            <a:r>
              <a:rPr b="1" i="0" lang="en-US" sz="1600" u="none" cap="none" strike="noStrike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1. emelet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685800" y="4581153"/>
            <a:ext cx="24690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Értékesítés &amp; Marketing | HR &amp; Logisztika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3383280" y="4343400"/>
            <a:ext cx="73152" cy="56692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3520440" y="4352544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00"/>
              <a:buFont typeface="Calibri"/>
              <a:buNone/>
            </a:pPr>
            <a:r>
              <a:rPr b="1" i="0" lang="en-US" sz="16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2. emelet</a:t>
            </a:r>
            <a:endParaRPr b="0" i="0" sz="16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3520440" y="4581144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Pénzügy | Admin &amp; Kapcsolatok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6217920" y="4343400"/>
            <a:ext cx="73152" cy="56692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6355080" y="4352544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1000"/>
              <a:buFont typeface="Calibri"/>
              <a:buNone/>
            </a:pPr>
            <a:r>
              <a:rPr b="1" i="0" lang="en-US" sz="1600" u="none" cap="none" strike="noStrik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3. emelet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6355080" y="4581144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IT Részleg | Szerverterem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" name="Google Shape;121;p6"/>
          <p:cNvPicPr preferRelativeResize="0"/>
          <p:nvPr/>
        </p:nvPicPr>
        <p:blipFill rotWithShape="1">
          <a:blip r:embed="rId3">
            <a:alphaModFix/>
          </a:blip>
          <a:srcRect b="0" l="-906" r="-896" t="0"/>
          <a:stretch/>
        </p:blipFill>
        <p:spPr>
          <a:xfrm>
            <a:off x="271650" y="862575"/>
            <a:ext cx="8552299" cy="327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384048" y="128016"/>
            <a:ext cx="8503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VLAN Szegmentálás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384048" y="731520"/>
            <a:ext cx="8412480" cy="27432"/>
          </a:xfrm>
          <a:prstGeom prst="rect">
            <a:avLst/>
          </a:prstGeom>
          <a:solidFill>
            <a:srgbClr val="1565C0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320040" y="914400"/>
            <a:ext cx="8503920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411480" y="932688"/>
            <a:ext cx="548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950"/>
              <a:buFont typeface="Calibri"/>
              <a:buNone/>
            </a:pPr>
            <a:r>
              <a:rPr b="1" i="0" lang="en-US" sz="1350" u="none" cap="none" strike="noStrike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VLAN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1051560" y="932688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950"/>
              <a:buFont typeface="Calibri"/>
              <a:buNone/>
            </a:pPr>
            <a:r>
              <a:rPr b="1" i="0" lang="en-US" sz="1350" u="none" cap="none" strike="noStrike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Név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2103120" y="932688"/>
            <a:ext cx="1325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950"/>
              <a:buFont typeface="Calibri"/>
              <a:buNone/>
            </a:pPr>
            <a:r>
              <a:rPr b="1" i="0" lang="en-US" sz="1350" u="none" cap="none" strike="noStrike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IPv4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3520440" y="932688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950"/>
              <a:buFont typeface="Calibri"/>
              <a:buNone/>
            </a:pPr>
            <a:r>
              <a:rPr b="1" i="0" lang="en-US" sz="1350" u="none" cap="none" strike="noStrike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IPv6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4892040" y="932688"/>
            <a:ext cx="2331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950"/>
              <a:buFont typeface="Calibri"/>
              <a:buNone/>
            </a:pPr>
            <a:r>
              <a:rPr b="1" i="0" lang="en-US" sz="1350" u="none" cap="none" strike="noStrike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Cél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7315200" y="932688"/>
            <a:ext cx="1143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950"/>
              <a:buFont typeface="Calibri"/>
              <a:buNone/>
            </a:pPr>
            <a:r>
              <a:rPr b="1" i="0" lang="en-US" sz="1350" u="none" cap="none" strike="noStrike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Szín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320040" y="1298448"/>
            <a:ext cx="8503920" cy="566928"/>
          </a:xfrm>
          <a:prstGeom prst="rect">
            <a:avLst/>
          </a:prstGeom>
          <a:solidFill>
            <a:srgbClr val="111C2B"/>
          </a:solidFill>
          <a:ln cap="flat" cmpd="sng" w="9525">
            <a:solidFill>
              <a:srgbClr val="1E8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320040" y="1298448"/>
            <a:ext cx="73152" cy="56692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429768" y="1408176"/>
            <a:ext cx="502920" cy="347472"/>
          </a:xfrm>
          <a:prstGeom prst="rect">
            <a:avLst/>
          </a:prstGeom>
          <a:solidFill>
            <a:srgbClr val="1E88E5">
              <a:alpha val="74901"/>
            </a:srgbClr>
          </a:solidFill>
          <a:ln cap="flat" cmpd="sng" w="12700">
            <a:solidFill>
              <a:srgbClr val="1E8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429768" y="1408176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1051560" y="1417320"/>
            <a:ext cx="960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Menedzsment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2103120" y="1417320"/>
            <a:ext cx="1325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onsolas"/>
              <a:buNone/>
            </a:pPr>
            <a:r>
              <a:rPr b="0" i="0" lang="en-US" sz="1200" u="none" cap="none" strike="noStrike">
                <a:solidFill>
                  <a:srgbClr val="90A4AE"/>
                </a:solidFill>
                <a:latin typeface="Consolas"/>
                <a:ea typeface="Consolas"/>
                <a:cs typeface="Consolas"/>
                <a:sym typeface="Consolas"/>
              </a:rPr>
              <a:t>192.168.10.0/24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3429000" y="1389949"/>
            <a:ext cx="1371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00"/>
              <a:buFont typeface="Consolas"/>
              <a:buNone/>
            </a:pPr>
            <a:r>
              <a:rPr b="0" i="0" lang="en-US" sz="1200" u="none" cap="none" strike="noStrike">
                <a:solidFill>
                  <a:srgbClr val="90A4AE"/>
                </a:solidFill>
                <a:latin typeface="Consolas"/>
                <a:ea typeface="Consolas"/>
                <a:cs typeface="Consolas"/>
                <a:sym typeface="Consolas"/>
              </a:rPr>
              <a:t>2001:db8:10::/64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4892040" y="1417320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b="0" i="0" lang="en-US" sz="12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Switch/router kezelés — csak IT részleg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7360920" y="1463040"/>
            <a:ext cx="228600" cy="228600"/>
          </a:xfrm>
          <a:prstGeom prst="rect">
            <a:avLst/>
          </a:prstGeom>
          <a:solidFill>
            <a:srgbClr val="1E88E5"/>
          </a:solidFill>
          <a:ln cap="flat" cmpd="sng" w="12700">
            <a:solidFill>
              <a:srgbClr val="1E8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320040" y="1911096"/>
            <a:ext cx="8503920" cy="566928"/>
          </a:xfrm>
          <a:prstGeom prst="rect">
            <a:avLst/>
          </a:prstGeom>
          <a:solidFill>
            <a:srgbClr val="1B2A4A"/>
          </a:solidFill>
          <a:ln cap="flat" cmpd="sng" w="952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320040" y="1911096"/>
            <a:ext cx="73152" cy="5669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429768" y="2020824"/>
            <a:ext cx="502920" cy="347472"/>
          </a:xfrm>
          <a:prstGeom prst="rect">
            <a:avLst/>
          </a:prstGeom>
          <a:solidFill>
            <a:srgbClr val="2E7D32">
              <a:alpha val="74901"/>
            </a:srgbClr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429768" y="2020824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1051560" y="2029968"/>
            <a:ext cx="960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LAN (Vezetékes)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2103120" y="2029968"/>
            <a:ext cx="1325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onsolas"/>
              <a:buNone/>
            </a:pPr>
            <a:r>
              <a:rPr b="0" i="0" lang="en-US" sz="1200" u="none" cap="none" strike="noStrike">
                <a:solidFill>
                  <a:srgbClr val="90A4AE"/>
                </a:solidFill>
                <a:latin typeface="Consolas"/>
                <a:ea typeface="Consolas"/>
                <a:cs typeface="Consolas"/>
                <a:sym typeface="Consolas"/>
              </a:rPr>
              <a:t>172.16.0.0/16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3384900" y="2002524"/>
            <a:ext cx="1415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00"/>
              <a:buFont typeface="Consolas"/>
              <a:buNone/>
            </a:pPr>
            <a:r>
              <a:rPr b="0" i="0" lang="en-US" sz="1200" u="none" cap="none" strike="noStrike">
                <a:solidFill>
                  <a:srgbClr val="90A4AE"/>
                </a:solidFill>
                <a:latin typeface="Consolas"/>
                <a:ea typeface="Consolas"/>
                <a:cs typeface="Consolas"/>
                <a:sym typeface="Consolas"/>
              </a:rPr>
              <a:t>2001:db8:20::/64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4892040" y="2029968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b="0" i="0" lang="en-US" sz="12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Összes vezetékes munkaállomás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7360920" y="2075688"/>
            <a:ext cx="228600" cy="228600"/>
          </a:xfrm>
          <a:prstGeom prst="rect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320040" y="2523744"/>
            <a:ext cx="8503920" cy="566928"/>
          </a:xfrm>
          <a:prstGeom prst="rect">
            <a:avLst/>
          </a:prstGeom>
          <a:solidFill>
            <a:srgbClr val="111C2B"/>
          </a:solidFill>
          <a:ln cap="flat" cmpd="sng" w="9525">
            <a:solidFill>
              <a:srgbClr val="F57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320040" y="2523744"/>
            <a:ext cx="73152" cy="56692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429768" y="2633472"/>
            <a:ext cx="502920" cy="347472"/>
          </a:xfrm>
          <a:prstGeom prst="rect">
            <a:avLst/>
          </a:prstGeom>
          <a:solidFill>
            <a:srgbClr val="F57C00">
              <a:alpha val="74901"/>
            </a:srgbClr>
          </a:solidFill>
          <a:ln cap="flat" cmpd="sng" w="12700">
            <a:solidFill>
              <a:srgbClr val="F57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429768" y="2633472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1051560" y="2642616"/>
            <a:ext cx="960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WLAN (WiFi)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2103120" y="2642616"/>
            <a:ext cx="1325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onsolas"/>
              <a:buNone/>
            </a:pPr>
            <a:r>
              <a:rPr b="0" i="0" lang="en-US" sz="1200" u="none" cap="none" strike="noStrike">
                <a:solidFill>
                  <a:srgbClr val="90A4AE"/>
                </a:solidFill>
                <a:latin typeface="Consolas"/>
                <a:ea typeface="Consolas"/>
                <a:cs typeface="Consolas"/>
                <a:sym typeface="Consolas"/>
              </a:rPr>
              <a:t>10.20.0.0/16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3520440" y="2642616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90A4AE"/>
                </a:solidFill>
                <a:latin typeface="Consolas"/>
                <a:ea typeface="Consolas"/>
                <a:cs typeface="Consolas"/>
                <a:sym typeface="Consolas"/>
              </a:rPr>
              <a:t>—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4892040" y="2642616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b="0" i="0" lang="en-US" sz="12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Vezeték nélküli eszközök (WLC kezelt)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7360920" y="2688336"/>
            <a:ext cx="228600" cy="228600"/>
          </a:xfrm>
          <a:prstGeom prst="rect">
            <a:avLst/>
          </a:prstGeom>
          <a:solidFill>
            <a:srgbClr val="F57C00"/>
          </a:solidFill>
          <a:ln cap="flat" cmpd="sng" w="12700">
            <a:solidFill>
              <a:srgbClr val="F57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320040" y="3136392"/>
            <a:ext cx="8503920" cy="566928"/>
          </a:xfrm>
          <a:prstGeom prst="rect">
            <a:avLst/>
          </a:prstGeom>
          <a:solidFill>
            <a:srgbClr val="1B2A4A"/>
          </a:solidFill>
          <a:ln cap="flat" cmpd="sng" w="9525">
            <a:solidFill>
              <a:srgbClr val="7B1F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320040" y="3136392"/>
            <a:ext cx="73152" cy="566928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429768" y="3246120"/>
            <a:ext cx="502920" cy="347472"/>
          </a:xfrm>
          <a:prstGeom prst="rect">
            <a:avLst/>
          </a:prstGeom>
          <a:solidFill>
            <a:srgbClr val="7B1FA2">
              <a:alpha val="74901"/>
            </a:srgbClr>
          </a:solidFill>
          <a:ln cap="flat" cmpd="sng" w="12700">
            <a:solidFill>
              <a:srgbClr val="7B1F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429768" y="3246120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1051560" y="3255264"/>
            <a:ext cx="960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VoIP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2103120" y="3255264"/>
            <a:ext cx="1325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onsolas"/>
              <a:buNone/>
            </a:pPr>
            <a:r>
              <a:rPr b="0" i="0" lang="en-US" sz="1200" u="none" cap="none" strike="noStrike">
                <a:solidFill>
                  <a:srgbClr val="90A4AE"/>
                </a:solidFill>
                <a:latin typeface="Consolas"/>
                <a:ea typeface="Consolas"/>
                <a:cs typeface="Consolas"/>
                <a:sym typeface="Consolas"/>
              </a:rPr>
              <a:t>172.30.0.0/16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3520440" y="3255264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90A4AE"/>
                </a:solidFill>
                <a:latin typeface="Consolas"/>
                <a:ea typeface="Consolas"/>
                <a:cs typeface="Consolas"/>
                <a:sym typeface="Consolas"/>
              </a:rPr>
              <a:t>—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4892040" y="3255264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b="0" i="0" lang="en-US" sz="12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Cisco 7900 IP telefonok — QoS elsőbbség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7360920" y="3300984"/>
            <a:ext cx="228600" cy="228600"/>
          </a:xfrm>
          <a:prstGeom prst="rect">
            <a:avLst/>
          </a:prstGeom>
          <a:solidFill>
            <a:srgbClr val="7B1FA2"/>
          </a:solidFill>
          <a:ln cap="flat" cmpd="sng" w="12700">
            <a:solidFill>
              <a:srgbClr val="7B1F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320040" y="3749040"/>
            <a:ext cx="8503920" cy="566928"/>
          </a:xfrm>
          <a:prstGeom prst="rect">
            <a:avLst/>
          </a:prstGeom>
          <a:solidFill>
            <a:srgbClr val="111C2B"/>
          </a:solidFill>
          <a:ln cap="flat" cmpd="sng" w="9525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320040" y="3749040"/>
            <a:ext cx="73152" cy="5669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429768" y="3858768"/>
            <a:ext cx="502920" cy="347472"/>
          </a:xfrm>
          <a:prstGeom prst="rect">
            <a:avLst/>
          </a:prstGeom>
          <a:solidFill>
            <a:srgbClr val="E53935">
              <a:alpha val="74901"/>
            </a:srgbClr>
          </a:solidFill>
          <a:ln cap="flat" cmpd="sng" w="12700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429768" y="3858768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1051560" y="3867912"/>
            <a:ext cx="960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Szerverek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2103120" y="3867912"/>
            <a:ext cx="1325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onsolas"/>
              <a:buNone/>
            </a:pPr>
            <a:r>
              <a:rPr b="0" i="0" lang="en-US" sz="1200" u="none" cap="none" strike="noStrike">
                <a:solidFill>
                  <a:srgbClr val="90A4AE"/>
                </a:solidFill>
                <a:latin typeface="Consolas"/>
                <a:ea typeface="Consolas"/>
                <a:cs typeface="Consolas"/>
                <a:sym typeface="Consolas"/>
              </a:rPr>
              <a:t>10.11.11.32/27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3384850" y="3867925"/>
            <a:ext cx="1415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00"/>
              <a:buFont typeface="Consolas"/>
              <a:buNone/>
            </a:pPr>
            <a:r>
              <a:rPr b="0" i="0" lang="en-US" sz="1200" u="none" cap="none" strike="noStrike">
                <a:solidFill>
                  <a:srgbClr val="90A4AE"/>
                </a:solidFill>
                <a:latin typeface="Consolas"/>
                <a:ea typeface="Consolas"/>
                <a:cs typeface="Consolas"/>
                <a:sym typeface="Consolas"/>
              </a:rPr>
              <a:t>2001:db8:90::/64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4892040" y="3867912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b="0" i="0" lang="en-US" sz="12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Belső szerverek — csak statikus IP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7360920" y="3913632"/>
            <a:ext cx="228600" cy="228600"/>
          </a:xfrm>
          <a:prstGeom prst="rect">
            <a:avLst/>
          </a:prstGeom>
          <a:solidFill>
            <a:srgbClr val="E53935"/>
          </a:solidFill>
          <a:ln cap="flat" cmpd="sng" w="12700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320040" y="4361688"/>
            <a:ext cx="8503920" cy="566928"/>
          </a:xfrm>
          <a:prstGeom prst="rect">
            <a:avLst/>
          </a:prstGeom>
          <a:solidFill>
            <a:srgbClr val="1B2A4A"/>
          </a:solidFill>
          <a:ln cap="flat" cmpd="sng" w="9525">
            <a:solidFill>
              <a:srgbClr val="546E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320040" y="4361688"/>
            <a:ext cx="73152" cy="566928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429768" y="4471416"/>
            <a:ext cx="502920" cy="347472"/>
          </a:xfrm>
          <a:prstGeom prst="rect">
            <a:avLst/>
          </a:prstGeom>
          <a:solidFill>
            <a:srgbClr val="546E7A">
              <a:alpha val="74901"/>
            </a:srgbClr>
          </a:solidFill>
          <a:ln cap="flat" cmpd="sng" w="12700">
            <a:solidFill>
              <a:srgbClr val="546E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429768" y="4471416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199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1051560" y="4480560"/>
            <a:ext cx="960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Fekete lyuk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2103120" y="4480560"/>
            <a:ext cx="1325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onsolas"/>
                <a:ea typeface="Consolas"/>
                <a:cs typeface="Consolas"/>
                <a:sym typeface="Consolas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3520440" y="448056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90A4AE"/>
                </a:solidFill>
                <a:latin typeface="Consolas"/>
                <a:ea typeface="Consolas"/>
                <a:cs typeface="Consolas"/>
                <a:sym typeface="Consolas"/>
              </a:rPr>
              <a:t>—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4892040" y="4480560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b="0" i="0" lang="en-US" sz="12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Nem használt portok — biztonsági izoláció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7360920" y="4526280"/>
            <a:ext cx="228600" cy="228600"/>
          </a:xfrm>
          <a:prstGeom prst="rect">
            <a:avLst/>
          </a:prstGeom>
          <a:solidFill>
            <a:srgbClr val="546E7A"/>
          </a:solidFill>
          <a:ln cap="flat" cmpd="sng" w="12700">
            <a:solidFill>
              <a:srgbClr val="546E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320040" y="4965192"/>
            <a:ext cx="8503920" cy="2743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0" y="0"/>
            <a:ext cx="152400" cy="514350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304800" y="91440"/>
            <a:ext cx="8534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Redundancia &amp; Magas Rendelkezésre Állás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304800" y="609600"/>
            <a:ext cx="8534400" cy="38100"/>
          </a:xfrm>
          <a:prstGeom prst="rect">
            <a:avLst/>
          </a:prstGeom>
          <a:solidFill>
            <a:srgbClr val="7B1FA2">
              <a:alpha val="5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304800" y="660000"/>
            <a:ext cx="853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6 független réteg — ha bármely komponens meghibásodik, a hálózat megszakítás nélkül működik tovább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304800" y="939800"/>
            <a:ext cx="2743200" cy="1828800"/>
          </a:xfrm>
          <a:prstGeom prst="rect">
            <a:avLst/>
          </a:prstGeom>
          <a:solidFill>
            <a:srgbClr val="0A2540"/>
          </a:solidFill>
          <a:ln cap="flat" cmpd="sng" w="1905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304800" y="939800"/>
            <a:ext cx="2743200" cy="889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381000" y="1047750"/>
            <a:ext cx="2590800" cy="1714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Kettős ISP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SEACOM + SAFARICOM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FD8DC"/>
                </a:solidFill>
                <a:latin typeface="Calibri"/>
                <a:ea typeface="Calibri"/>
                <a:cs typeface="Calibri"/>
                <a:sym typeface="Calibri"/>
              </a:rPr>
              <a:t>Két független internetszolgáltató. Ha az egyik meghibásodik, automatikusan átvált a másikra.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3200400" y="939800"/>
            <a:ext cx="2743200" cy="1828800"/>
          </a:xfrm>
          <a:prstGeom prst="rect">
            <a:avLst/>
          </a:prstGeom>
          <a:solidFill>
            <a:srgbClr val="0A2540"/>
          </a:solidFill>
          <a:ln cap="flat" cmpd="sng" w="1905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3200400" y="939800"/>
            <a:ext cx="2743200" cy="889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3276600" y="1047750"/>
            <a:ext cx="2590800" cy="1714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E88E5"/>
                </a:solidFill>
                <a:latin typeface="Calibri"/>
                <a:ea typeface="Calibri"/>
                <a:cs typeface="Calibri"/>
                <a:sym typeface="Calibri"/>
              </a:rPr>
              <a:t>HSRP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110 / 100 prioritás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FD8DC"/>
                </a:solidFill>
                <a:latin typeface="Calibri"/>
                <a:ea typeface="Calibri"/>
                <a:cs typeface="Calibri"/>
                <a:sym typeface="Calibri"/>
              </a:rPr>
              <a:t>CORE-SW1 aktív, CORE-SW2 készenléti. Feladatátvétel tesztelve: 2,1 másodperc, 2 csomag elveszett.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6096000" y="939800"/>
            <a:ext cx="2743200" cy="1828800"/>
          </a:xfrm>
          <a:prstGeom prst="rect">
            <a:avLst/>
          </a:prstGeom>
          <a:solidFill>
            <a:srgbClr val="0A2540"/>
          </a:solidFill>
          <a:ln cap="flat" cmpd="sng" w="19050">
            <a:solidFill>
              <a:srgbClr val="1E8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6096000" y="939800"/>
            <a:ext cx="2743200" cy="889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6172200" y="1047750"/>
            <a:ext cx="2590800" cy="1714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42A5F5"/>
                </a:solidFill>
                <a:latin typeface="Calibri"/>
                <a:ea typeface="Calibri"/>
                <a:cs typeface="Calibri"/>
                <a:sym typeface="Calibri"/>
              </a:rPr>
              <a:t>EtherChannel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LACP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FD8DC"/>
                </a:solidFill>
                <a:latin typeface="Calibri"/>
                <a:ea typeface="Calibri"/>
                <a:cs typeface="Calibri"/>
                <a:sym typeface="Calibri"/>
              </a:rPr>
              <a:t>Mag-kapcsolók több linkkel összekötve — nagyobb sávszélesség és link-redundancia.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304800" y="2921000"/>
            <a:ext cx="2743200" cy="1828800"/>
          </a:xfrm>
          <a:prstGeom prst="rect">
            <a:avLst/>
          </a:prstGeom>
          <a:solidFill>
            <a:srgbClr val="0A2540"/>
          </a:solidFill>
          <a:ln cap="flat" cmpd="sng" w="19050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304800" y="2921000"/>
            <a:ext cx="2743200" cy="889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381000" y="3028950"/>
            <a:ext cx="2590800" cy="1714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EF5350"/>
                </a:solidFill>
                <a:latin typeface="Calibri"/>
                <a:ea typeface="Calibri"/>
                <a:cs typeface="Calibri"/>
                <a:sym typeface="Calibri"/>
              </a:rPr>
              <a:t>Tűzfal HA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ASA Active/Standby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FD8DC"/>
                </a:solidFill>
                <a:latin typeface="Calibri"/>
                <a:ea typeface="Calibri"/>
                <a:cs typeface="Calibri"/>
                <a:sym typeface="Calibri"/>
              </a:rPr>
              <a:t>Két Cisco ASA 5506-X. Ha az aktív meghibásodik, a készenléti azonnal átveszi — kapcsolatok nem szakadnak meg.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3200400" y="2921000"/>
            <a:ext cx="2743200" cy="1828800"/>
          </a:xfrm>
          <a:prstGeom prst="rect">
            <a:avLst/>
          </a:prstGeom>
          <a:solidFill>
            <a:srgbClr val="0A2540"/>
          </a:solidFill>
          <a:ln cap="flat" cmpd="sng" w="19050">
            <a:solidFill>
              <a:srgbClr val="F57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3200400" y="2921000"/>
            <a:ext cx="2743200" cy="889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3276600" y="3028950"/>
            <a:ext cx="2590800" cy="1714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A726"/>
                </a:solidFill>
                <a:latin typeface="Calibri"/>
                <a:ea typeface="Calibri"/>
                <a:cs typeface="Calibri"/>
                <a:sym typeface="Calibri"/>
              </a:rPr>
              <a:t>WiFi Redundancia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Dual AP + WLC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FD8DC"/>
                </a:solidFill>
                <a:latin typeface="Calibri"/>
                <a:ea typeface="Calibri"/>
                <a:cs typeface="Calibri"/>
                <a:sym typeface="Calibri"/>
              </a:rPr>
              <a:t>Minden részlegnek 2 AP-ja van WLC által kezelve. Automatikus terheléselosztás és feladatátvétel.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6096000" y="2921000"/>
            <a:ext cx="2743200" cy="1828800"/>
          </a:xfrm>
          <a:prstGeom prst="rect">
            <a:avLst/>
          </a:prstGeom>
          <a:solidFill>
            <a:srgbClr val="0A2540"/>
          </a:solidFill>
          <a:ln cap="flat" cmpd="sng" w="1905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6096000" y="2921000"/>
            <a:ext cx="2743200" cy="889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6172200" y="3028950"/>
            <a:ext cx="2590800" cy="1714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69F0AE"/>
                </a:solidFill>
                <a:latin typeface="Calibri"/>
                <a:ea typeface="Calibri"/>
                <a:cs typeface="Calibri"/>
                <a:sym typeface="Calibri"/>
              </a:rPr>
              <a:t>STP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Feszítőfa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FD8DC"/>
                </a:solidFill>
                <a:latin typeface="Calibri"/>
                <a:ea typeface="Calibri"/>
                <a:cs typeface="Calibri"/>
                <a:sym typeface="Calibri"/>
              </a:rPr>
              <a:t>Megakadályozza a 2. rétegű hurkokat. PVST+ VLAN-onként. Gyors konvergencia engedélyezve.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0" y="0"/>
            <a:ext cx="152400" cy="514350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304800" y="91440"/>
            <a:ext cx="8534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Biztonsági Architektúra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304800" y="609600"/>
            <a:ext cx="8534400" cy="38100"/>
          </a:xfrm>
          <a:prstGeom prst="rect">
            <a:avLst/>
          </a:prstGeom>
          <a:solidFill>
            <a:srgbClr val="B71C1C">
              <a:alpha val="5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304800" y="660000"/>
            <a:ext cx="853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Mélységi védelem — 6 független biztonsági réteg. A támadónak mindegyiken át kell törnie a belső erőforrások eléréséhez.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304800" y="952500"/>
            <a:ext cx="4191000" cy="1219200"/>
          </a:xfrm>
          <a:prstGeom prst="rect">
            <a:avLst/>
          </a:prstGeom>
          <a:solidFill>
            <a:srgbClr val="0A2540"/>
          </a:solidFill>
          <a:ln cap="flat" cmpd="sng" w="19050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304800" y="952500"/>
            <a:ext cx="76200" cy="12192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431800" y="990600"/>
            <a:ext cx="4000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F5350"/>
                </a:solidFill>
                <a:latin typeface="Calibri"/>
                <a:ea typeface="Calibri"/>
                <a:cs typeface="Calibri"/>
                <a:sym typeface="Calibri"/>
              </a:rPr>
              <a:t>ASA Firewall</a:t>
            </a:r>
            <a:r>
              <a:rPr b="0" i="0" lang="en-US" sz="1100" u="none" cap="none" strike="noStrike">
                <a:solidFill>
                  <a:srgbClr val="78909C"/>
                </a:solidFill>
                <a:latin typeface="Calibri"/>
                <a:ea typeface="Calibri"/>
                <a:cs typeface="Calibri"/>
                <a:sym typeface="Calibri"/>
              </a:rPr>
              <a:t>  —  Perimeter Defense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Internet / DMZ / Belső zónák. Állapotkövető csomagvizsgálat. Zónaalapú szabályok.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304800" y="2222500"/>
            <a:ext cx="4191000" cy="1219200"/>
          </a:xfrm>
          <a:prstGeom prst="rect">
            <a:avLst/>
          </a:prstGeom>
          <a:solidFill>
            <a:srgbClr val="0A2540"/>
          </a:solidFill>
          <a:ln cap="flat" cmpd="sng" w="19050">
            <a:solidFill>
              <a:srgbClr val="F57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304800" y="2222500"/>
            <a:ext cx="76200" cy="12192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431800" y="2260600"/>
            <a:ext cx="4000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A726"/>
                </a:solidFill>
                <a:latin typeface="Calibri"/>
                <a:ea typeface="Calibri"/>
                <a:cs typeface="Calibri"/>
                <a:sym typeface="Calibri"/>
              </a:rPr>
              <a:t>ACL</a:t>
            </a:r>
            <a:r>
              <a:rPr b="0" i="0" lang="en-US" sz="1100" u="none" cap="none" strike="noStrike">
                <a:solidFill>
                  <a:srgbClr val="78909C"/>
                </a:solidFill>
                <a:latin typeface="Calibri"/>
                <a:ea typeface="Calibri"/>
                <a:cs typeface="Calibri"/>
                <a:sym typeface="Calibri"/>
              </a:rPr>
              <a:t>  —  Access Control Lists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VTY kezelés: csak 192.168.10.0/24. ACL 100/101 a határinterfészeken. Minden más tiltva.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304800" y="3492500"/>
            <a:ext cx="4191000" cy="1219200"/>
          </a:xfrm>
          <a:prstGeom prst="rect">
            <a:avLst/>
          </a:prstGeom>
          <a:solidFill>
            <a:srgbClr val="0A2540"/>
          </a:solidFill>
          <a:ln cap="flat" cmpd="sng" w="19050">
            <a:solidFill>
              <a:srgbClr val="1E8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304800" y="3492500"/>
            <a:ext cx="76200" cy="12192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431800" y="3530600"/>
            <a:ext cx="4000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42A5F5"/>
                </a:solidFill>
                <a:latin typeface="Calibri"/>
                <a:ea typeface="Calibri"/>
                <a:cs typeface="Calibri"/>
                <a:sym typeface="Calibri"/>
              </a:rPr>
              <a:t>SSH v2 Only</a:t>
            </a:r>
            <a:r>
              <a:rPr b="0" i="0" lang="en-US" sz="1100" u="none" cap="none" strike="noStrike">
                <a:solidFill>
                  <a:srgbClr val="78909C"/>
                </a:solidFill>
                <a:latin typeface="Calibri"/>
                <a:ea typeface="Calibri"/>
                <a:cs typeface="Calibri"/>
                <a:sym typeface="Calibri"/>
              </a:rPr>
              <a:t>  —  No Telnet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Telnet teljesen letiltva. RSA 1024 bites kulcs. Felhasználónév + titkosított jelszó szükséges mindenhol.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4724400" y="952500"/>
            <a:ext cx="4191000" cy="1219200"/>
          </a:xfrm>
          <a:prstGeom prst="rect">
            <a:avLst/>
          </a:prstGeom>
          <a:solidFill>
            <a:srgbClr val="0A2540"/>
          </a:solidFill>
          <a:ln cap="flat" cmpd="sng" w="19050">
            <a:solidFill>
              <a:srgbClr val="7B1F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4724400" y="952500"/>
            <a:ext cx="76200" cy="121920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4851400" y="990600"/>
            <a:ext cx="4000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CE93D8"/>
                </a:solidFill>
                <a:latin typeface="Calibri"/>
                <a:ea typeface="Calibri"/>
                <a:cs typeface="Calibri"/>
                <a:sym typeface="Calibri"/>
              </a:rPr>
              <a:t>DMZ Zone</a:t>
            </a:r>
            <a:r>
              <a:rPr b="0" i="0" lang="en-US" sz="1100" u="none" cap="none" strike="noStrike">
                <a:solidFill>
                  <a:srgbClr val="78909C"/>
                </a:solidFill>
                <a:latin typeface="Calibri"/>
                <a:ea typeface="Calibri"/>
                <a:cs typeface="Calibri"/>
                <a:sym typeface="Calibri"/>
              </a:rPr>
              <a:t>  —  Public Szerverek Isolated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Web, FTP, DNS, Email a DMZ-ben. Nincs közvetlen útvonal: DMZ-ből a belső LAN-ra.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4724400" y="2222500"/>
            <a:ext cx="4191000" cy="1219200"/>
          </a:xfrm>
          <a:prstGeom prst="rect">
            <a:avLst/>
          </a:prstGeom>
          <a:solidFill>
            <a:srgbClr val="0A2540"/>
          </a:solidFill>
          <a:ln cap="flat" cmpd="sng" w="19050">
            <a:solidFill>
              <a:srgbClr val="00AC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4724400" y="2222500"/>
            <a:ext cx="76200" cy="1219200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4851400" y="2260600"/>
            <a:ext cx="4000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4DD0E1"/>
                </a:solidFill>
                <a:latin typeface="Calibri"/>
                <a:ea typeface="Calibri"/>
                <a:cs typeface="Calibri"/>
                <a:sym typeface="Calibri"/>
              </a:rPr>
              <a:t>Password Policy</a:t>
            </a:r>
            <a:r>
              <a:rPr b="0" i="0" lang="en-US" sz="1100" u="none" cap="none" strike="noStrike">
                <a:solidFill>
                  <a:srgbClr val="78909C"/>
                </a:solidFill>
                <a:latin typeface="Calibri"/>
                <a:ea typeface="Calibri"/>
                <a:cs typeface="Calibri"/>
                <a:sym typeface="Calibri"/>
              </a:rPr>
              <a:t>  —  service password-encryption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Enable secret (MD5) minden eszközön. MOTD banner: JOGOSULATLAN HOZZÁFÉRÉS TILOS. Konzol + VTY védett.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4724400" y="3492500"/>
            <a:ext cx="4191000" cy="1219200"/>
          </a:xfrm>
          <a:prstGeom prst="rect">
            <a:avLst/>
          </a:prstGeom>
          <a:solidFill>
            <a:srgbClr val="0A2540"/>
          </a:solidFill>
          <a:ln cap="flat" cmpd="sng" w="19050">
            <a:solidFill>
              <a:srgbClr val="7575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4724400" y="3492500"/>
            <a:ext cx="76200" cy="12192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4851400" y="3530600"/>
            <a:ext cx="4000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BDBDBD"/>
                </a:solidFill>
                <a:latin typeface="Calibri"/>
                <a:ea typeface="Calibri"/>
                <a:cs typeface="Calibri"/>
                <a:sym typeface="Calibri"/>
              </a:rPr>
              <a:t>VLAN 199 Fekete lyuk</a:t>
            </a:r>
            <a:r>
              <a:rPr b="0" i="0" lang="en-US" sz="1100" u="none" cap="none" strike="noStrike">
                <a:solidFill>
                  <a:srgbClr val="78909C"/>
                </a:solidFill>
                <a:latin typeface="Calibri"/>
                <a:ea typeface="Calibri"/>
                <a:cs typeface="Calibri"/>
                <a:sym typeface="Calibri"/>
              </a:rPr>
              <a:t>  —  Port Security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Az összes nem használt switch-port VLAN 199-hez rendelve. MAC korlát: max 2 portonként. Megszegés esetén: leállítás.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384048" y="128016"/>
            <a:ext cx="8503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Szerverinfrastruktúra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384048" y="731520"/>
            <a:ext cx="8412480" cy="27432"/>
          </a:xfrm>
          <a:prstGeom prst="rect">
            <a:avLst/>
          </a:prstGeom>
          <a:solidFill>
            <a:srgbClr val="00BCD4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320040" y="914400"/>
            <a:ext cx="4114800" cy="4005072"/>
          </a:xfrm>
          <a:prstGeom prst="rect">
            <a:avLst/>
          </a:prstGeom>
          <a:solidFill>
            <a:srgbClr val="111C2B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320040" y="914400"/>
            <a:ext cx="4114800" cy="54864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457200" y="969264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1300"/>
              <a:buFont typeface="Calibri"/>
              <a:buNone/>
            </a:pPr>
            <a:r>
              <a:rPr b="1" i="0" lang="en-US" sz="1600" u="none" cap="none" strike="noStrik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Debian Linux 12 (Bookworm)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457200" y="133502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b="0" i="0" lang="en-US" sz="13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IP: 10.0.2.10  |  VirtualBox NAT Hálózat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2" name="Google Shape;26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0613" y="1631825"/>
            <a:ext cx="2011699" cy="12992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3" name="Google Shape;263;p10"/>
          <p:cNvPicPr preferRelativeResize="0"/>
          <p:nvPr/>
        </p:nvPicPr>
        <p:blipFill rotWithShape="1">
          <a:blip r:embed="rId4">
            <a:alphaModFix/>
          </a:blip>
          <a:srcRect b="9999" l="2006" r="1997" t="0"/>
          <a:stretch/>
        </p:blipFill>
        <p:spPr>
          <a:xfrm>
            <a:off x="2391150" y="1588625"/>
            <a:ext cx="2011700" cy="1417325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0"/>
          <p:cNvSpPr/>
          <p:nvPr/>
        </p:nvSpPr>
        <p:spPr>
          <a:xfrm>
            <a:off x="457200" y="3154680"/>
            <a:ext cx="73152" cy="29260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621792" y="318211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-US" sz="13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Apache Webszerver — HTTP (80) + HTTPS (443)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457200" y="3566160"/>
            <a:ext cx="73152" cy="29260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621792" y="359359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-US" sz="13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Samba Fájlmegosztás (Linux - Windows között)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457200" y="3977640"/>
            <a:ext cx="73152" cy="29260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621792" y="400507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-US" sz="13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Cron automatikus mentés — naponta 02:00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457200" y="4389120"/>
            <a:ext cx="73152" cy="29260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621792" y="441655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-US" sz="13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Statikus IP, UFW tűzfal, SSH távoli hozzáférés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4663440" y="914400"/>
            <a:ext cx="4114800" cy="4005072"/>
          </a:xfrm>
          <a:prstGeom prst="rect">
            <a:avLst/>
          </a:prstGeom>
          <a:solidFill>
            <a:srgbClr val="111C2B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4663440" y="914400"/>
            <a:ext cx="4114800" cy="548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4800600" y="969264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88E5"/>
              </a:buClr>
              <a:buSzPts val="1300"/>
              <a:buFont typeface="Calibri"/>
              <a:buNone/>
            </a:pPr>
            <a:r>
              <a:rPr b="1" i="0" lang="en-US" sz="1600" u="none" cap="none" strike="noStrike">
                <a:solidFill>
                  <a:srgbClr val="1E88E5"/>
                </a:solidFill>
                <a:latin typeface="Calibri"/>
                <a:ea typeface="Calibri"/>
                <a:cs typeface="Calibri"/>
                <a:sym typeface="Calibri"/>
              </a:rPr>
              <a:t>Windows Server 2019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4800600" y="133502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b="0" i="0" lang="en-US" sz="13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IP: 10.0.2.20  |  infraworks.local tartomány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6" name="Google Shape;276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09160" y="1645920"/>
            <a:ext cx="2011680" cy="1417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7" name="Google Shape;277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12280" y="1645920"/>
            <a:ext cx="1828800" cy="141732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0"/>
          <p:cNvSpPr/>
          <p:nvPr/>
        </p:nvSpPr>
        <p:spPr>
          <a:xfrm>
            <a:off x="4800600" y="3154680"/>
            <a:ext cx="73152" cy="29260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4965192" y="318211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-US" sz="13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Active Directory Tartományi Szolgáltatások (infraworks.local)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4800600" y="3566160"/>
            <a:ext cx="73152" cy="29260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4965192" y="359359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-US" sz="13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DNS + DHCP (készlet: 10.0.2.100–200)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4800600" y="3977640"/>
            <a:ext cx="73152" cy="29260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4965192" y="400507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-US" sz="13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Fájlmegosztások: HR / FIN / ICT / Publikus_megosztás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4800600" y="4389120"/>
            <a:ext cx="73152" cy="29260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4965192" y="441655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-US" sz="13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Nyomtatószerver + napi Windows Server mentés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320040" y="4965192"/>
            <a:ext cx="8503920" cy="2743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1"/>
          <p:cNvSpPr/>
          <p:nvPr/>
        </p:nvSpPr>
        <p:spPr>
          <a:xfrm>
            <a:off x="0" y="-114825"/>
            <a:ext cx="9144000" cy="5258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384048" y="128016"/>
            <a:ext cx="8503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Tesztelés &amp; Hibajelentések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1"/>
          <p:cNvSpPr/>
          <p:nvPr/>
        </p:nvSpPr>
        <p:spPr>
          <a:xfrm>
            <a:off x="384048" y="731520"/>
            <a:ext cx="8412480" cy="27432"/>
          </a:xfrm>
          <a:prstGeom prst="rect">
            <a:avLst/>
          </a:prstGeom>
          <a:solidFill>
            <a:srgbClr val="F57C00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320040" y="914400"/>
            <a:ext cx="1993392" cy="868680"/>
          </a:xfrm>
          <a:prstGeom prst="rect">
            <a:avLst/>
          </a:prstGeom>
          <a:solidFill>
            <a:srgbClr val="111C2B"/>
          </a:solidFill>
          <a:ln cap="flat" cmpd="sng" w="15225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1"/>
          <p:cNvSpPr/>
          <p:nvPr/>
        </p:nvSpPr>
        <p:spPr>
          <a:xfrm>
            <a:off x="320040" y="950976"/>
            <a:ext cx="199339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97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320040" y="1463040"/>
            <a:ext cx="19933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-US" sz="10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Tesztesetek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2496312" y="914400"/>
            <a:ext cx="1993392" cy="868680"/>
          </a:xfrm>
          <a:prstGeom prst="rect">
            <a:avLst/>
          </a:prstGeom>
          <a:solidFill>
            <a:srgbClr val="111C2B"/>
          </a:solidFill>
          <a:ln cap="flat" cmpd="sng" w="15225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2496312" y="950976"/>
            <a:ext cx="199339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88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2496312" y="1463040"/>
            <a:ext cx="19933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-US" sz="10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Sikeres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1"/>
          <p:cNvSpPr/>
          <p:nvPr/>
        </p:nvSpPr>
        <p:spPr>
          <a:xfrm>
            <a:off x="4672584" y="914400"/>
            <a:ext cx="1993392" cy="868680"/>
          </a:xfrm>
          <a:prstGeom prst="rect">
            <a:avLst/>
          </a:prstGeom>
          <a:solidFill>
            <a:srgbClr val="111C2B"/>
          </a:solidFill>
          <a:ln cap="flat" cmpd="sng" w="15225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4672584" y="950976"/>
            <a:ext cx="199339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3935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E53935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4672584" y="1463040"/>
            <a:ext cx="19933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-US" sz="10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Talált Hibák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6848856" y="914400"/>
            <a:ext cx="1993392" cy="868680"/>
          </a:xfrm>
          <a:prstGeom prst="rect">
            <a:avLst/>
          </a:prstGeom>
          <a:solidFill>
            <a:srgbClr val="111C2B"/>
          </a:solidFill>
          <a:ln cap="flat" cmpd="sng" w="15225">
            <a:solidFill>
              <a:srgbClr val="F57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6848856" y="950976"/>
            <a:ext cx="199339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57C0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6848856" y="1463040"/>
            <a:ext cx="19933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-US" sz="10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Javított Hibák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7" name="Google Shape;307;p11"/>
          <p:cNvPicPr preferRelativeResize="0"/>
          <p:nvPr/>
        </p:nvPicPr>
        <p:blipFill rotWithShape="1">
          <a:blip r:embed="rId3">
            <a:alphaModFix/>
          </a:blip>
          <a:srcRect b="4604" l="803" r="0" t="4038"/>
          <a:stretch/>
        </p:blipFill>
        <p:spPr>
          <a:xfrm>
            <a:off x="0" y="2368525"/>
            <a:ext cx="5520724" cy="2491749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11"/>
          <p:cNvSpPr/>
          <p:nvPr/>
        </p:nvSpPr>
        <p:spPr>
          <a:xfrm>
            <a:off x="5577840" y="1874520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57C00"/>
                </a:solidFill>
                <a:latin typeface="Calibri"/>
                <a:ea typeface="Calibri"/>
                <a:cs typeface="Calibri"/>
                <a:sym typeface="Calibri"/>
              </a:rPr>
              <a:t>Kiválasztott Hibajelentések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5577840" y="2286000"/>
            <a:ext cx="3291840" cy="384048"/>
          </a:xfrm>
          <a:prstGeom prst="rect">
            <a:avLst/>
          </a:prstGeom>
          <a:solidFill>
            <a:srgbClr val="111C2B"/>
          </a:solidFill>
          <a:ln cap="flat" cmpd="sng" w="9525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5650992" y="2322576"/>
            <a:ext cx="822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3935"/>
              </a:buClr>
              <a:buSzPts val="850"/>
              <a:buFont typeface="Consolas"/>
              <a:buNone/>
            </a:pPr>
            <a:r>
              <a:rPr b="1" i="0" lang="en-US" sz="1050" u="none" cap="none" strike="noStrike">
                <a:solidFill>
                  <a:srgbClr val="E53935"/>
                </a:solidFill>
                <a:latin typeface="Consolas"/>
                <a:ea typeface="Consolas"/>
                <a:cs typeface="Consolas"/>
                <a:sym typeface="Consolas"/>
              </a:rPr>
              <a:t>BUG #001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6492240" y="2322576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00"/>
              <a:buFont typeface="Calibri"/>
              <a:buNone/>
            </a:pPr>
            <a:r>
              <a:rPr b="0" i="0" lang="en-US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BGP munkamenet sikertelen — társ nincs konfigurálva. Javítva: BGP + ACL konfiguráció korrigálva.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5577840" y="2743200"/>
            <a:ext cx="3291840" cy="384048"/>
          </a:xfrm>
          <a:prstGeom prst="rect">
            <a:avLst/>
          </a:prstGeom>
          <a:solidFill>
            <a:srgbClr val="1B2A4A"/>
          </a:solidFill>
          <a:ln cap="flat" cmpd="sng" w="9525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1"/>
          <p:cNvSpPr/>
          <p:nvPr/>
        </p:nvSpPr>
        <p:spPr>
          <a:xfrm>
            <a:off x="5650992" y="2779776"/>
            <a:ext cx="822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3935"/>
              </a:buClr>
              <a:buSzPts val="850"/>
              <a:buFont typeface="Consolas"/>
              <a:buNone/>
            </a:pPr>
            <a:r>
              <a:rPr b="1" i="0" lang="en-US" sz="1050" u="none" cap="none" strike="noStrike">
                <a:solidFill>
                  <a:srgbClr val="E53935"/>
                </a:solidFill>
                <a:latin typeface="Consolas"/>
                <a:ea typeface="Consolas"/>
                <a:cs typeface="Consolas"/>
                <a:sym typeface="Consolas"/>
              </a:rPr>
              <a:t>BUG #002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6492240" y="2779776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00"/>
              <a:buFont typeface="Calibri"/>
              <a:buNone/>
            </a:pPr>
            <a:r>
              <a:rPr b="0" i="0" lang="en-US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Fa0/8 port LE — kábelhiba. Javítva: kábel cserélve.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5577840" y="3200400"/>
            <a:ext cx="3291840" cy="384048"/>
          </a:xfrm>
          <a:prstGeom prst="rect">
            <a:avLst/>
          </a:prstGeom>
          <a:solidFill>
            <a:srgbClr val="111C2B"/>
          </a:solidFill>
          <a:ln cap="flat" cmpd="sng" w="9525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1"/>
          <p:cNvSpPr/>
          <p:nvPr/>
        </p:nvSpPr>
        <p:spPr>
          <a:xfrm>
            <a:off x="5650992" y="3236976"/>
            <a:ext cx="822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3935"/>
              </a:buClr>
              <a:buSzPts val="850"/>
              <a:buFont typeface="Consolas"/>
              <a:buNone/>
            </a:pPr>
            <a:r>
              <a:rPr b="1" i="0" lang="en-US" sz="1050" u="none" cap="none" strike="noStrike">
                <a:solidFill>
                  <a:srgbClr val="E53935"/>
                </a:solidFill>
                <a:latin typeface="Consolas"/>
                <a:ea typeface="Consolas"/>
                <a:cs typeface="Consolas"/>
                <a:sym typeface="Consolas"/>
              </a:rPr>
              <a:t>BUG #004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6492240" y="3236976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00"/>
              <a:buFont typeface="Calibri"/>
              <a:buNone/>
            </a:pPr>
            <a:r>
              <a:rPr b="0" i="0" lang="en-US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DHCP időtúllépés — készlet 95%-ban teli. Javítva: címtartomány bővítve.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5577840" y="3657600"/>
            <a:ext cx="3291840" cy="384048"/>
          </a:xfrm>
          <a:prstGeom prst="rect">
            <a:avLst/>
          </a:prstGeom>
          <a:solidFill>
            <a:srgbClr val="1B2A4A"/>
          </a:solidFill>
          <a:ln cap="flat" cmpd="sng" w="9525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5650992" y="3694176"/>
            <a:ext cx="822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3935"/>
              </a:buClr>
              <a:buSzPts val="850"/>
              <a:buFont typeface="Consolas"/>
              <a:buNone/>
            </a:pPr>
            <a:r>
              <a:rPr b="1" i="0" lang="en-US" sz="1050" u="none" cap="none" strike="noStrike">
                <a:solidFill>
                  <a:srgbClr val="E53935"/>
                </a:solidFill>
                <a:latin typeface="Consolas"/>
                <a:ea typeface="Consolas"/>
                <a:cs typeface="Consolas"/>
                <a:sym typeface="Consolas"/>
              </a:rPr>
              <a:t>BUG #006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1"/>
          <p:cNvSpPr/>
          <p:nvPr/>
        </p:nvSpPr>
        <p:spPr>
          <a:xfrm>
            <a:off x="6492240" y="3694176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00"/>
              <a:buFont typeface="Calibri"/>
              <a:buNone/>
            </a:pPr>
            <a:r>
              <a:rPr b="0" i="0" lang="en-US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HSRP VLAN 30 — mindkét prioritás 100. Javítva: 110/100-ra állítva.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1"/>
          <p:cNvSpPr/>
          <p:nvPr/>
        </p:nvSpPr>
        <p:spPr>
          <a:xfrm>
            <a:off x="5577840" y="4114800"/>
            <a:ext cx="3291840" cy="384048"/>
          </a:xfrm>
          <a:prstGeom prst="rect">
            <a:avLst/>
          </a:prstGeom>
          <a:solidFill>
            <a:srgbClr val="111C2B"/>
          </a:solidFill>
          <a:ln cap="flat" cmpd="sng" w="9525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1"/>
          <p:cNvSpPr/>
          <p:nvPr/>
        </p:nvSpPr>
        <p:spPr>
          <a:xfrm>
            <a:off x="5650992" y="4151376"/>
            <a:ext cx="822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3935"/>
              </a:buClr>
              <a:buSzPts val="850"/>
              <a:buFont typeface="Consolas"/>
              <a:buNone/>
            </a:pPr>
            <a:r>
              <a:rPr b="1" i="0" lang="en-US" sz="1050" u="none" cap="none" strike="noStrike">
                <a:solidFill>
                  <a:srgbClr val="E53935"/>
                </a:solidFill>
                <a:latin typeface="Consolas"/>
                <a:ea typeface="Consolas"/>
                <a:cs typeface="Consolas"/>
                <a:sym typeface="Consolas"/>
              </a:rPr>
              <a:t>BUG #007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6492240" y="4151376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00"/>
              <a:buFont typeface="Calibri"/>
              <a:buNone/>
            </a:pPr>
            <a:r>
              <a:rPr b="0" i="0" lang="en-US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BGP társ Aktív állapotban ragadt — tűzfal blokkolta a TCP 179-et. Javítva: ACL frissítve.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1"/>
          <p:cNvSpPr/>
          <p:nvPr/>
        </p:nvSpPr>
        <p:spPr>
          <a:xfrm>
            <a:off x="5577840" y="4572000"/>
            <a:ext cx="3291840" cy="384048"/>
          </a:xfrm>
          <a:prstGeom prst="rect">
            <a:avLst/>
          </a:prstGeom>
          <a:solidFill>
            <a:srgbClr val="1B2A4A"/>
          </a:solidFill>
          <a:ln cap="flat" cmpd="sng" w="9525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1"/>
          <p:cNvSpPr/>
          <p:nvPr/>
        </p:nvSpPr>
        <p:spPr>
          <a:xfrm>
            <a:off x="5650992" y="4608576"/>
            <a:ext cx="822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3935"/>
              </a:buClr>
              <a:buSzPts val="850"/>
              <a:buFont typeface="Consolas"/>
              <a:buNone/>
            </a:pPr>
            <a:r>
              <a:rPr b="1" i="0" lang="en-US" sz="1050" u="none" cap="none" strike="noStrike">
                <a:solidFill>
                  <a:srgbClr val="E53935"/>
                </a:solidFill>
                <a:latin typeface="Consolas"/>
                <a:ea typeface="Consolas"/>
                <a:cs typeface="Consolas"/>
                <a:sym typeface="Consolas"/>
              </a:rPr>
              <a:t>BUG #009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1"/>
          <p:cNvSpPr/>
          <p:nvPr/>
        </p:nvSpPr>
        <p:spPr>
          <a:xfrm>
            <a:off x="6492240" y="4608576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00"/>
              <a:buFont typeface="Calibri"/>
              <a:buNone/>
            </a:pPr>
            <a:r>
              <a:rPr b="0" i="0" lang="en-US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NAT készlet hiba — hiányzó ACL hivatkozás. Javítva: access-list 1 hozzáadva.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2"/>
          <p:cNvSpPr/>
          <p:nvPr/>
        </p:nvSpPr>
        <p:spPr>
          <a:xfrm>
            <a:off x="384048" y="128016"/>
            <a:ext cx="8503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Git &amp; Jira — Project Menedzsment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384048" y="731520"/>
            <a:ext cx="8412480" cy="27432"/>
          </a:xfrm>
          <a:prstGeom prst="rect">
            <a:avLst/>
          </a:prstGeom>
          <a:solidFill>
            <a:srgbClr val="00C853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2"/>
          <p:cNvSpPr/>
          <p:nvPr/>
        </p:nvSpPr>
        <p:spPr>
          <a:xfrm>
            <a:off x="320040" y="914400"/>
            <a:ext cx="3017520" cy="2743200"/>
          </a:xfrm>
          <a:prstGeom prst="rect">
            <a:avLst/>
          </a:prstGeom>
          <a:solidFill>
            <a:srgbClr val="111C2B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2"/>
          <p:cNvSpPr/>
          <p:nvPr/>
        </p:nvSpPr>
        <p:spPr>
          <a:xfrm>
            <a:off x="457200" y="969264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100"/>
              <a:buFont typeface="Calibri"/>
              <a:buNone/>
            </a:pPr>
            <a:r>
              <a:rPr b="1" i="0" lang="en-US" sz="13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Jira Scrum Tábla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7" name="Google Shape;33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280160"/>
            <a:ext cx="288036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12"/>
          <p:cNvSpPr/>
          <p:nvPr/>
        </p:nvSpPr>
        <p:spPr>
          <a:xfrm>
            <a:off x="3474720" y="914400"/>
            <a:ext cx="2331720" cy="2743200"/>
          </a:xfrm>
          <a:prstGeom prst="rect">
            <a:avLst/>
          </a:prstGeom>
          <a:solidFill>
            <a:srgbClr val="111C2B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2"/>
          <p:cNvSpPr/>
          <p:nvPr/>
        </p:nvSpPr>
        <p:spPr>
          <a:xfrm>
            <a:off x="3584448" y="969264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1100"/>
              <a:buFont typeface="Calibri"/>
              <a:buNone/>
            </a:pPr>
            <a:r>
              <a:rPr b="1" i="0" lang="en-US" sz="1300" u="none" cap="none" strike="noStrik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Munkaterhelés Elosztás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0" name="Google Shape;340;p12"/>
          <p:cNvPicPr preferRelativeResize="0"/>
          <p:nvPr/>
        </p:nvPicPr>
        <p:blipFill rotWithShape="1">
          <a:blip r:embed="rId4">
            <a:alphaModFix/>
          </a:blip>
          <a:srcRect b="0" l="0" r="51134" t="0"/>
          <a:stretch/>
        </p:blipFill>
        <p:spPr>
          <a:xfrm>
            <a:off x="3493000" y="1390076"/>
            <a:ext cx="1151814" cy="1257125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12"/>
          <p:cNvSpPr/>
          <p:nvPr/>
        </p:nvSpPr>
        <p:spPr>
          <a:xfrm>
            <a:off x="3584448" y="2880360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Tóth Richárd: 70ó (50%)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3584448" y="3127248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Schäfer Kristóf: 70ó (50%)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2"/>
          <p:cNvSpPr/>
          <p:nvPr/>
        </p:nvSpPr>
        <p:spPr>
          <a:xfrm>
            <a:off x="3584448" y="3374136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900"/>
              <a:buFont typeface="Calibri"/>
              <a:buNone/>
            </a:pPr>
            <a:r>
              <a:rPr b="1" i="0" lang="en-US" sz="1000" u="none" cap="none" strike="noStrik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Összesen: 3 hét 2 nap 5 óra 10 perc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2"/>
          <p:cNvSpPr/>
          <p:nvPr/>
        </p:nvSpPr>
        <p:spPr>
          <a:xfrm>
            <a:off x="5943600" y="914400"/>
            <a:ext cx="2880360" cy="2743200"/>
          </a:xfrm>
          <a:prstGeom prst="rect">
            <a:avLst/>
          </a:prstGeom>
          <a:solidFill>
            <a:srgbClr val="111C2B"/>
          </a:solidFill>
          <a:ln cap="flat" cmpd="sng" w="12700">
            <a:solidFill>
              <a:srgbClr val="F57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2"/>
          <p:cNvSpPr/>
          <p:nvPr/>
        </p:nvSpPr>
        <p:spPr>
          <a:xfrm>
            <a:off x="6080760" y="969264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1100"/>
              <a:buFont typeface="Calibri"/>
              <a:buNone/>
            </a:pPr>
            <a:r>
              <a:rPr b="1" i="0" lang="en-US" sz="1300" u="none" cap="none" strike="noStrike">
                <a:solidFill>
                  <a:srgbClr val="F57C00"/>
                </a:solidFill>
                <a:latin typeface="Calibri"/>
                <a:ea typeface="Calibri"/>
                <a:cs typeface="Calibri"/>
                <a:sym typeface="Calibri"/>
              </a:rPr>
              <a:t>GitHub Tároló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6" name="Google Shape;346;p12"/>
          <p:cNvPicPr preferRelativeResize="0"/>
          <p:nvPr/>
        </p:nvPicPr>
        <p:blipFill rotWithShape="1">
          <a:blip r:embed="rId5">
            <a:alphaModFix/>
          </a:blip>
          <a:srcRect b="3400" l="0" r="3279" t="0"/>
          <a:stretch/>
        </p:blipFill>
        <p:spPr>
          <a:xfrm>
            <a:off x="5989325" y="1280150"/>
            <a:ext cx="2697475" cy="2075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12"/>
          <p:cNvSpPr/>
          <p:nvPr/>
        </p:nvSpPr>
        <p:spPr>
          <a:xfrm>
            <a:off x="6080760" y="3456432"/>
            <a:ext cx="2606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b="0" i="0" lang="en-US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19 commit  |  4 ág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2"/>
          <p:cNvSpPr/>
          <p:nvPr/>
        </p:nvSpPr>
        <p:spPr>
          <a:xfrm>
            <a:off x="320040" y="3767328"/>
            <a:ext cx="8503920" cy="1170432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2"/>
          <p:cNvSpPr/>
          <p:nvPr/>
        </p:nvSpPr>
        <p:spPr>
          <a:xfrm>
            <a:off x="457200" y="382219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100"/>
              <a:buFont typeface="Calibri"/>
              <a:buNone/>
            </a:pPr>
            <a:r>
              <a:rPr b="1" i="0" lang="en-US" sz="1300" u="none" cap="none" strike="noStrike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Hogyan használt</a:t>
            </a:r>
            <a:r>
              <a:rPr b="1" lang="en-US" sz="1300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b="1" i="0" lang="en-US" sz="1300" u="none" cap="none" strike="noStrike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k ezeket az eszközöket: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2"/>
          <p:cNvSpPr/>
          <p:nvPr/>
        </p:nvSpPr>
        <p:spPr>
          <a:xfrm>
            <a:off x="457200" y="4133088"/>
            <a:ext cx="73152" cy="2743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2"/>
          <p:cNvSpPr/>
          <p:nvPr/>
        </p:nvSpPr>
        <p:spPr>
          <a:xfrm>
            <a:off x="621792" y="4133088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-US" sz="11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JIRA: Sprint-alapú munkafolyamat (2 hetes sprintek). Minden feladat nyomon követve Teendőtől Kész állapotig. Hibajelentések teszteset azonosítóhoz kapcsolva (IW-NET-xxx).</a:t>
            </a:r>
            <a:endParaRPr b="0" i="0" sz="11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2"/>
          <p:cNvSpPr/>
          <p:nvPr/>
        </p:nvSpPr>
        <p:spPr>
          <a:xfrm>
            <a:off x="457200" y="4517136"/>
            <a:ext cx="73152" cy="2743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2"/>
          <p:cNvSpPr/>
          <p:nvPr/>
        </p:nvSpPr>
        <p:spPr>
          <a:xfrm>
            <a:off x="621792" y="4517136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-US" sz="11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GIT: Minden switch/router konfiguráció commitolva befejezés után. Ágaztatás funkciónként. 19 commit összesen. Teljes visszaállítási képesség ha egy változtatás hibát okoz.</a:t>
            </a:r>
            <a:endParaRPr b="0" i="0" sz="11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4" name="Google Shape;354;p12"/>
          <p:cNvPicPr preferRelativeResize="0"/>
          <p:nvPr/>
        </p:nvPicPr>
        <p:blipFill rotWithShape="1">
          <a:blip r:embed="rId4">
            <a:alphaModFix/>
          </a:blip>
          <a:srcRect b="0" l="47515" r="0" t="0"/>
          <a:stretch/>
        </p:blipFill>
        <p:spPr>
          <a:xfrm>
            <a:off x="4644825" y="1449325"/>
            <a:ext cx="1151824" cy="1170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3"/>
          <p:cNvSpPr/>
          <p:nvPr/>
        </p:nvSpPr>
        <p:spPr>
          <a:xfrm>
            <a:off x="0" y="0"/>
            <a:ext cx="152400" cy="51435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3"/>
          <p:cNvSpPr/>
          <p:nvPr/>
        </p:nvSpPr>
        <p:spPr>
          <a:xfrm>
            <a:off x="304800" y="91440"/>
            <a:ext cx="8534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Jövőbeli Fejlesztési Tervek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3"/>
          <p:cNvSpPr/>
          <p:nvPr/>
        </p:nvSpPr>
        <p:spPr>
          <a:xfrm>
            <a:off x="304800" y="609600"/>
            <a:ext cx="8534400" cy="38100"/>
          </a:xfrm>
          <a:prstGeom prst="rect">
            <a:avLst/>
          </a:prstGeom>
          <a:solidFill>
            <a:srgbClr val="00897B">
              <a:alpha val="5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3"/>
          <p:cNvSpPr/>
          <p:nvPr/>
        </p:nvSpPr>
        <p:spPr>
          <a:xfrm>
            <a:off x="304800" y="660000"/>
            <a:ext cx="853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A hálózat skálázhatóra épített — 7 tervezett fejlesztési irány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3"/>
          <p:cNvSpPr/>
          <p:nvPr/>
        </p:nvSpPr>
        <p:spPr>
          <a:xfrm>
            <a:off x="304800" y="952500"/>
            <a:ext cx="4114800" cy="2667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txBody>
          <a:bodyPr anchorCtr="0" anchor="ctr" bIns="0" lIns="762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RÖVID TÁVON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3"/>
          <p:cNvSpPr/>
          <p:nvPr/>
        </p:nvSpPr>
        <p:spPr>
          <a:xfrm>
            <a:off x="304800" y="1257300"/>
            <a:ext cx="4114800" cy="609600"/>
          </a:xfrm>
          <a:prstGeom prst="rect">
            <a:avLst/>
          </a:prstGeom>
          <a:solidFill>
            <a:srgbClr val="0A2540"/>
          </a:solidFill>
          <a:ln cap="flat" cmpd="sng" w="12700">
            <a:solidFill>
              <a:srgbClr val="26A6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3"/>
          <p:cNvSpPr/>
          <p:nvPr/>
        </p:nvSpPr>
        <p:spPr>
          <a:xfrm>
            <a:off x="304800" y="1257300"/>
            <a:ext cx="4114800" cy="5715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3"/>
          <p:cNvSpPr/>
          <p:nvPr/>
        </p:nvSpPr>
        <p:spPr>
          <a:xfrm>
            <a:off x="381000" y="1323750"/>
            <a:ext cx="3962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4DB6AC"/>
                </a:solidFill>
                <a:latin typeface="Calibri"/>
                <a:ea typeface="Calibri"/>
                <a:cs typeface="Calibri"/>
                <a:sym typeface="Calibri"/>
              </a:rPr>
              <a:t>Wi-Fi 6 / 5G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Vezeték nélküli infrastruktúra fejlesztése magasabb eszközsűrűséghez és gyorsabb sebességekhez.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3"/>
          <p:cNvSpPr/>
          <p:nvPr/>
        </p:nvSpPr>
        <p:spPr>
          <a:xfrm>
            <a:off x="304800" y="1904700"/>
            <a:ext cx="4114800" cy="609600"/>
          </a:xfrm>
          <a:prstGeom prst="rect">
            <a:avLst/>
          </a:prstGeom>
          <a:solidFill>
            <a:srgbClr val="0A2540"/>
          </a:solidFill>
          <a:ln cap="flat" cmpd="sng" w="12700">
            <a:solidFill>
              <a:srgbClr val="1E8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3"/>
          <p:cNvSpPr/>
          <p:nvPr/>
        </p:nvSpPr>
        <p:spPr>
          <a:xfrm>
            <a:off x="304800" y="1904700"/>
            <a:ext cx="4114800" cy="5715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3"/>
          <p:cNvSpPr/>
          <p:nvPr/>
        </p:nvSpPr>
        <p:spPr>
          <a:xfrm>
            <a:off x="381000" y="1971150"/>
            <a:ext cx="3962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64B5F6"/>
                </a:solidFill>
                <a:latin typeface="Calibri"/>
                <a:ea typeface="Calibri"/>
                <a:cs typeface="Calibri"/>
                <a:sym typeface="Calibri"/>
              </a:rPr>
              <a:t>Teljes IPv6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A maradék IPv4 címek cseréje IPv6-ra az összes VLAN-ban. Kettős verem már fut.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3"/>
          <p:cNvSpPr/>
          <p:nvPr/>
        </p:nvSpPr>
        <p:spPr>
          <a:xfrm>
            <a:off x="304800" y="2552100"/>
            <a:ext cx="4114800" cy="609600"/>
          </a:xfrm>
          <a:prstGeom prst="rect">
            <a:avLst/>
          </a:prstGeom>
          <a:solidFill>
            <a:srgbClr val="0A2540"/>
          </a:solidFill>
          <a:ln cap="flat" cmpd="sng" w="12700">
            <a:solidFill>
              <a:srgbClr val="F57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3"/>
          <p:cNvSpPr/>
          <p:nvPr/>
        </p:nvSpPr>
        <p:spPr>
          <a:xfrm>
            <a:off x="304800" y="2552100"/>
            <a:ext cx="4114800" cy="5715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3"/>
          <p:cNvSpPr/>
          <p:nvPr/>
        </p:nvSpPr>
        <p:spPr>
          <a:xfrm>
            <a:off x="381000" y="2618550"/>
            <a:ext cx="3962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A726"/>
                </a:solidFill>
                <a:latin typeface="Calibri"/>
                <a:ea typeface="Calibri"/>
                <a:cs typeface="Calibri"/>
                <a:sym typeface="Calibri"/>
              </a:rPr>
              <a:t>SNMP Megfigyelés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Nagios vagy Zabbix irányítópult valós idejű hálózategészség-figyeléshez.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3"/>
          <p:cNvSpPr/>
          <p:nvPr/>
        </p:nvSpPr>
        <p:spPr>
          <a:xfrm>
            <a:off x="304800" y="3199500"/>
            <a:ext cx="4114800" cy="609600"/>
          </a:xfrm>
          <a:prstGeom prst="rect">
            <a:avLst/>
          </a:prstGeom>
          <a:solidFill>
            <a:srgbClr val="0A2540"/>
          </a:solidFill>
          <a:ln cap="flat" cmpd="sng" w="127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3"/>
          <p:cNvSpPr/>
          <p:nvPr/>
        </p:nvSpPr>
        <p:spPr>
          <a:xfrm>
            <a:off x="304800" y="3199500"/>
            <a:ext cx="4114800" cy="5715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3"/>
          <p:cNvSpPr/>
          <p:nvPr/>
        </p:nvSpPr>
        <p:spPr>
          <a:xfrm>
            <a:off x="381000" y="3265950"/>
            <a:ext cx="3962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4DD0E1"/>
                </a:solidFill>
                <a:latin typeface="Calibri"/>
                <a:ea typeface="Calibri"/>
                <a:cs typeface="Calibri"/>
                <a:sym typeface="Calibri"/>
              </a:rPr>
              <a:t>Dinamikus NAT/PAT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Statikus NAT cseréje dinamikus PAT-ra — jobban skálázható ahogy az ügyfélszám nő.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3"/>
          <p:cNvSpPr/>
          <p:nvPr/>
        </p:nvSpPr>
        <p:spPr>
          <a:xfrm>
            <a:off x="4724400" y="952500"/>
            <a:ext cx="4114800" cy="2667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txBody>
          <a:bodyPr anchorCtr="0" anchor="ctr" bIns="0" lIns="762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HOSSZÚ TÁVON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3"/>
          <p:cNvSpPr/>
          <p:nvPr/>
        </p:nvSpPr>
        <p:spPr>
          <a:xfrm>
            <a:off x="4724400" y="1257300"/>
            <a:ext cx="4114800" cy="609600"/>
          </a:xfrm>
          <a:prstGeom prst="rect">
            <a:avLst/>
          </a:prstGeom>
          <a:solidFill>
            <a:srgbClr val="0A2540"/>
          </a:solidFill>
          <a:ln cap="flat" cmpd="sng" w="12700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3"/>
          <p:cNvSpPr/>
          <p:nvPr/>
        </p:nvSpPr>
        <p:spPr>
          <a:xfrm>
            <a:off x="4724400" y="1257300"/>
            <a:ext cx="4114800" cy="5715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3"/>
          <p:cNvSpPr/>
          <p:nvPr/>
        </p:nvSpPr>
        <p:spPr>
          <a:xfrm>
            <a:off x="4800600" y="1323750"/>
            <a:ext cx="3962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F5350"/>
                </a:solidFill>
                <a:latin typeface="Calibri"/>
                <a:ea typeface="Calibri"/>
                <a:cs typeface="Calibri"/>
                <a:sym typeface="Calibri"/>
              </a:rPr>
              <a:t>MI Biztonság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Automatizált fenyegetésészlelés és incidenskezelés gépi tanulás segítségével.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3"/>
          <p:cNvSpPr/>
          <p:nvPr/>
        </p:nvSpPr>
        <p:spPr>
          <a:xfrm>
            <a:off x="4724400" y="1904700"/>
            <a:ext cx="4114800" cy="609600"/>
          </a:xfrm>
          <a:prstGeom prst="rect">
            <a:avLst/>
          </a:prstGeom>
          <a:solidFill>
            <a:srgbClr val="0A2540"/>
          </a:solidFill>
          <a:ln cap="flat" cmpd="sng" w="12700">
            <a:solidFill>
              <a:srgbClr val="7B1F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3"/>
          <p:cNvSpPr/>
          <p:nvPr/>
        </p:nvSpPr>
        <p:spPr>
          <a:xfrm>
            <a:off x="4724400" y="1904700"/>
            <a:ext cx="4114800" cy="5715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3"/>
          <p:cNvSpPr/>
          <p:nvPr/>
        </p:nvSpPr>
        <p:spPr>
          <a:xfrm>
            <a:off x="4800600" y="1971150"/>
            <a:ext cx="3962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CE93D8"/>
                </a:solidFill>
                <a:latin typeface="Calibri"/>
                <a:ea typeface="Calibri"/>
                <a:cs typeface="Calibri"/>
                <a:sym typeface="Calibri"/>
              </a:rPr>
              <a:t>Zéró Bizalom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Azonosságalapú hozzáférési modell — minden felhasználó és eszköz ellenőrzése hozzáférés megadása előtt.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3"/>
          <p:cNvSpPr/>
          <p:nvPr/>
        </p:nvSpPr>
        <p:spPr>
          <a:xfrm>
            <a:off x="4724400" y="2552100"/>
            <a:ext cx="4114800" cy="609600"/>
          </a:xfrm>
          <a:prstGeom prst="rect">
            <a:avLst/>
          </a:prstGeom>
          <a:solidFill>
            <a:srgbClr val="0A2540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3"/>
          <p:cNvSpPr/>
          <p:nvPr/>
        </p:nvSpPr>
        <p:spPr>
          <a:xfrm>
            <a:off x="4724400" y="2552100"/>
            <a:ext cx="4114800" cy="5715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3"/>
          <p:cNvSpPr/>
          <p:nvPr/>
        </p:nvSpPr>
        <p:spPr>
          <a:xfrm>
            <a:off x="4800600" y="2618550"/>
            <a:ext cx="3962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66BB6A"/>
                </a:solidFill>
                <a:latin typeface="Calibri"/>
                <a:ea typeface="Calibri"/>
                <a:cs typeface="Calibri"/>
                <a:sym typeface="Calibri"/>
              </a:rPr>
              <a:t>IoT Támogatás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Okos érzékelők, automatizált világítás, ipari folyamatautomatizálási hálózati integráció.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3"/>
          <p:cNvSpPr/>
          <p:nvPr/>
        </p:nvSpPr>
        <p:spPr>
          <a:xfrm>
            <a:off x="304800" y="3998500"/>
            <a:ext cx="8534400" cy="838200"/>
          </a:xfrm>
          <a:prstGeom prst="rect">
            <a:avLst/>
          </a:prstGeom>
          <a:solidFill>
            <a:srgbClr val="0A2540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3"/>
          <p:cNvSpPr/>
          <p:nvPr/>
        </p:nvSpPr>
        <p:spPr>
          <a:xfrm>
            <a:off x="381000" y="4064950"/>
            <a:ext cx="83820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4DB6AC"/>
                </a:solidFill>
                <a:latin typeface="Calibri"/>
                <a:ea typeface="Calibri"/>
                <a:cs typeface="Calibri"/>
                <a:sym typeface="Calibri"/>
              </a:rPr>
              <a:t>Foundation already supports this:</a:t>
            </a:r>
            <a:r>
              <a:rPr b="0" i="0" lang="en-US" sz="11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  Dual-stack IPv4+IPv6 running, modular 3-tier hierarchy, VLAN segmentation, and Git version control all make future upgrades straightforward.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4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4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98" name="Google Shape;398;p14"/>
          <p:cNvPicPr preferRelativeResize="0"/>
          <p:nvPr/>
        </p:nvPicPr>
        <p:blipFill rotWithShape="1">
          <a:blip r:embed="rId3">
            <a:alphaModFix amt="35000"/>
          </a:blip>
          <a:srcRect b="0" l="0" r="0" t="0"/>
          <a:stretch/>
        </p:blipFill>
        <p:spPr>
          <a:xfrm>
            <a:off x="4114800" y="178308"/>
            <a:ext cx="4846321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14"/>
          <p:cNvSpPr/>
          <p:nvPr/>
        </p:nvSpPr>
        <p:spPr>
          <a:xfrm>
            <a:off x="457200" y="32004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1400"/>
              <a:buFont typeface="Calibri"/>
              <a:buNone/>
            </a:pPr>
            <a:r>
              <a:rPr b="1" i="0" lang="en-US" sz="3000" u="none" cap="none" strike="noStrik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Összefoglalás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4"/>
          <p:cNvSpPr/>
          <p:nvPr/>
        </p:nvSpPr>
        <p:spPr>
          <a:xfrm>
            <a:off x="457200" y="960120"/>
            <a:ext cx="64008" cy="24688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4"/>
          <p:cNvSpPr/>
          <p:nvPr/>
        </p:nvSpPr>
        <p:spPr>
          <a:xfrm>
            <a:off x="640080" y="969264"/>
            <a:ext cx="3886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 helyszínes vállalati hálózat — Cisco Packet Tracer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4"/>
          <p:cNvSpPr/>
          <p:nvPr/>
        </p:nvSpPr>
        <p:spPr>
          <a:xfrm>
            <a:off x="457200" y="1303020"/>
            <a:ext cx="64008" cy="24688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4"/>
          <p:cNvSpPr/>
          <p:nvPr/>
        </p:nvSpPr>
        <p:spPr>
          <a:xfrm>
            <a:off x="640080" y="1312164"/>
            <a:ext cx="3886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 VLAN + OSPF / OSPFv3 útválasztás (IPv4 + IPv6)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4"/>
          <p:cNvSpPr/>
          <p:nvPr/>
        </p:nvSpPr>
        <p:spPr>
          <a:xfrm>
            <a:off x="457200" y="1645920"/>
            <a:ext cx="64008" cy="24688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4"/>
          <p:cNvSpPr/>
          <p:nvPr/>
        </p:nvSpPr>
        <p:spPr>
          <a:xfrm>
            <a:off x="640080" y="1655064"/>
            <a:ext cx="3886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Kettős ISP + HSRP + EtherChannel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4"/>
          <p:cNvSpPr/>
          <p:nvPr/>
        </p:nvSpPr>
        <p:spPr>
          <a:xfrm>
            <a:off x="457200" y="1988820"/>
            <a:ext cx="64008" cy="24688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4"/>
          <p:cNvSpPr/>
          <p:nvPr/>
        </p:nvSpPr>
        <p:spPr>
          <a:xfrm>
            <a:off x="640080" y="1997964"/>
            <a:ext cx="3886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Cisco ASA 5506-X Tűzfal HA + DMZ server farm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4"/>
          <p:cNvSpPr/>
          <p:nvPr/>
        </p:nvSpPr>
        <p:spPr>
          <a:xfrm>
            <a:off x="457200" y="2331720"/>
            <a:ext cx="64008" cy="24688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4"/>
          <p:cNvSpPr/>
          <p:nvPr/>
        </p:nvSpPr>
        <p:spPr>
          <a:xfrm>
            <a:off x="640080" y="2340864"/>
            <a:ext cx="3886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VPN + NAT/PAT (Statikus + Dinamikus + PAT túlterhelés)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4"/>
          <p:cNvSpPr/>
          <p:nvPr/>
        </p:nvSpPr>
        <p:spPr>
          <a:xfrm>
            <a:off x="457200" y="2674620"/>
            <a:ext cx="64008" cy="24688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4"/>
          <p:cNvSpPr/>
          <p:nvPr/>
        </p:nvSpPr>
        <p:spPr>
          <a:xfrm>
            <a:off x="640080" y="2683764"/>
            <a:ext cx="3886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Cisco WLC — centralizált WiFi kezelés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4"/>
          <p:cNvSpPr/>
          <p:nvPr/>
        </p:nvSpPr>
        <p:spPr>
          <a:xfrm>
            <a:off x="457200" y="3017520"/>
            <a:ext cx="64008" cy="24688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4"/>
          <p:cNvSpPr/>
          <p:nvPr/>
        </p:nvSpPr>
        <p:spPr>
          <a:xfrm>
            <a:off x="640080" y="3026664"/>
            <a:ext cx="3886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Debian Linux 12: Apache, Samba, cron mentés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4"/>
          <p:cNvSpPr/>
          <p:nvPr/>
        </p:nvSpPr>
        <p:spPr>
          <a:xfrm>
            <a:off x="457200" y="3360420"/>
            <a:ext cx="64008" cy="24688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4"/>
          <p:cNvSpPr/>
          <p:nvPr/>
        </p:nvSpPr>
        <p:spPr>
          <a:xfrm>
            <a:off x="640080" y="3369564"/>
            <a:ext cx="3886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Windows Server 2019: AD, DNS, DHCP, megosztások, nyomtatás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4"/>
          <p:cNvSpPr/>
          <p:nvPr/>
        </p:nvSpPr>
        <p:spPr>
          <a:xfrm>
            <a:off x="457200" y="3703320"/>
            <a:ext cx="64008" cy="24688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4"/>
          <p:cNvSpPr/>
          <p:nvPr/>
        </p:nvSpPr>
        <p:spPr>
          <a:xfrm>
            <a:off x="640080" y="3712464"/>
            <a:ext cx="3886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97 teszteset — 9 hiba találva és javítva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4"/>
          <p:cNvSpPr/>
          <p:nvPr/>
        </p:nvSpPr>
        <p:spPr>
          <a:xfrm>
            <a:off x="457200" y="4046220"/>
            <a:ext cx="64008" cy="24688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4"/>
          <p:cNvSpPr/>
          <p:nvPr/>
        </p:nvSpPr>
        <p:spPr>
          <a:xfrm>
            <a:off x="640080" y="4055364"/>
            <a:ext cx="3886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Git verziókezelés + Jira Scrum (2 hetes sprintek)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4"/>
          <p:cNvSpPr/>
          <p:nvPr/>
        </p:nvSpPr>
        <p:spPr>
          <a:xfrm>
            <a:off x="457200" y="4681728"/>
            <a:ext cx="4114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2200"/>
              <a:buFont typeface="Calibri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4"/>
          <p:cNvSpPr/>
          <p:nvPr/>
        </p:nvSpPr>
        <p:spPr>
          <a:xfrm>
            <a:off x="457200" y="4416552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-US" sz="13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Tóth Richárd  |  Schäfer Kristóf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38100" rtl="0" algn="ctr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rgbClr val="E8EAED"/>
                </a:solidFill>
                <a:highlight>
                  <a:schemeClr val="accent6"/>
                </a:highlight>
                <a:latin typeface="Arial"/>
                <a:ea typeface="Arial"/>
                <a:cs typeface="Arial"/>
                <a:sym typeface="Arial"/>
              </a:rPr>
              <a:t>KÖSZÖNJÜK A FIGYELMET!</a:t>
            </a:r>
            <a:endParaRPr b="0" i="0" sz="2800" u="none" cap="none" strike="noStrike">
              <a:solidFill>
                <a:srgbClr val="E8EAED"/>
              </a:solidFill>
              <a:highlight>
                <a:schemeClr val="accent6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fade thruBlk="1"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