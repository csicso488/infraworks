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71" r:id="rId5"/>
    <p:sldId id="296" r:id="rId6"/>
    <p:sldId id="272" r:id="rId7"/>
    <p:sldId id="273" r:id="rId8"/>
    <p:sldId id="274" r:id="rId9"/>
    <p:sldId id="275" r:id="rId10"/>
    <p:sldId id="290" r:id="rId11"/>
    <p:sldId id="291" r:id="rId12"/>
    <p:sldId id="292" r:id="rId13"/>
    <p:sldId id="293" r:id="rId14"/>
    <p:sldId id="280" r:id="rId15"/>
    <p:sldId id="281" r:id="rId16"/>
    <p:sldId id="282" r:id="rId17"/>
    <p:sldId id="294" r:id="rId18"/>
    <p:sldId id="288" r:id="rId19"/>
    <p:sldId id="267" r:id="rId20"/>
    <p:sldId id="277" r:id="rId21"/>
    <p:sldId id="295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185D4E-973E-4B04-86C0-62082135B484}" v="80" dt="2026-02-27T21:20:12.858"/>
    <p1510:client id="{8B01FAAF-3FC2-41DE-8407-8762D27AFDEC}" v="279" dt="2026-02-27T21:56:33.716"/>
    <p1510:client id="{D1A2FE06-DEB7-4567-8DCC-F1034172529D}" v="231" dt="2026-02-27T09:28:51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6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8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9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0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8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91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58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94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98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36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8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szöveg, embléma, Grafika, szimbólum látható  Lehet, hogy az AI által létrehozott tartalom helytelen.">
            <a:extLst>
              <a:ext uri="{FF2B5EF4-FFF2-40B4-BE49-F238E27FC236}">
                <a16:creationId xmlns:a16="http://schemas.microsoft.com/office/drawing/2014/main" id="{83079E1E-2B04-7EF0-9BFF-8EF8445BBA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9171" b="1582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0350" y="-155670"/>
            <a:ext cx="7598569" cy="1456267"/>
          </a:xfrm>
        </p:spPr>
        <p:txBody>
          <a:bodyPr>
            <a:normAutofit/>
          </a:bodyPr>
          <a:lstStyle/>
          <a:p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InfraWorks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KFT</a:t>
            </a:r>
            <a:endParaRPr lang="en-US" u="sng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9784" y="1435663"/>
            <a:ext cx="3801651" cy="259934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sz="2000" b="1" dirty="0">
              <a:latin typeface="Times New Roman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800" b="1" dirty="0">
              <a:latin typeface="Times New Roman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800" b="1" dirty="0">
                <a:latin typeface="Times New Roman"/>
                <a:cs typeface="Times New Roman"/>
              </a:rPr>
              <a:t> Project</a:t>
            </a:r>
            <a:endParaRPr lang="en-US" sz="2800" b="1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</a:pPr>
            <a:endParaRPr lang="en-US" sz="2800" b="1" dirty="0">
              <a:latin typeface="Times New Roman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800" b="1" dirty="0">
                <a:latin typeface="Times New Roman"/>
                <a:cs typeface="Times New Roman"/>
              </a:rPr>
              <a:t>Team Members: </a:t>
            </a:r>
            <a:endParaRPr lang="en-US" sz="2800" b="1"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</a:pPr>
            <a:r>
              <a:rPr lang="en-US" sz="2800" b="1" dirty="0">
                <a:latin typeface="Times New Roman"/>
                <a:cs typeface="Times New Roman"/>
              </a:rPr>
              <a:t>Tóth Richárd (PM)</a:t>
            </a:r>
            <a:endParaRPr lang="en-US" sz="2800" b="1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buClr>
                <a:srgbClr val="000000"/>
              </a:buClr>
              <a:buNone/>
            </a:pPr>
            <a:r>
              <a:rPr lang="en-US" sz="2800" b="1" dirty="0">
                <a:latin typeface="Times New Roman"/>
                <a:cs typeface="Times New Roman"/>
              </a:rPr>
              <a:t>      Schäfer Kristóf,       </a:t>
            </a:r>
            <a:endParaRPr lang="en-US" sz="2800" b="1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</a:pPr>
            <a:endParaRPr lang="en-US" sz="2800" b="1" dirty="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2800" b="1" dirty="0">
                <a:latin typeface="Times New Roman"/>
                <a:cs typeface="Times New Roman"/>
              </a:rPr>
              <a:t>Date: 2026</a:t>
            </a:r>
            <a:endParaRPr lang="en-US" sz="28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FB64FC4-21AE-4221-BFA2-3D4C517CEF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A képen szöveg, embléma, Grafika, szimbólum látható  Lehet, hogy az AI által létrehozott tartalom helytelen.">
            <a:extLst>
              <a:ext uri="{FF2B5EF4-FFF2-40B4-BE49-F238E27FC236}">
                <a16:creationId xmlns:a16="http://schemas.microsoft.com/office/drawing/2014/main" id="{EBD827D2-7391-BA70-E95E-9FEA490677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9171" b="1582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007" y="-194915"/>
            <a:ext cx="7598569" cy="1456267"/>
          </a:xfrm>
        </p:spPr>
        <p:txBody>
          <a:bodyPr>
            <a:normAutofit/>
          </a:bodyPr>
          <a:lstStyle/>
          <a:p>
            <a:r>
              <a:rPr lang="en-US" b="1" u="sng">
                <a:latin typeface="Times New Roman"/>
                <a:ea typeface="Calibri Light"/>
                <a:cs typeface="Times New Roman"/>
              </a:rPr>
              <a:t>The 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552" y="1602454"/>
            <a:ext cx="7598569" cy="4689038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buClr>
                <a:srgbClr val="FFFFFF"/>
              </a:buClr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Structure: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Háromszintes (</a:t>
            </a:r>
            <a:r>
              <a:rPr lang="en-US" err="1">
                <a:latin typeface="Times New Roman"/>
                <a:ea typeface="+mn-lt"/>
                <a:cs typeface="Times New Roman"/>
              </a:rPr>
              <a:t>Core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err="1">
                <a:latin typeface="Times New Roman"/>
                <a:ea typeface="+mn-lt"/>
                <a:cs typeface="Times New Roman"/>
              </a:rPr>
              <a:t>Distribution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Access) hierarchia.</a:t>
            </a:r>
            <a:endParaRPr lang="en-US"/>
          </a:p>
          <a:p>
            <a:pPr algn="ctr">
              <a:buClr>
                <a:srgbClr val="FFFFFF"/>
              </a:buClr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ctr">
              <a:buClr>
                <a:srgbClr val="FFFFFF"/>
              </a:buClr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Redundancia: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Dupla ISP, redundáns tűzfalak és </a:t>
            </a:r>
            <a:r>
              <a:rPr lang="en-US" err="1">
                <a:latin typeface="Times New Roman"/>
                <a:ea typeface="+mn-lt"/>
                <a:cs typeface="Times New Roman"/>
              </a:rPr>
              <a:t>Core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switches</a:t>
            </a:r>
            <a:r>
              <a:rPr lang="en-US" dirty="0">
                <a:latin typeface="Times New Roman"/>
                <a:ea typeface="+mn-lt"/>
                <a:cs typeface="Times New Roman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pPr algn="ctr">
              <a:buClr>
                <a:srgbClr val="FFFFFF"/>
              </a:buClr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ctr">
              <a:buClr>
                <a:srgbClr val="FFFFFF"/>
              </a:buClr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Segmentation: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Floor-based</a:t>
            </a:r>
            <a:r>
              <a:rPr lang="en-US" dirty="0">
                <a:latin typeface="Times New Roman"/>
                <a:ea typeface="+mn-lt"/>
                <a:cs typeface="Times New Roman"/>
              </a:rPr>
              <a:t> bontás és dedikált DMZ a szervereknek.</a:t>
            </a:r>
            <a:endParaRPr lang="en-US" dirty="0">
              <a:latin typeface="Times New Roman"/>
              <a:cs typeface="Times New Roman"/>
            </a:endParaRPr>
          </a:p>
          <a:p>
            <a:pPr algn="ctr">
              <a:buClr>
                <a:srgbClr val="FFFFFF"/>
              </a:buClr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ctr">
              <a:buClr>
                <a:srgbClr val="FFFFFF"/>
              </a:buClr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Technológiák: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HSRP for fault tolerance, LACP for bandwidth.</a:t>
            </a:r>
          </a:p>
          <a:p>
            <a:pPr marL="457200" indent="-457200" algn="ctr">
              <a:buClr>
                <a:srgbClr val="FFFFFF"/>
              </a:buClr>
              <a:buFont typeface="Calibri"/>
              <a:buChar char="-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algn="ctr"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2E2329-5B8D-2838-F02B-5BC83C5D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996" y="-207184"/>
            <a:ext cx="6467404" cy="14533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u="sng" dirty="0">
                <a:latin typeface="times new"/>
                <a:cs typeface="Times"/>
              </a:rPr>
              <a:t>A Projekt </a:t>
            </a:r>
            <a:r>
              <a:rPr lang="en-US" sz="3200" b="1" u="sng" err="1">
                <a:latin typeface="times new"/>
                <a:cs typeface="Times"/>
              </a:rPr>
              <a:t>complete</a:t>
            </a:r>
            <a:r>
              <a:rPr lang="en-US" sz="3200" b="1" u="sng" dirty="0">
                <a:latin typeface="times new"/>
                <a:cs typeface="Times"/>
              </a:rPr>
              <a:t> </a:t>
            </a:r>
            <a:r>
              <a:rPr lang="en-US" sz="3200" b="1" u="sng" err="1">
                <a:latin typeface="times new"/>
                <a:cs typeface="Times"/>
              </a:rPr>
              <a:t>overview</a:t>
            </a:r>
            <a:endParaRPr lang="en-US" sz="3200" b="1" u="sng" err="1">
              <a:latin typeface="times new"/>
              <a:ea typeface="Calibri Light"/>
              <a:cs typeface="Times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E386EC8-FD3A-44E7-DFCD-F47598841068}"/>
              </a:ext>
            </a:extLst>
          </p:cNvPr>
          <p:cNvSpPr txBox="1"/>
          <p:nvPr/>
        </p:nvSpPr>
        <p:spPr>
          <a:xfrm>
            <a:off x="-1365" y="-563113"/>
            <a:ext cx="4394559" cy="772892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1</a:t>
            </a:r>
            <a:r>
              <a:rPr lang="en-US" b="1" dirty="0">
                <a:latin typeface="Times New Roman"/>
                <a:cs typeface="Times New Roman"/>
              </a:rPr>
              <a:t>. </a:t>
            </a:r>
            <a:r>
              <a:rPr lang="en-US" b="1" dirty="0" err="1">
                <a:latin typeface="Times New Roman"/>
                <a:cs typeface="Times New Roman"/>
              </a:rPr>
              <a:t>Central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dirty="0" err="1">
                <a:latin typeface="Times New Roman"/>
                <a:cs typeface="Times New Roman"/>
              </a:rPr>
              <a:t>Security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dirty="0" err="1">
                <a:latin typeface="Times New Roman"/>
                <a:cs typeface="Times New Roman"/>
              </a:rPr>
              <a:t>and</a:t>
            </a:r>
            <a:r>
              <a:rPr lang="en-US" b="1" dirty="0">
                <a:latin typeface="Times New Roman"/>
                <a:cs typeface="Times New Roman"/>
              </a:rPr>
              <a:t> Core </a:t>
            </a:r>
            <a:r>
              <a:rPr lang="en-US" b="1" dirty="0" err="1">
                <a:latin typeface="Times New Roman"/>
                <a:cs typeface="Times New Roman"/>
              </a:rPr>
              <a:t>Layer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Internet &amp; DMZ: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Isolated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server farm</a:t>
            </a:r>
            <a:r>
              <a:rPr lang="en-US" dirty="0">
                <a:latin typeface="Times New Roman"/>
                <a:ea typeface="+mn-lt"/>
                <a:cs typeface="Times New Roman"/>
              </a:rPr>
              <a:t> (Web, FTP, Email, DNS).</a:t>
            </a:r>
          </a:p>
          <a:p>
            <a:r>
              <a:rPr lang="en-US" b="1" err="1">
                <a:latin typeface="Times New Roman"/>
                <a:ea typeface="+mn-lt"/>
                <a:cs typeface="Times New Roman"/>
              </a:rPr>
              <a:t>Redundancy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2x ASA </a:t>
            </a:r>
            <a:r>
              <a:rPr lang="en-US" err="1">
                <a:latin typeface="Times New Roman"/>
                <a:ea typeface="+mn-lt"/>
                <a:cs typeface="Times New Roman"/>
              </a:rPr>
              <a:t>Firewall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and</a:t>
            </a:r>
            <a:r>
              <a:rPr lang="en-US" dirty="0">
                <a:latin typeface="Times New Roman"/>
                <a:ea typeface="+mn-lt"/>
                <a:cs typeface="Times New Roman"/>
              </a:rPr>
              <a:t> Core </a:t>
            </a:r>
            <a:r>
              <a:rPr lang="en-US" err="1">
                <a:latin typeface="Times New Roman"/>
                <a:ea typeface="+mn-lt"/>
                <a:cs typeface="Times New Roman"/>
              </a:rPr>
              <a:t>Routers</a:t>
            </a:r>
            <a:r>
              <a:rPr lang="en-US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b="1" err="1">
                <a:latin typeface="Times New Roman"/>
                <a:ea typeface="+mn-lt"/>
                <a:cs typeface="Times New Roman"/>
              </a:rPr>
              <a:t>Technologies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Magas </a:t>
            </a:r>
            <a:r>
              <a:rPr lang="en-US" err="1">
                <a:latin typeface="Times New Roman"/>
                <a:ea typeface="+mn-lt"/>
                <a:cs typeface="Times New Roman"/>
              </a:rPr>
              <a:t>availability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high</a:t>
            </a:r>
            <a:r>
              <a:rPr lang="en-US" dirty="0">
                <a:latin typeface="Times New Roman"/>
                <a:ea typeface="+mn-lt"/>
                <a:cs typeface="Times New Roman"/>
              </a:rPr>
              <a:t> (HSRP, LACP).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endParaRPr lang="en-US" sz="12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2. </a:t>
            </a:r>
            <a:r>
              <a:rPr lang="en-US" b="1" err="1">
                <a:latin typeface="Times New Roman"/>
                <a:cs typeface="Times New Roman"/>
              </a:rPr>
              <a:t>Logical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Segmentation</a:t>
            </a:r>
            <a:r>
              <a:rPr lang="en-US" b="1" dirty="0">
                <a:latin typeface="Times New Roman"/>
                <a:cs typeface="Times New Roman"/>
              </a:rPr>
              <a:t> (VLAN &amp; </a:t>
            </a:r>
            <a:r>
              <a:rPr lang="en-US" b="1" err="1">
                <a:latin typeface="Times New Roman"/>
                <a:cs typeface="Times New Roman"/>
              </a:rPr>
              <a:t>Floors</a:t>
            </a:r>
            <a:r>
              <a:rPr lang="en-US" b="1" dirty="0">
                <a:latin typeface="Times New Roman"/>
                <a:cs typeface="Times New Roman"/>
              </a:rPr>
              <a:t>)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Ground Floor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(Zöld/Kék):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Marketing, HR,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Logistics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dirty="0">
                <a:latin typeface="Times New Roman"/>
                <a:ea typeface="+mn-lt"/>
                <a:cs typeface="Times New Roman"/>
              </a:rPr>
              <a:t>1. 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Floor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Light Blue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Finance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Administration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dirty="0">
                <a:latin typeface="Times New Roman"/>
                <a:ea typeface="+mn-lt"/>
                <a:cs typeface="Times New Roman"/>
              </a:rPr>
              <a:t>2. 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Floor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(Piros):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IT /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IT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Server Room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Orange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Central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DHCP, DNS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and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RADIUS.</a:t>
            </a:r>
          </a:p>
          <a:p>
            <a:endParaRPr lang="en-US" sz="1200" dirty="0">
              <a:latin typeface="Times New Roman"/>
              <a:ea typeface="Calibri" panose="020F0502020204030204"/>
              <a:cs typeface="Times New Roman"/>
            </a:endParaRPr>
          </a:p>
          <a:p>
            <a:endParaRPr lang="en-US" sz="12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400" b="1" dirty="0">
                <a:latin typeface="Times New Roman"/>
                <a:cs typeface="Times New Roman"/>
              </a:rPr>
              <a:t>3</a:t>
            </a:r>
            <a:r>
              <a:rPr lang="en-US" sz="2000" b="1" dirty="0">
                <a:latin typeface="Times New Roman"/>
                <a:cs typeface="Times New Roman"/>
              </a:rPr>
              <a:t>. </a:t>
            </a:r>
            <a:r>
              <a:rPr lang="en-US" sz="2000" b="1" err="1">
                <a:latin typeface="Times New Roman"/>
                <a:cs typeface="Times New Roman"/>
              </a:rPr>
              <a:t>Device Pool</a:t>
            </a:r>
            <a:r>
              <a:rPr lang="en-US" sz="2000" b="1" dirty="0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and</a:t>
            </a:r>
            <a:r>
              <a:rPr lang="en-US" sz="2000" b="1" dirty="0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Connectivity</a:t>
            </a: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Endpoints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PC, Laptop, IP-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phone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, Mobil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devices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dirty="0">
                <a:latin typeface="Times New Roman"/>
                <a:ea typeface="+mn-lt"/>
                <a:cs typeface="Times New Roman"/>
              </a:rPr>
              <a:t>WLAN: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WLC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managed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Lightweight Access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Points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(LAP).</a:t>
            </a: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Management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Isolated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LAN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and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WiFi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IP-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ranges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050" b="1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sz="6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Kép 4" descr="A képen szöveg, diagram, térkép, Tervrajz látható  Lehet, hogy az AI által létrehozott tartalom helytelen.">
            <a:extLst>
              <a:ext uri="{FF2B5EF4-FFF2-40B4-BE49-F238E27FC236}">
                <a16:creationId xmlns:a16="http://schemas.microsoft.com/office/drawing/2014/main" id="{C8C20701-DA26-815B-5F16-866513D7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1" t="2" r="4024" b="4835"/>
          <a:stretch>
            <a:fillRect/>
          </a:stretch>
        </p:blipFill>
        <p:spPr>
          <a:xfrm>
            <a:off x="4398922" y="1360144"/>
            <a:ext cx="4571694" cy="413748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85457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00CBAD-C824-328F-AB85-791B92EB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95" y="-167928"/>
            <a:ext cx="6477923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2. DMZ (Demilitarized Zone)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EC8F54-B4D1-BB05-3D14-A38DB73C2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96" y="682476"/>
            <a:ext cx="3888419" cy="48337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DMZ Network Summary </a:t>
            </a:r>
            <a:endParaRPr lang="hu-HU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Function: Isolation of public servers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from the internal network.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Device: Cisco 2960 (Dedicated DMZ-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SW).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Network: 10.11.11.0/27 (Mask: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255.255.255.224). </a:t>
            </a:r>
            <a:endParaRPr lang="en-US" dirty="0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Range: 10.11.11.1 – 10.11.11.30.</a:t>
            </a:r>
            <a:endParaRPr lang="en-US" dirty="0">
              <a:ea typeface="+mn-lt"/>
              <a:cs typeface="+mn-lt"/>
            </a:endParaRPr>
          </a:p>
          <a:p>
            <a:pPr algn="ctr"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ea typeface="Calibri"/>
              <a:cs typeface="Calibri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C4F57B1A-9463-4369-9035-98064D34C1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5" t="2726" r="3505" b="1994"/>
          <a:stretch/>
        </p:blipFill>
        <p:spPr>
          <a:xfrm>
            <a:off x="4568462" y="3000652"/>
            <a:ext cx="4821686" cy="3857348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AE7112D5-07DD-A888-C084-1739D370CA0A}"/>
              </a:ext>
            </a:extLst>
          </p:cNvPr>
          <p:cNvSpPr txBox="1"/>
          <p:nvPr/>
        </p:nvSpPr>
        <p:spPr>
          <a:xfrm>
            <a:off x="0" y="5519057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Purpose: ​ Public service (WEB, EMAIL, FTP, APP, NAS) safe isolation from the internal network.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93293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D749A0-9EF0-46DB-B604-50BE4431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7" y="559293"/>
            <a:ext cx="4286867" cy="553391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ea typeface="+mn-lt"/>
                <a:cs typeface="+mn-lt"/>
              </a:rPr>
            </a:br>
            <a:br>
              <a:rPr lang="en-US" dirty="0">
                <a:ea typeface="Calibri" panose="020F0502020204030204"/>
                <a:cs typeface="Calibri" panose="020F0502020204030204"/>
              </a:rPr>
            </a:br>
            <a:r>
              <a:rPr lang="en-US" dirty="0">
                <a:ea typeface="+mj-lt"/>
                <a:cs typeface="+mj-lt"/>
              </a:rPr>
              <a:t>WEB: Website (HTTP/S).</a:t>
            </a:r>
            <a:endParaRPr lang="en-US" dirty="0">
              <a:ea typeface="Calibri Light" panose="020F0302020204030204"/>
              <a:cs typeface="Calibri Light" panose="020F0302020204030204"/>
            </a:endParaRPr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EMAIL: Correspondence (SMTP/IMAP) 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FTP: File transfer (SFTP).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APP: Business apps (API).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NAS-STORAGE: Central storage (NFS/SMB).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Security: VLAN-based segmentation + Firewall blocking towards the internal network.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79541FD-9A55-4144-9A08-A4D099B7EFE0}"/>
              </a:ext>
            </a:extLst>
          </p:cNvPr>
          <p:cNvSpPr txBox="1"/>
          <p:nvPr/>
        </p:nvSpPr>
        <p:spPr>
          <a:xfrm>
            <a:off x="86895" y="78991"/>
            <a:ext cx="4727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Servers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EF9D1345-A590-48B2-AEB3-06B7DE1857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54"/>
          <a:stretch/>
        </p:blipFill>
        <p:spPr>
          <a:xfrm>
            <a:off x="4023933" y="878889"/>
            <a:ext cx="4887850" cy="423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3F2E6F-2BB9-F685-8001-5D2CBD67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87138" y="367481"/>
            <a:ext cx="8656861" cy="648071"/>
          </a:xfrm>
        </p:spPr>
        <p:txBody>
          <a:bodyPr anchor="b">
            <a:noAutofit/>
          </a:bodyPr>
          <a:lstStyle/>
          <a:p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"Brain" of the network or Core network redundancy and</a:t>
            </a:r>
            <a:endParaRPr lang="hu-HU" dirty="0"/>
          </a:p>
          <a:p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control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9A1CBF-8DFC-723C-C49D-E0312048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527" y="2083917"/>
            <a:ext cx="8159182" cy="180217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Devices: 2 Cisco 3560 Multilayer Switches (CORE-SW1, CORE-SW2). </a:t>
            </a:r>
            <a:endParaRPr lang="hu-HU" dirty="0"/>
          </a:p>
          <a:p>
            <a:pPr>
              <a:buNone/>
            </a:pPr>
            <a:endParaRPr lang="en-US" sz="16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Applied Technologies: </a:t>
            </a:r>
            <a:endParaRPr lang="en-US" dirty="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LACP (EtherChannel): Aggregation of multiple links for high bandwidth.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HSRP: Virtual Default Gateway (Gateway) for continuous operation.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WLAN Controller (WLC): Central unit for managing all Wi-Fi points on the floor.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/>
          </a:p>
          <a:p>
            <a:pPr marL="0" indent="0">
              <a:lnSpc>
                <a:spcPct val="90000"/>
              </a:lnSpc>
              <a:buNone/>
            </a:pPr>
            <a:endParaRPr lang="en-US" sz="16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Kép 3" descr="A képen diagram, szöveg, sor, képernyőkép látható  Lehet, hogy az AI által létrehozott tartalom helytelen.">
            <a:extLst>
              <a:ext uri="{FF2B5EF4-FFF2-40B4-BE49-F238E27FC236}">
                <a16:creationId xmlns:a16="http://schemas.microsoft.com/office/drawing/2014/main" id="{3918FF0D-13B8-CCAF-48F0-90A93C082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" t="17873" r="4815" b="16624"/>
          <a:stretch/>
        </p:blipFill>
        <p:spPr>
          <a:xfrm>
            <a:off x="0" y="5220070"/>
            <a:ext cx="9144000" cy="163793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02410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43DBFC-A45E-5E84-C5C1-0443432C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76" y="-174711"/>
            <a:ext cx="8838272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ea typeface="+mj-lt"/>
                <a:cs typeface="+mj-lt"/>
              </a:rPr>
              <a:t>First floor (Blue &amp; Green block) Sales, HR and Logistics</a:t>
            </a:r>
            <a:endParaRPr lang="hu-H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FBDB14-8E79-9DEE-05B4-091BA64B2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8" y="1669848"/>
            <a:ext cx="4865808" cy="518128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endParaRPr lang="hu-HU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Endpoint devices: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Wired PCs and Laptops.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Network printers (MK-PR, HR-PR).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Mobile devices (Tablets, Smartphones).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Communication: IP phones at every desk (VoIP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network). </a:t>
            </a:r>
            <a:endParaRPr lang="en-US" dirty="0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Wi-Fi: Dedicated access points (Access Points).</a:t>
            </a:r>
          </a:p>
          <a:p>
            <a:pPr>
              <a:buClr>
                <a:srgbClr val="FFFFFF"/>
              </a:buClr>
            </a:pPr>
            <a:endParaRPr lang="en-US" sz="1900" dirty="0">
              <a:ea typeface="Calibri"/>
              <a:cs typeface="Calibri"/>
            </a:endParaRPr>
          </a:p>
        </p:txBody>
      </p:sp>
      <p:pic>
        <p:nvPicPr>
          <p:cNvPr id="4" name="Tartalom helye 3" descr="A képen szöveg, diagram, sor, képernyőkép látható  Lehet, hogy az AI által létrehozott tartalom helytelen.">
            <a:extLst>
              <a:ext uri="{FF2B5EF4-FFF2-40B4-BE49-F238E27FC236}">
                <a16:creationId xmlns:a16="http://schemas.microsoft.com/office/drawing/2014/main" id="{BA03CCED-1A7E-7E33-3819-7EDF18BC4B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5" t="4784" r="6685" b="7555"/>
          <a:stretch/>
        </p:blipFill>
        <p:spPr>
          <a:xfrm>
            <a:off x="5019909" y="1373819"/>
            <a:ext cx="3982049" cy="411036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49E4FB92-4F9D-476D-9E25-B6F78AE4DF68}"/>
              </a:ext>
            </a:extLst>
          </p:cNvPr>
          <p:cNvSpPr txBox="1"/>
          <p:nvPr/>
        </p:nvSpPr>
        <p:spPr>
          <a:xfrm>
            <a:off x="0" y="551737"/>
            <a:ext cx="486697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dirty="0">
                <a:ea typeface="+mn-lt"/>
                <a:cs typeface="+mn-lt"/>
              </a:rPr>
              <a:t>Departments</a:t>
            </a:r>
            <a:r>
              <a:rPr lang="en-US" sz="1800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Sales &amp; Marketing, </a:t>
            </a:r>
            <a:r>
              <a:rPr lang="en-US" sz="1800" dirty="0" err="1">
                <a:ea typeface="+mn-lt"/>
                <a:cs typeface="+mn-lt"/>
              </a:rPr>
              <a:t>HR&amp;</a:t>
            </a:r>
            <a:r>
              <a:rPr lang="en-US" dirty="0" err="1">
                <a:ea typeface="+mn-lt"/>
                <a:cs typeface="+mn-lt"/>
              </a:rPr>
              <a:t>Logistics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318055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1C90E75-A1BA-FA95-6857-87B402BC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90" y="-310193"/>
            <a:ext cx="4554245" cy="577936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marL="285750" indent="-285750">
              <a:lnSpc>
                <a:spcPct val="90000"/>
              </a:lnSpc>
            </a:pP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endParaRPr lang="en-US" sz="48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br>
              <a:rPr lang="en-US" sz="1800" b="1" dirty="0"/>
            </a:br>
            <a:br>
              <a:rPr lang="en-US" sz="1800" b="1" dirty="0"/>
            </a:br>
            <a:r>
              <a:rPr lang="en-US" sz="1800" dirty="0">
                <a:ea typeface="+mj-lt"/>
                <a:cs typeface="+mj-lt"/>
              </a:rPr>
              <a:t> </a:t>
            </a:r>
            <a:endParaRPr lang="en-US" sz="18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r>
              <a:rPr lang="en-US" sz="1800" dirty="0">
                <a:ea typeface="+mj-lt"/>
                <a:cs typeface="+mj-lt"/>
              </a:rPr>
              <a:t>Departments: </a:t>
            </a:r>
            <a:endParaRPr lang="en-US" sz="1800" dirty="0">
              <a:ea typeface="Calibri Light"/>
              <a:cs typeface="Calibri Light"/>
            </a:endParaRPr>
          </a:p>
          <a:p>
            <a:r>
              <a:rPr lang="en-US" sz="1800" dirty="0">
                <a:ea typeface="+mj-lt"/>
                <a:cs typeface="+mj-lt"/>
              </a:rPr>
              <a:t>Finance &amp; Accounting, Admin &amp; Relations. </a:t>
            </a:r>
            <a:endParaRPr lang="en-US" sz="1800">
              <a:ea typeface="Calibri Light"/>
              <a:cs typeface="Calibri Light"/>
            </a:endParaRPr>
          </a:p>
          <a:p>
            <a:endParaRPr lang="en-US" sz="4000" dirty="0">
              <a:ea typeface="Calibri Light"/>
              <a:cs typeface="Calibri Light"/>
            </a:endParaRPr>
          </a:p>
          <a:p>
            <a:r>
              <a:rPr lang="en-US" sz="1800" dirty="0">
                <a:ea typeface="+mj-lt"/>
                <a:cs typeface="+mj-lt"/>
              </a:rPr>
              <a:t>Structure: </a:t>
            </a:r>
          </a:p>
          <a:p>
            <a:r>
              <a:rPr lang="en-US" sz="1800" dirty="0">
                <a:ea typeface="+mj-lt"/>
                <a:cs typeface="+mj-lt"/>
              </a:rPr>
              <a:t>The first floor is an identical structure (standardized deployment). </a:t>
            </a:r>
            <a:endParaRPr lang="en-US" sz="1800">
              <a:ea typeface="Calibri Light"/>
              <a:cs typeface="Calibri Light"/>
            </a:endParaRPr>
          </a:p>
          <a:p>
            <a:endParaRPr lang="en-US" sz="4000" dirty="0">
              <a:ea typeface="Calibri Light"/>
              <a:cs typeface="Calibri Light"/>
            </a:endParaRPr>
          </a:p>
          <a:p>
            <a:r>
              <a:rPr lang="en-US" sz="1800" dirty="0">
                <a:ea typeface="+mj-lt"/>
                <a:cs typeface="+mj-lt"/>
              </a:rPr>
              <a:t>Network: </a:t>
            </a:r>
          </a:p>
          <a:p>
            <a:r>
              <a:rPr lang="en-US" sz="1800" dirty="0">
                <a:ea typeface="+mj-lt"/>
                <a:cs typeface="+mj-lt"/>
              </a:rPr>
              <a:t>VLAN-based segmentation </a:t>
            </a:r>
          </a:p>
          <a:p>
            <a:r>
              <a:rPr lang="en-US" sz="1800" dirty="0">
                <a:ea typeface="+mj-lt"/>
                <a:cs typeface="+mj-lt"/>
              </a:rPr>
              <a:t>in data protection. </a:t>
            </a:r>
            <a:endParaRPr lang="en-US" sz="1800">
              <a:ea typeface="Calibri Light"/>
              <a:cs typeface="Calibri Light"/>
            </a:endParaRPr>
          </a:p>
          <a:p>
            <a:endParaRPr lang="en-US" sz="4000" dirty="0">
              <a:ea typeface="Calibri Light"/>
              <a:cs typeface="Calibri Light"/>
            </a:endParaRPr>
          </a:p>
          <a:p>
            <a:r>
              <a:rPr lang="en-US" sz="1800" dirty="0">
                <a:ea typeface="+mj-lt"/>
                <a:cs typeface="+mj-lt"/>
              </a:rPr>
              <a:t>Tools: </a:t>
            </a:r>
          </a:p>
          <a:p>
            <a:r>
              <a:rPr lang="en-US" sz="1800" dirty="0">
                <a:ea typeface="+mj-lt"/>
                <a:cs typeface="+mj-lt"/>
              </a:rPr>
              <a:t>Dedicated Access Switches (FIN-SW, ADM-SW) </a:t>
            </a:r>
            <a:endParaRPr lang="en-US" sz="1800">
              <a:ea typeface="Calibri Light"/>
              <a:cs typeface="Calibri Light"/>
            </a:endParaRPr>
          </a:p>
          <a:p>
            <a:pPr marL="285750" indent="-285750">
              <a:lnSpc>
                <a:spcPct val="90000"/>
              </a:lnSpc>
            </a:pPr>
            <a:r>
              <a:rPr lang="en-US" sz="1800" dirty="0">
                <a:ea typeface="+mj-lt"/>
                <a:cs typeface="+mj-lt"/>
              </a:rPr>
              <a:t>handle connectivity to Core.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5660913-C9EB-F52C-304E-C0C59774A102}"/>
              </a:ext>
            </a:extLst>
          </p:cNvPr>
          <p:cNvSpPr txBox="1"/>
          <p:nvPr/>
        </p:nvSpPr>
        <p:spPr>
          <a:xfrm>
            <a:off x="2219417" y="109869"/>
            <a:ext cx="4226870" cy="5259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Aft>
                <a:spcPts val="1000"/>
              </a:spcAft>
              <a:buClr>
                <a:prstClr val="white"/>
              </a:buClr>
              <a:buSzPct val="100000"/>
            </a:pPr>
            <a:r>
              <a:rPr lang="en-US" b="1" cap="all" baseline="0" dirty="0"/>
              <a:t>2. </a:t>
            </a:r>
            <a:r>
              <a:rPr lang="en-US" b="1" cap="all" baseline="0" dirty="0" err="1"/>
              <a:t>Floor</a:t>
            </a:r>
            <a:r>
              <a:rPr lang="en-US" b="1" cap="all" baseline="0" dirty="0"/>
              <a:t> (</a:t>
            </a:r>
            <a:r>
              <a:rPr lang="en-US" b="1" cap="all" baseline="0" dirty="0" err="1"/>
              <a:t>Light Blue</a:t>
            </a:r>
            <a:r>
              <a:rPr lang="en-US" b="1" cap="all" baseline="0" dirty="0"/>
              <a:t>/</a:t>
            </a:r>
            <a:r>
              <a:rPr lang="en-US" b="1" cap="all" baseline="0" dirty="0" err="1"/>
              <a:t>Light Green</a:t>
            </a:r>
            <a:endParaRPr lang="en-US" cap="all" dirty="0">
              <a:ea typeface="Calibri"/>
              <a:cs typeface="Calibri"/>
            </a:endParaRPr>
          </a:p>
          <a:p>
            <a:pPr algn="r"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cap="all" dirty="0"/>
          </a:p>
        </p:txBody>
      </p:sp>
      <p:pic>
        <p:nvPicPr>
          <p:cNvPr id="4" name="Kép 3" descr="A képen szöveg, diagram, képernyőkép, térkép látható  Lehet, hogy az AI által létrehozott tartalom helytelen.">
            <a:extLst>
              <a:ext uri="{FF2B5EF4-FFF2-40B4-BE49-F238E27FC236}">
                <a16:creationId xmlns:a16="http://schemas.microsoft.com/office/drawing/2014/main" id="{092D4F49-30BC-B6AB-9A9C-14527C160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985" y="954969"/>
            <a:ext cx="4038952" cy="494806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738944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2C73EA-7940-C3FA-BAC0-4B653DEA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77" y="916248"/>
            <a:ext cx="3471182" cy="594312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1600" dirty="0">
                <a:latin typeface="Times New Roman"/>
                <a:ea typeface="+mj-lt"/>
                <a:cs typeface="Times New Roman"/>
              </a:rPr>
              <a:t>Information technology department (ICT): Operational supervision and development. </a:t>
            </a:r>
            <a:endParaRPr lang="hu-HU" sz="1600">
              <a:ea typeface="Calibri Light"/>
              <a:cs typeface="Calibri Light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j-lt"/>
                <a:cs typeface="Times New Roman"/>
              </a:rPr>
              <a:t>Internal Network Services (Server-SW):</a:t>
            </a:r>
            <a:r>
              <a:rPr lang="en-US" sz="1200" dirty="0">
                <a:latin typeface="Times New Roman"/>
                <a:ea typeface="+mj-lt"/>
                <a:cs typeface="Times New Roman"/>
              </a:rPr>
              <a:t> </a:t>
            </a:r>
            <a:endParaRPr lang="en-US" sz="1200">
              <a:latin typeface="Times New Roman"/>
              <a:ea typeface="Calibri Light"/>
              <a:cs typeface="Times New Roman"/>
            </a:endParaRPr>
          </a:p>
          <a:p>
            <a:endParaRPr lang="en-US" sz="2000" dirty="0">
              <a:latin typeface="Times New Roman"/>
              <a:ea typeface="Calibri Light"/>
              <a:cs typeface="Times New Roman"/>
            </a:endParaRPr>
          </a:p>
          <a:p>
            <a:r>
              <a:rPr lang="en-US" sz="2000" dirty="0">
                <a:latin typeface="Times New Roman"/>
                <a:ea typeface="+mj-lt"/>
                <a:cs typeface="Times New Roman"/>
              </a:rPr>
              <a:t>DHCP Server: Automatic IP address assignment to clients. </a:t>
            </a:r>
            <a:endParaRPr lang="en-US" sz="2000" dirty="0">
              <a:latin typeface="Times New Roman"/>
              <a:ea typeface="Calibri Light"/>
              <a:cs typeface="Times New Roman"/>
            </a:endParaRPr>
          </a:p>
          <a:p>
            <a:endParaRPr lang="en-US" sz="2000" dirty="0">
              <a:latin typeface="Times New Roman"/>
              <a:ea typeface="Calibri Light"/>
              <a:cs typeface="Times New Roman"/>
            </a:endParaRPr>
          </a:p>
          <a:p>
            <a:r>
              <a:rPr lang="en-US" sz="2000" dirty="0">
                <a:latin typeface="Times New Roman"/>
                <a:ea typeface="+mj-lt"/>
                <a:cs typeface="Times New Roman"/>
              </a:rPr>
              <a:t>DNS Server: Internal and external name resolution. </a:t>
            </a:r>
            <a:endParaRPr lang="en-US" sz="2000" dirty="0">
              <a:latin typeface="Times New Roman"/>
              <a:ea typeface="Calibri Light"/>
              <a:cs typeface="Times New Roman"/>
            </a:endParaRPr>
          </a:p>
          <a:p>
            <a:br>
              <a:rPr lang="en-US" sz="2000" dirty="0">
                <a:latin typeface="Times New Roman"/>
                <a:ea typeface="+mj-lt"/>
                <a:cs typeface="Times New Roman"/>
              </a:rPr>
            </a:br>
            <a:r>
              <a:rPr lang="en-US" sz="2000" dirty="0">
                <a:latin typeface="Times New Roman"/>
                <a:ea typeface="+mj-lt"/>
                <a:cs typeface="Times New Roman"/>
              </a:rPr>
              <a:t>RADIUS Server: User authentication and network security (AAA</a:t>
            </a:r>
            <a:r>
              <a:rPr lang="en-US" sz="1200" dirty="0">
                <a:latin typeface="Times New Roman"/>
                <a:ea typeface="+mj-lt"/>
                <a:cs typeface="Times New Roman"/>
              </a:rPr>
              <a:t>).</a:t>
            </a:r>
          </a:p>
          <a:p>
            <a:pPr>
              <a:lnSpc>
                <a:spcPct val="90000"/>
              </a:lnSpc>
            </a:pPr>
            <a:endParaRPr lang="en-US" sz="800" dirty="0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CE0F6E-BD88-5480-9A0F-F1347CCA7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080" y="-4425"/>
            <a:ext cx="6990726" cy="66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ea typeface="+mn-lt"/>
                <a:cs typeface="+mn-lt"/>
              </a:rPr>
              <a:t>Third floor and IT center (IT Department and Internal Servers)</a:t>
            </a:r>
            <a:endParaRPr lang="hu-HU" dirty="0">
              <a:ea typeface="+mn-lt"/>
              <a:cs typeface="+mn-lt"/>
            </a:endParaRPr>
          </a:p>
        </p:txBody>
      </p:sp>
      <p:pic>
        <p:nvPicPr>
          <p:cNvPr id="4" name="Kép 3" descr="A képen szöveg, képernyőkép, diagram, Grafikus tervezés látható  Lehet, hogy az AI által létrehozott tartalom helytelen.">
            <a:extLst>
              <a:ext uri="{FF2B5EF4-FFF2-40B4-BE49-F238E27FC236}">
                <a16:creationId xmlns:a16="http://schemas.microsoft.com/office/drawing/2014/main" id="{2F494ED0-D9ED-01E6-E65D-D9CCF122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158" y="2029584"/>
            <a:ext cx="5861904" cy="483153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58619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886A89-8225-D4CB-F56F-DC9D1D0B4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20" y="3441629"/>
            <a:ext cx="4711700" cy="118896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NET-SEC-PC (10.20.0.10): Central</a:t>
            </a: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administrative workstation for network</a:t>
            </a: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supervision. </a:t>
            </a:r>
            <a:endParaRPr lang="en-US" sz="1600">
              <a:ea typeface="Calibri"/>
              <a:cs typeface="Calibri"/>
            </a:endParaRPr>
          </a:p>
          <a:p>
            <a:pPr>
              <a:buNone/>
            </a:pPr>
            <a:endParaRPr lang="en-US" sz="11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WLC-2504: Cisco Wireless LAN Controller a</a:t>
            </a:r>
            <a:endParaRPr lang="en-US" sz="11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corporate Wi-Fi network and APs central</a:t>
            </a:r>
            <a:endParaRPr lang="en-US" sz="160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to control. </a:t>
            </a:r>
            <a:endParaRPr lang="en-US" sz="1600">
              <a:ea typeface="Calibri"/>
              <a:cs typeface="Calibri"/>
            </a:endParaRPr>
          </a:p>
          <a:p>
            <a:pPr>
              <a:buNone/>
            </a:pPr>
            <a:endParaRPr lang="en-US" sz="11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2811 Voice Gateway: Cisco router for voice</a:t>
            </a:r>
            <a:endParaRPr lang="en-US" sz="16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(VoIP) traffic and the telephone exchange</a:t>
            </a:r>
            <a:endParaRPr lang="en-US" sz="160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to serve. </a:t>
            </a:r>
            <a:endParaRPr lang="en-US" sz="16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This zone provides protection from the DMZ and the internal network</a:t>
            </a:r>
            <a:endParaRPr lang="en-US" sz="160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separated, protected access to the network</a:t>
            </a:r>
            <a:endParaRPr lang="en-US" sz="1600">
              <a:ea typeface="Calibri"/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infrastructure (WLAN, Voice, Security)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to configure.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100">
              <a:ea typeface="Calibri"/>
              <a:cs typeface="Calibri"/>
            </a:endParaRPr>
          </a:p>
        </p:txBody>
      </p:sp>
      <p:pic>
        <p:nvPicPr>
          <p:cNvPr id="4" name="Kép 3" descr="A képen diagram, szöveg, kör, Grafika látható  Lehet, hogy az AI által létrehozott tartalom helytelen.">
            <a:extLst>
              <a:ext uri="{FF2B5EF4-FFF2-40B4-BE49-F238E27FC236}">
                <a16:creationId xmlns:a16="http://schemas.microsoft.com/office/drawing/2014/main" id="{4571D455-9C13-2C13-E6A3-64FA408D2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790" y="4443"/>
            <a:ext cx="4993549" cy="309738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7869627-0783-F652-5C6C-0064A0679973}"/>
              </a:ext>
            </a:extLst>
          </p:cNvPr>
          <p:cNvSpPr txBox="1"/>
          <p:nvPr/>
        </p:nvSpPr>
        <p:spPr>
          <a:xfrm>
            <a:off x="10886" y="315686"/>
            <a:ext cx="498565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600" baseline="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Management Network</a:t>
            </a:r>
            <a:r>
              <a:rPr lang="hu-HU" sz="160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600" baseline="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(Green Zone)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704952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BB3B83-F2EE-2D4F-1FCB-F9A4562A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779" y="144667"/>
            <a:ext cx="9232800" cy="987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j-lt"/>
                <a:cs typeface="Times New Roman"/>
              </a:rPr>
              <a:t>External Connectivity and Internet (INTERNET/CLOUD)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15119F-2732-8F89-3A03-D071365E3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151" y="1251609"/>
            <a:ext cx="8076225" cy="3082764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1600" dirty="0">
                <a:ea typeface="+mn-lt"/>
                <a:cs typeface="+mn-lt"/>
              </a:rPr>
              <a:t>Central Cloud: The network is connected to the outside world through the domain 8.0.0.0/8. 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USA-INTERNET-USER (8.0.0.10): Access for remote US client. 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CHINA-INTERNETUSER (8.0.0.20): Access for remote Chinese client. 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Connections: The central routers (for example on subnets 20.20.20.0/30 and 30.30.30.0/30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via) provide traffic control between the sites and the Internet.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Kép 4" descr="A képen diagram, szöveg látható  Lehet, hogy az AI által létrehozott tartalom helytelen.">
            <a:extLst>
              <a:ext uri="{FF2B5EF4-FFF2-40B4-BE49-F238E27FC236}">
                <a16:creationId xmlns:a16="http://schemas.microsoft.com/office/drawing/2014/main" id="{C2DB5455-6A17-9187-08C6-B6E03C0B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31" t="14198" r="13043" b="-1852"/>
          <a:stretch>
            <a:fillRect/>
          </a:stretch>
        </p:blipFill>
        <p:spPr>
          <a:xfrm>
            <a:off x="0" y="4340857"/>
            <a:ext cx="9140233" cy="12652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0100336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D37F73-D801-7F8F-0825-896A1B78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1121" y="-97258"/>
            <a:ext cx="10178142" cy="1097039"/>
          </a:xfrm>
        </p:spPr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The Core Network (The "Heart of the Network")</a:t>
            </a:r>
            <a:endParaRPr lang="hu-HU" dirty="0">
              <a:ea typeface="+mj-lt"/>
              <a:cs typeface="+mj-l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7860B5-45CB-5BF3-363A-EF83E361B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09" y="1095411"/>
            <a:ext cx="7772400" cy="4737704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ea typeface="+mn-lt"/>
                <a:cs typeface="+mn-lt"/>
              </a:rPr>
              <a:t>The two large switches (CORE-SW1 and CORE-SW2) do the heavy lifting. </a:t>
            </a:r>
          </a:p>
          <a:p>
            <a:pPr algn="ctr">
              <a:buClr>
                <a:srgbClr val="FFFFFF"/>
              </a:buClr>
            </a:pPr>
            <a:endParaRPr lang="en-US"/>
          </a:p>
          <a:p>
            <a:pPr algn="ctr">
              <a:buClr>
                <a:srgbClr val="FFFFFF"/>
              </a:buClr>
            </a:pPr>
            <a:r>
              <a:rPr lang="en-US" sz="2000" dirty="0">
                <a:ea typeface="+mn-lt"/>
                <a:cs typeface="+mn-lt"/>
              </a:rPr>
              <a:t>HSRP (Duplication): It's like a spare wheel. If one of the switches</a:t>
            </a:r>
            <a:endParaRPr lang="en-US" dirty="0"/>
          </a:p>
          <a:p>
            <a:pPr algn="ctr">
              <a:buClr>
                <a:srgbClr val="FFFFFF"/>
              </a:buClr>
            </a:pPr>
            <a:r>
              <a:rPr lang="en-US" sz="2000" dirty="0">
                <a:ea typeface="+mn-lt"/>
                <a:cs typeface="+mn-lt"/>
              </a:rPr>
              <a:t>breaks down, the other one immediately takes its place, and the workers don't even notice</a:t>
            </a:r>
            <a:endParaRPr lang="en-US" dirty="0"/>
          </a:p>
          <a:p>
            <a:pPr algn="ctr">
              <a:buClr>
                <a:srgbClr val="FFFFFF"/>
              </a:buClr>
            </a:pPr>
            <a:r>
              <a:rPr lang="en-US" sz="2000" dirty="0">
                <a:ea typeface="+mn-lt"/>
                <a:cs typeface="+mn-lt"/>
              </a:rPr>
              <a:t>they take the shutdown. </a:t>
            </a:r>
            <a:endParaRPr lang="en-US" dirty="0"/>
          </a:p>
          <a:p>
            <a:pPr algn="ctr">
              <a:buClr>
                <a:srgbClr val="FFFFFF"/>
              </a:buClr>
            </a:pPr>
            <a:endParaRPr lang="en-US"/>
          </a:p>
          <a:p>
            <a:pPr algn="ctr">
              <a:buClr>
                <a:srgbClr val="FFFFFF"/>
              </a:buClr>
            </a:pPr>
            <a:r>
              <a:rPr lang="en-US" sz="2000" dirty="0">
                <a:ea typeface="+mn-lt"/>
                <a:cs typeface="+mn-lt"/>
              </a:rPr>
              <a:t>LACP (Lasing): Multiple cables are connected between switches to</a:t>
            </a:r>
            <a:endParaRPr lang="en-US" dirty="0"/>
          </a:p>
          <a:p>
            <a:pPr algn="ctr">
              <a:buClr>
                <a:srgbClr val="FFFFFF"/>
              </a:buClr>
            </a:pPr>
            <a:r>
              <a:rPr lang="en-US" sz="2000" dirty="0">
                <a:ea typeface="+mn-lt"/>
                <a:cs typeface="+mn-lt"/>
              </a:rPr>
              <a:t>data traffic should be faster, and if a cable breaks, stay</a:t>
            </a:r>
            <a:endParaRPr lang="en-US" dirty="0"/>
          </a:p>
          <a:p>
            <a:pPr algn="ctr">
              <a:buClr>
                <a:srgbClr val="FFFFFF"/>
              </a:buClr>
            </a:pPr>
            <a:r>
              <a:rPr lang="en-US" sz="2000" dirty="0">
                <a:ea typeface="+mn-lt"/>
                <a:cs typeface="+mn-lt"/>
              </a:rPr>
              <a:t>another way for the data.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endParaRPr lang="en-US" sz="2000">
              <a:ea typeface="Calibri"/>
              <a:cs typeface="Calibri"/>
            </a:endParaRPr>
          </a:p>
        </p:txBody>
      </p:sp>
      <p:pic>
        <p:nvPicPr>
          <p:cNvPr id="4" name="Kép 3" descr="A képen diagram, képernyőkép, sor, kör látható  Lehet, hogy az AI által létrehozott tartalom helytelen.">
            <a:extLst>
              <a:ext uri="{FF2B5EF4-FFF2-40B4-BE49-F238E27FC236}">
                <a16:creationId xmlns:a16="http://schemas.microsoft.com/office/drawing/2014/main" id="{B9E18D4D-11CC-3159-017A-703AA802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9" y="5411581"/>
            <a:ext cx="9128688" cy="14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0580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CD2430-6131-9004-3C05-DEE21E01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11" y="1560320"/>
            <a:ext cx="7772400" cy="3357706"/>
          </a:xfrm>
        </p:spPr>
        <p:txBody>
          <a:bodyPr/>
          <a:lstStyle/>
          <a:p>
            <a:pPr algn="ctr"/>
            <a:endParaRPr lang="hu-HU"/>
          </a:p>
          <a:p>
            <a:pPr algn="ctr"/>
            <a:r>
              <a:rPr lang="en-US" dirty="0">
                <a:ea typeface="+mj-lt"/>
                <a:cs typeface="+mj-lt"/>
              </a:rPr>
              <a:t>Network virtual machines</a:t>
            </a:r>
            <a:endParaRPr lang="en-US" dirty="0"/>
          </a:p>
          <a:p>
            <a:pPr algn="ctr"/>
            <a:r>
              <a:rPr lang="en-US" dirty="0">
                <a:ea typeface="+mj-lt"/>
                <a:cs typeface="+mj-lt"/>
              </a:rPr>
              <a:t>we created Oracle VirtualBox</a:t>
            </a:r>
          </a:p>
          <a:p>
            <a:pPr algn="ctr"/>
            <a:r>
              <a:rPr lang="en-US" dirty="0">
                <a:ea typeface="+mj-lt"/>
                <a:cs typeface="+mj-lt"/>
              </a:rPr>
              <a:t>using a program called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999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2DF932-CB35-4287-7E31-523E9126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393" y="-112857"/>
            <a:ext cx="5323815" cy="154950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ea typeface="Calibri Light"/>
                <a:cs typeface="Times New Roman"/>
              </a:rPr>
              <a:t>Virtual Machines Used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8DA050-1F3C-5130-42AA-AB4FFDB1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" y="661220"/>
            <a:ext cx="3599898" cy="636292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latin typeface="Times"/>
                <a:ea typeface="Calibri"/>
                <a:cs typeface="Times"/>
              </a:rPr>
              <a:t>Windows Server 2019</a:t>
            </a:r>
          </a:p>
          <a:p>
            <a:pPr algn="ctr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System: Windows Server-based environment with a graphical interface. </a:t>
            </a:r>
            <a:endParaRPr lang="en-US" dirty="0">
              <a:latin typeface="Times"/>
              <a:ea typeface="+mn-lt"/>
              <a:cs typeface="Times"/>
            </a:endParaRPr>
          </a:p>
          <a:p>
            <a:pPr algn="ctr">
              <a:buClr>
                <a:srgbClr val="FFFFFF"/>
              </a:buClr>
            </a:pPr>
            <a:endParaRPr lang="en-US"/>
          </a:p>
          <a:p>
            <a:pPr algn="ctr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Network setting: Static IP address for reliable accessibility. </a:t>
            </a:r>
            <a:endParaRPr lang="en-US" dirty="0"/>
          </a:p>
          <a:p>
            <a:pPr algn="ctr">
              <a:buClr>
                <a:srgbClr val="FFFFFF"/>
              </a:buClr>
            </a:pPr>
            <a:endParaRPr lang="en-US"/>
          </a:p>
          <a:p>
            <a:pPr algn="ctr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Debian</a:t>
            </a:r>
          </a:p>
          <a:p>
            <a:pPr algn="ctr">
              <a:buClr>
                <a:srgbClr val="FFFFFF"/>
              </a:buClr>
            </a:pPr>
            <a:endParaRPr lang="en-US"/>
          </a:p>
          <a:p>
            <a:pPr algn="ctr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System: Debian Linux-based server installation with a custom user account. </a:t>
            </a:r>
            <a:endParaRPr lang="en-US" dirty="0"/>
          </a:p>
          <a:p>
            <a:pPr algn="ctr">
              <a:buClr>
                <a:srgbClr val="FFFFFF"/>
              </a:buClr>
            </a:pPr>
            <a:endParaRPr lang="en-US"/>
          </a:p>
          <a:p>
            <a:pPr algn="ctr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Network setting: Static IP address configured for reliable accessibility. </a:t>
            </a:r>
            <a:endParaRPr lang="en-US" dirty="0"/>
          </a:p>
          <a:p>
            <a:pPr algn="ctr">
              <a:buClr>
                <a:srgbClr val="FFFFFF"/>
              </a:buClr>
            </a:pPr>
            <a:endParaRPr lang="en-US"/>
          </a:p>
          <a:p>
            <a:pPr algn="ctr">
              <a:buClr>
                <a:srgbClr val="FFFFFF"/>
              </a:buClr>
            </a:pPr>
            <a:endParaRPr lang="en-US" dirty="0">
              <a:latin typeface="Times"/>
              <a:ea typeface="Calibri"/>
              <a:cs typeface="Times"/>
            </a:endParaRPr>
          </a:p>
        </p:txBody>
      </p:sp>
      <p:pic>
        <p:nvPicPr>
          <p:cNvPr id="4" name="Kép 3" descr="A képen szöveg, képernyőkép, szoftver, Multimédiás szoftver látható  Lehet, hogy az AI által létrehozott tartalom helytelen.">
            <a:extLst>
              <a:ext uri="{FF2B5EF4-FFF2-40B4-BE49-F238E27FC236}">
                <a16:creationId xmlns:a16="http://schemas.microsoft.com/office/drawing/2014/main" id="{9AE558BA-1295-CBF5-899D-E8875C02E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118" y="1714512"/>
            <a:ext cx="5415591" cy="364062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367463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65BE17-4C22-87AB-6368-36092FC6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Active Services: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2F6F16-25AF-C391-B8D0-4A2242EB3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400" b="1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 sz="2400" dirty="0">
                <a:ea typeface="+mn-lt"/>
                <a:cs typeface="+mn-lt"/>
              </a:rPr>
              <a:t>Web Server: Apache installation HTTP (unencrypted) and</a:t>
            </a: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en-US" sz="2400" dirty="0">
                <a:ea typeface="+mn-lt"/>
                <a:cs typeface="+mn-lt"/>
              </a:rPr>
              <a:t>with support for secure HTTPS (encrypted) protocols. 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 sz="2400" dirty="0">
                <a:ea typeface="+mn-lt"/>
                <a:cs typeface="+mn-lt"/>
              </a:rPr>
              <a:t>File Sharing: Samba service configured for cross-platform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en-US" sz="2400" dirty="0">
                <a:ea typeface="+mn-lt"/>
                <a:cs typeface="+mn-lt"/>
              </a:rPr>
              <a:t>data access. 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 sz="2400" dirty="0">
                <a:ea typeface="+mn-lt"/>
                <a:cs typeface="+mn-lt"/>
              </a:rPr>
              <a:t>Data Protection: Setting up automated system backup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400" dirty="0">
                <a:ea typeface="+mn-lt"/>
                <a:cs typeface="+mn-lt"/>
              </a:rPr>
              <a:t>using a </a:t>
            </a:r>
            <a:r>
              <a:rPr lang="en-US" sz="2400" dirty="0" err="1">
                <a:ea typeface="+mn-lt"/>
                <a:cs typeface="+mn-lt"/>
              </a:rPr>
              <a:t>cron</a:t>
            </a:r>
            <a:r>
              <a:rPr lang="en-US" sz="2400" dirty="0">
                <a:ea typeface="+mn-lt"/>
                <a:cs typeface="+mn-lt"/>
              </a:rPr>
              <a:t> timer.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564636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BE2C6AD-5E34-B428-0835-6E48C687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124982"/>
            <a:ext cx="8115300" cy="882819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latin typeface="Times New Roman"/>
                <a:ea typeface="+mj-lt"/>
                <a:cs typeface="Times New Roman"/>
              </a:rPr>
              <a:t>Windows Server 2019 Infrastructure</a:t>
            </a:r>
            <a:endParaRPr lang="en-US">
              <a:latin typeface="Times New Roman"/>
              <a:cs typeface="Times New Roman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2" y="2244808"/>
            <a:ext cx="3755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E7C0CC-41C4-38D8-DF20-47F89A22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2540169"/>
            <a:ext cx="8115300" cy="26604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latin typeface="Times New Roman"/>
                <a:ea typeface="+mn-lt"/>
                <a:cs typeface="Times New Roman"/>
              </a:rPr>
              <a:t>Installation: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Administrative environment and IPv4 configuration.</a:t>
            </a:r>
            <a:endParaRPr lang="en-US" sz="2800" dirty="0">
              <a:latin typeface="Times New Roman"/>
              <a:ea typeface="Calibri" panose="020F0502020204030204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Directory: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err="1">
                <a:latin typeface="Times New Roman"/>
                <a:ea typeface="+mn-lt"/>
                <a:cs typeface="Times New Roman"/>
              </a:rPr>
              <a:t>Active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err="1">
                <a:latin typeface="Times New Roman"/>
                <a:ea typeface="+mn-lt"/>
                <a:cs typeface="Times New Roman"/>
              </a:rPr>
              <a:t>Directory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és DNS szerviz telepítése.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DHCP: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Automatic IP address assignment to clients.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Resources: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Centralized file and printer sharing.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Security: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Backup schedule configuration.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endParaRPr lang="en-US" sz="15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sz="15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822650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E5BC1C-8669-9B63-F31D-9ADAD132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9086"/>
            <a:ext cx="7772400" cy="602218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Debian/Linux Server </a:t>
            </a:r>
            <a:br>
              <a:rPr lang="en-US" sz="2000" b="1" dirty="0">
                <a:ea typeface="Calibri Light"/>
                <a:cs typeface="Calibri Light"/>
              </a:rPr>
            </a:br>
            <a:br>
              <a:rPr lang="en-US" sz="2000" b="1" dirty="0"/>
            </a:br>
            <a:endParaRPr lang="en-US" sz="2000" dirty="0">
              <a:ea typeface="Calibri Light"/>
              <a:cs typeface="Calibri Light"/>
            </a:endParaRPr>
          </a:p>
          <a:p>
            <a:pPr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System Environment: Debian OS installation with a custom user account and NAT network integration. </a:t>
            </a:r>
            <a:endParaRPr lang="en-US" sz="2000" dirty="0">
              <a:latin typeface="Times New Roman"/>
              <a:ea typeface="+mj-lt"/>
              <a:cs typeface="Times New Roman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Network Basics: Static IPv4 address configuration for fixed and reliable service access. </a:t>
            </a:r>
            <a:endParaRPr lang="en-US">
              <a:ea typeface="Calibri Light" panose="020F0302020204030204"/>
              <a:cs typeface="Calibri Light" panose="020F0302020204030204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Web Service: Apache web server implementation with support for HTTP and secure HTTPS protocols. </a:t>
            </a:r>
            <a:endParaRPr lang="en-US" dirty="0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File Management: Samba service installation for seamless data exchange between Linux and Windows platforms. </a:t>
            </a:r>
            <a:endParaRPr lang="en-US">
              <a:ea typeface="Calibri Light" panose="020F0302020204030204"/>
              <a:cs typeface="Calibri Light" panose="020F0302020204030204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System Security: Creating an automated data backup process using a </a:t>
            </a:r>
            <a:r>
              <a:rPr lang="en-US" sz="2000" dirty="0" err="1">
                <a:ea typeface="+mj-lt"/>
                <a:cs typeface="+mj-lt"/>
              </a:rPr>
              <a:t>cron</a:t>
            </a:r>
            <a:r>
              <a:rPr lang="en-US" sz="2000" dirty="0">
                <a:ea typeface="+mj-lt"/>
                <a:cs typeface="+mj-lt"/>
              </a:rPr>
              <a:t> task scheduler. </a:t>
            </a:r>
            <a:endParaRPr lang="en-US" dirty="0"/>
          </a:p>
          <a:p>
            <a:pPr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801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543A10-04EE-49E0-A9DE-22E1FAB9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pic>
        <p:nvPicPr>
          <p:cNvPr id="3" name="Kép 2" descr="A képen szöveg, képernyőkép, szoftver, Multimédiás szoftver látható  Lehet, hogy az AI által létrehozott tartalom helytelen.">
            <a:extLst>
              <a:ext uri="{FF2B5EF4-FFF2-40B4-BE49-F238E27FC236}">
                <a16:creationId xmlns:a16="http://schemas.microsoft.com/office/drawing/2014/main" id="{8F82EB5A-E71D-0BBB-74D2-BE0E71CA6B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10" r="-1" b="-1"/>
          <a:stretch>
            <a:fillRect/>
          </a:stretch>
        </p:blipFill>
        <p:spPr>
          <a:xfrm>
            <a:off x="2915061" y="3865595"/>
            <a:ext cx="6227039" cy="2996101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Kép 3" descr="A képen szöveg, képernyőkép, Multimédiás szoftver, Grafikai szoftver látható  Lehet, hogy az AI által létrehozott tartalom helytelen.">
            <a:extLst>
              <a:ext uri="{FF2B5EF4-FFF2-40B4-BE49-F238E27FC236}">
                <a16:creationId xmlns:a16="http://schemas.microsoft.com/office/drawing/2014/main" id="{9B7B42C7-36B4-8986-1C25-76E60AD33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91" y="806779"/>
            <a:ext cx="6056123" cy="3059196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ím 5">
            <a:extLst>
              <a:ext uri="{FF2B5EF4-FFF2-40B4-BE49-F238E27FC236}">
                <a16:creationId xmlns:a16="http://schemas.microsoft.com/office/drawing/2014/main" id="{280D3F47-CAB9-E389-E4AA-3E3B59CCA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36" y="-309072"/>
            <a:ext cx="7772400" cy="145626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Network Virtual Machines in Action</a:t>
            </a:r>
            <a:endParaRPr lang="en-US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3D5142D-4B15-1C7F-0A0F-3E52A6FE5FD3}"/>
              </a:ext>
            </a:extLst>
          </p:cNvPr>
          <p:cNvSpPr txBox="1"/>
          <p:nvPr/>
        </p:nvSpPr>
        <p:spPr>
          <a:xfrm>
            <a:off x="6719131" y="1858710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Windows</a:t>
            </a:r>
          </a:p>
          <a:p>
            <a:pPr algn="ctr"/>
            <a:endParaRPr lang="en-US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394FB6-788C-0E66-571D-7C93A824AD23}"/>
              </a:ext>
            </a:extLst>
          </p:cNvPr>
          <p:cNvSpPr txBox="1"/>
          <p:nvPr/>
        </p:nvSpPr>
        <p:spPr>
          <a:xfrm>
            <a:off x="854579" y="5031336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Debian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6694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032D116-5676-9A6B-2951-3635EE51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862693"/>
            <a:ext cx="5551714" cy="1020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GIT – </a:t>
            </a:r>
            <a:r>
              <a:rPr lang="en-US" b="1" err="1">
                <a:latin typeface="Times New Roman"/>
                <a:cs typeface="Times New Roman"/>
              </a:rPr>
              <a:t>Version Control</a:t>
            </a:r>
            <a:endParaRPr lang="en-US" err="1">
              <a:latin typeface="Times New Roman"/>
              <a:cs typeface="Times New Roman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A9C4BB3-44C3-9E0D-79FD-4B8AE57B15C9}"/>
              </a:ext>
            </a:extLst>
          </p:cNvPr>
          <p:cNvSpPr txBox="1"/>
          <p:nvPr/>
        </p:nvSpPr>
        <p:spPr>
          <a:xfrm>
            <a:off x="514351" y="2862943"/>
            <a:ext cx="6117770" cy="383266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What is this? Software that saves files differently</a:t>
            </a:r>
            <a:endParaRPr lang="hu-HU" dirty="0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states. </a:t>
            </a:r>
            <a:endParaRPr lang="en-US" dirty="0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endParaRPr lang="en-US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What is it good for?: </a:t>
            </a:r>
            <a:endParaRPr lang="en-US" dirty="0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endParaRPr lang="en-US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Traceability: Everything changes and person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also logged. there is.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endParaRPr lang="en-US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Rollback (Rollback): Error you can revert to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for an earlier, working version. </a:t>
            </a:r>
            <a:endParaRPr lang="en-US" dirty="0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endParaRPr lang="en-US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Teamwork: Multiple people can work on the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same a project without overwriting each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other's work. </a:t>
            </a:r>
            <a:endParaRPr lang="en-US" dirty="0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endParaRPr lang="en-US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endParaRPr lang="en-US"/>
          </a:p>
          <a:p>
            <a:pPr>
              <a:buClr>
                <a:srgbClr val="000000"/>
              </a:buClr>
              <a:buSzPct val="100000"/>
              <a:buFont typeface="Arial"/>
              <a:buChar char="•"/>
            </a:pPr>
            <a:endParaRPr lang="en-US"/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rgbClr val="000000"/>
              </a:buClr>
              <a:buSzPct val="100000"/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500" b="1"/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750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46219B-4C55-FE80-6F68-6D94F9EC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45" y="322717"/>
            <a:ext cx="4294160" cy="9702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u="sng">
                <a:ea typeface="+mj-lt"/>
                <a:cs typeface="+mj-lt"/>
              </a:rPr>
              <a:t>JIRA – Project Management and Issue Tracking</a:t>
            </a:r>
            <a:endParaRPr lang="en-US" sz="2200" b="1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C01899-79CA-E1F3-BFDD-04813A92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044" y="2827867"/>
            <a:ext cx="3826074" cy="364913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What is this? A task management and</a:t>
            </a:r>
            <a:endParaRPr lang="hu-HU" sz="16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process tracking framework. 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How did we use it? 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Assignment of tasks: Scheduling of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work items (e.g. cabling, procurement,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installation). 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Error tickets (Tickets): Recording and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managing problems arising during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implementation. 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Status Tracking: Monitoring progress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using "To Do", "In Progress" and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Using "Done" columns. 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Deadlines: Meeting milestones and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delivery dates. </a:t>
            </a:r>
            <a:endParaRPr lang="en-U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700"/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700"/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700"/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700"/>
          </a:p>
        </p:txBody>
      </p:sp>
      <p:pic>
        <p:nvPicPr>
          <p:cNvPr id="5" name="Kép 4" descr="A képen szöveg, képernyőkép, diagram, szoftver látható  Lehet, hogy az AI által létrehozott tartalom helytelen.">
            <a:extLst>
              <a:ext uri="{FF2B5EF4-FFF2-40B4-BE49-F238E27FC236}">
                <a16:creationId xmlns:a16="http://schemas.microsoft.com/office/drawing/2014/main" id="{6F16367E-82CA-8376-97F1-4E1B7430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" t="6377" r="52793" b="-389"/>
          <a:stretch>
            <a:fillRect/>
          </a:stretch>
        </p:blipFill>
        <p:spPr>
          <a:xfrm>
            <a:off x="4797091" y="639098"/>
            <a:ext cx="3582949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Kép 5" descr="A képen szöveg, képernyőkép, diagram, szoftver látható  Lehet, hogy az AI által létrehozott tartalom helytelen.">
            <a:extLst>
              <a:ext uri="{FF2B5EF4-FFF2-40B4-BE49-F238E27FC236}">
                <a16:creationId xmlns:a16="http://schemas.microsoft.com/office/drawing/2014/main" id="{4412AF1A-99AC-CABE-166C-D91C8BD3E3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88" r="145" b="-392"/>
          <a:stretch>
            <a:fillRect/>
          </a:stretch>
        </p:blipFill>
        <p:spPr>
          <a:xfrm>
            <a:off x="4673072" y="3522111"/>
            <a:ext cx="3830987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958580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6F1100F-8EAA-2D7A-3B0D-D5D74C33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1553" y="126367"/>
            <a:ext cx="7595394" cy="931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/>
              <a:t>Testing</a:t>
            </a:r>
          </a:p>
        </p:txBody>
      </p:sp>
      <p:pic>
        <p:nvPicPr>
          <p:cNvPr id="4" name="Tartalom helye 3" descr="A képen szöveg, képernyőkép, diagram, Téglalap látható  Lehet, hogy az AI által létrehozott tartalom helytelen.">
            <a:extLst>
              <a:ext uri="{FF2B5EF4-FFF2-40B4-BE49-F238E27FC236}">
                <a16:creationId xmlns:a16="http://schemas.microsoft.com/office/drawing/2014/main" id="{EAC75BC3-2861-8E5F-ECD2-0F5F49F3BB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90" r="7985" b="2"/>
          <a:stretch>
            <a:fillRect/>
          </a:stretch>
        </p:blipFill>
        <p:spPr>
          <a:xfrm>
            <a:off x="692149" y="1927385"/>
            <a:ext cx="7759699" cy="373816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414800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24" y="1501132"/>
            <a:ext cx="7598569" cy="3649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latin typeface="Times New Roman"/>
                <a:cs typeface="Times New Roman"/>
              </a:rPr>
              <a:t>Thank you for your attention!</a:t>
            </a:r>
            <a:endParaRPr lang="en-US" sz="54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endParaRPr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1033</Words>
  <Application>Microsoft Office PowerPoint</Application>
  <PresentationFormat>Diavetítés a képernyőre (4:3 oldalarány)</PresentationFormat>
  <Paragraphs>117</Paragraphs>
  <Slides>22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3" baseType="lpstr">
      <vt:lpstr>Celestial</vt:lpstr>
      <vt:lpstr>InfraWorks KFT</vt:lpstr>
      <vt:lpstr>The Project Vision</vt:lpstr>
      <vt:lpstr>A Projekt complete overview</vt:lpstr>
      <vt:lpstr>2. DMZ (Demilitarized Zone)</vt:lpstr>
      <vt:lpstr>  WEB: Website (HTTP/S).  EMAIL: Correspondence (SMTP/IMAP)   FTP: File transfer (SFTP).  APP: Business apps (API).  NAS-STORAGE: Central storage (NFS/SMB).  Security: VLAN-based segmentation + Firewall blocking towards the internal network.</vt:lpstr>
      <vt:lpstr>"Brain" of the network or Core network redundancy and control</vt:lpstr>
      <vt:lpstr>First floor (Blue &amp; Green block) Sales, HR and Logistics</vt:lpstr>
      <vt:lpstr>        Departments:  Finance &amp; Accounting, Admin &amp; Relations.   Structure:  The first floor is an identical structure (standardized deployment).   Network:  VLAN-based segmentation  in data protection.   Tools:  Dedicated Access Switches (FIN-SW, ADM-SW)  handle connectivity to Core.</vt:lpstr>
      <vt:lpstr>Information technology department (ICT): Operational supervision and development.   Internal Network Services (Server-SW):   DHCP Server: Automatic IP address assignment to clients.   DNS Server: Internal and external name resolution.   RADIUS Server: User authentication and network security (AAA). </vt:lpstr>
      <vt:lpstr>PowerPoint-bemutató</vt:lpstr>
      <vt:lpstr>External Connectivity and Internet (INTERNET/CLOUD)</vt:lpstr>
      <vt:lpstr>The Core Network (The "Heart of the Network")</vt:lpstr>
      <vt:lpstr> Network virtual machines we created Oracle VirtualBox using a program called</vt:lpstr>
      <vt:lpstr>Virtual Machines Used</vt:lpstr>
      <vt:lpstr>Active Services:</vt:lpstr>
      <vt:lpstr>Windows Server 2019 Infrastructure</vt:lpstr>
      <vt:lpstr>Debian/Linux Server    System Environment: Debian OS installation with a custom user account and NAT network integration.   Network Basics: Static IPv4 address configuration for fixed and reliable service access.   Web Service: Apache web server implementation with support for HTTP and secure HTTPS protocols.   File Management: Samba service installation for seamless data exchange between Linux and Windows platforms.    System Security: Creating an automated data backup process using a cron task scheduler.   </vt:lpstr>
      <vt:lpstr>Network Virtual Machines in Action</vt:lpstr>
      <vt:lpstr>GIT – Version Control</vt:lpstr>
      <vt:lpstr>JIRA – Project Management and Issue Tracking</vt:lpstr>
      <vt:lpstr>Testing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InfraWorks KFT</dc:title>
  <dc:subject/>
  <dc:creator>Tóth Richárd</dc:creator>
  <cp:keywords/>
  <dc:description>generated using python-pptx</dc:description>
  <cp:lastModifiedBy>Tóth Richárd</cp:lastModifiedBy>
  <cp:revision>554</cp:revision>
  <dcterms:created xsi:type="dcterms:W3CDTF">2013-01-27T09:14:16Z</dcterms:created>
  <dcterms:modified xsi:type="dcterms:W3CDTF">2026-02-27T21:56:47Z</dcterms:modified>
  <cp:category/>
</cp:coreProperties>
</file>